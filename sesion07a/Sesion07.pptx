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1" r:id="rId2"/>
    <p:sldId id="256" r:id="rId3"/>
    <p:sldId id="293" r:id="rId4"/>
    <p:sldId id="295" r:id="rId5"/>
    <p:sldId id="296" r:id="rId6"/>
    <p:sldId id="294" r:id="rId7"/>
    <p:sldId id="297" r:id="rId8"/>
    <p:sldId id="298" r:id="rId9"/>
    <p:sldId id="299" r:id="rId10"/>
    <p:sldId id="300" r:id="rId11"/>
    <p:sldId id="301" r:id="rId12"/>
    <p:sldId id="302" r:id="rId13"/>
    <p:sldId id="3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86692" autoAdjust="0"/>
  </p:normalViewPr>
  <p:slideViewPr>
    <p:cSldViewPr snapToGrid="0">
      <p:cViewPr>
        <p:scale>
          <a:sx n="75" d="100"/>
          <a:sy n="75" d="100"/>
        </p:scale>
        <p:origin x="89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BA190-D714-418B-A939-E4355E0551C0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D5287-6E0B-4A0B-AD0F-B57693BFD2F5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9733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3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57254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4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82985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5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406972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6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541728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8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29765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9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1358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10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5460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11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83466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6469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8572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9896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7612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5103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4197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0525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8034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9217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3957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5915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C4B9E-347C-4104-ADB9-149F35A33AD1}" type="datetimeFigureOut">
              <a:rPr lang="es-US" smtClean="0"/>
              <a:t>11/22/2024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21532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7678" y="2988404"/>
            <a:ext cx="4953001" cy="774127"/>
          </a:xfrm>
        </p:spPr>
        <p:txBody>
          <a:bodyPr>
            <a:noAutofit/>
          </a:bodyPr>
          <a:lstStyle/>
          <a:p>
            <a:pPr algn="ctr"/>
            <a:r>
              <a:rPr lang="es-US" sz="6000" dirty="0" smtClean="0"/>
              <a:t>Presentación</a:t>
            </a:r>
            <a:endParaRPr lang="es-US" sz="6000" dirty="0"/>
          </a:p>
        </p:txBody>
      </p:sp>
    </p:spTree>
    <p:extLst>
      <p:ext uri="{BB962C8B-B14F-4D97-AF65-F5344CB8AC3E}">
        <p14:creationId xmlns:p14="http://schemas.microsoft.com/office/powerpoint/2010/main" val="364615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adroTexto 26"/>
          <p:cNvSpPr txBox="1"/>
          <p:nvPr/>
        </p:nvSpPr>
        <p:spPr>
          <a:xfrm>
            <a:off x="5365427" y="194897"/>
            <a:ext cx="1393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sz="3200" dirty="0" smtClean="0"/>
              <a:t>Jenkins</a:t>
            </a:r>
            <a:endParaRPr lang="es-US" sz="3200" dirty="0"/>
          </a:p>
        </p:txBody>
      </p:sp>
      <p:sp>
        <p:nvSpPr>
          <p:cNvPr id="3" name="Rectángulo 2"/>
          <p:cNvSpPr/>
          <p:nvPr/>
        </p:nvSpPr>
        <p:spPr>
          <a:xfrm>
            <a:off x="1394793" y="1466118"/>
            <a:ext cx="53639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Jenkins</a:t>
            </a:r>
            <a:r>
              <a:rPr lang="en-US" dirty="0" smtClean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Arquitectura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smtClean="0"/>
              <a:t>Jenkins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Casos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smtClean="0"/>
              <a:t>communes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Instalación</a:t>
            </a:r>
            <a:r>
              <a:rPr lang="en-US" dirty="0"/>
              <a:t> y </a:t>
            </a:r>
            <a:r>
              <a:rPr lang="en-US" dirty="0" err="1"/>
              <a:t>Configuración</a:t>
            </a:r>
            <a:r>
              <a:rPr lang="en-US" dirty="0"/>
              <a:t> </a:t>
            </a:r>
            <a:r>
              <a:rPr lang="en-US" dirty="0" err="1" smtClean="0"/>
              <a:t>Inicial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Fundamentos</a:t>
            </a:r>
            <a:r>
              <a:rPr lang="en-US" dirty="0"/>
              <a:t> de </a:t>
            </a:r>
            <a:r>
              <a:rPr lang="en-US" dirty="0" smtClean="0"/>
              <a:t>Jenkins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Pipelines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smtClean="0"/>
              <a:t>Jenkins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/>
              <a:t>Integración con Sistemas de Control de </a:t>
            </a:r>
            <a:r>
              <a:rPr lang="es-US" dirty="0" smtClean="0"/>
              <a:t>Versiones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Automatización</a:t>
            </a:r>
            <a:r>
              <a:rPr lang="en-US" dirty="0"/>
              <a:t> de </a:t>
            </a:r>
            <a:r>
              <a:rPr lang="en-US" dirty="0" err="1" smtClean="0"/>
              <a:t>Pruebas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Despliegue</a:t>
            </a:r>
            <a:r>
              <a:rPr lang="en-US" dirty="0"/>
              <a:t> Continuo y </a:t>
            </a:r>
            <a:r>
              <a:rPr lang="en-US" dirty="0" err="1"/>
              <a:t>Entrega</a:t>
            </a:r>
            <a:r>
              <a:rPr lang="en-US" dirty="0"/>
              <a:t> </a:t>
            </a:r>
            <a:r>
              <a:rPr lang="en-US" dirty="0" smtClean="0"/>
              <a:t>Continua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Seguridad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smtClean="0"/>
              <a:t>Jenkins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/>
              <a:t>Escalabilidad y Gestión de </a:t>
            </a:r>
            <a:r>
              <a:rPr lang="es-US" dirty="0" smtClean="0"/>
              <a:t>Rendimiento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/>
              <a:t>Integración con Herramientas de </a:t>
            </a:r>
            <a:r>
              <a:rPr lang="es-US" dirty="0" smtClean="0"/>
              <a:t>Terceros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Prácticos</a:t>
            </a:r>
            <a:r>
              <a:rPr lang="en-US" dirty="0"/>
              <a:t> y </a:t>
            </a:r>
            <a:r>
              <a:rPr lang="en-US" dirty="0" err="1" smtClean="0"/>
              <a:t>Proyectos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Mejores</a:t>
            </a:r>
            <a:r>
              <a:rPr lang="en-US" dirty="0"/>
              <a:t> </a:t>
            </a:r>
            <a:r>
              <a:rPr lang="en-US" dirty="0" err="1"/>
              <a:t>Prácticas</a:t>
            </a:r>
            <a:r>
              <a:rPr lang="en-US" dirty="0"/>
              <a:t> y </a:t>
            </a:r>
            <a:r>
              <a:rPr lang="en-US" dirty="0" err="1"/>
              <a:t>Consejos</a:t>
            </a:r>
            <a:endParaRPr lang="es-US" dirty="0"/>
          </a:p>
        </p:txBody>
      </p:sp>
      <p:pic>
        <p:nvPicPr>
          <p:cNvPr id="1026" name="Picture 2" descr="Jenkins Logo PNG vector in SVG, PDF, AI, CDR form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757" y="1466118"/>
            <a:ext cx="4326901" cy="324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70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551904" y="194897"/>
            <a:ext cx="3020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sz="3200" dirty="0" smtClean="0"/>
              <a:t>¿Qué es Jenkins?</a:t>
            </a:r>
            <a:endParaRPr lang="es-US" sz="3200" dirty="0"/>
          </a:p>
        </p:txBody>
      </p:sp>
      <p:sp>
        <p:nvSpPr>
          <p:cNvPr id="5" name="Rectángulo 4"/>
          <p:cNvSpPr/>
          <p:nvPr/>
        </p:nvSpPr>
        <p:spPr>
          <a:xfrm>
            <a:off x="658139" y="1368252"/>
            <a:ext cx="1080790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800" dirty="0"/>
              <a:t>Jenkins es un servidor de automatización autónomo y de código abierto que se puede utilizar para automatizar todo tipo de tareas relacionadas con la creación, prueba y entrega o implementación de software</a:t>
            </a:r>
            <a:r>
              <a:rPr lang="es-US" sz="2800" dirty="0"/>
              <a:t>.</a:t>
            </a:r>
          </a:p>
          <a:p>
            <a:pPr algn="r"/>
            <a:r>
              <a:rPr lang="es-US" dirty="0"/>
              <a:t>(https://www.jenkins.io/doc/)</a:t>
            </a:r>
            <a:endParaRPr lang="es-US" dirty="0"/>
          </a:p>
          <a:p>
            <a:endParaRPr lang="es-US" sz="2800" dirty="0" smtClean="0"/>
          </a:p>
          <a:p>
            <a:r>
              <a:rPr lang="es-US" sz="2800" dirty="0"/>
              <a:t>Jenkins es una herramienta de código abierto diseñada para facilitar la </a:t>
            </a:r>
            <a:r>
              <a:rPr lang="es-US" sz="2800" dirty="0" smtClean="0"/>
              <a:t>automatización de </a:t>
            </a:r>
            <a:r>
              <a:rPr lang="es-US" sz="2800" dirty="0"/>
              <a:t>tareas relacionadas con la integración continua (CI) y la entrega continua (CD). Su origen se remonta a 2004, cuando fue creado por </a:t>
            </a:r>
            <a:r>
              <a:rPr lang="es-US" sz="2800" dirty="0" err="1"/>
              <a:t>Kohsuke</a:t>
            </a:r>
            <a:r>
              <a:rPr lang="es-US" sz="2800" dirty="0"/>
              <a:t> </a:t>
            </a:r>
            <a:r>
              <a:rPr lang="es-US" sz="2800" dirty="0" err="1"/>
              <a:t>Kawaguchi</a:t>
            </a:r>
            <a:r>
              <a:rPr lang="es-US" sz="2800" dirty="0"/>
              <a:t> bajo el nombre de </a:t>
            </a:r>
            <a:r>
              <a:rPr lang="es-US" sz="2800" i="1" dirty="0"/>
              <a:t>Hudson</a:t>
            </a:r>
            <a:r>
              <a:rPr lang="es-US" sz="2800" dirty="0" smtClean="0"/>
              <a:t>.</a:t>
            </a:r>
            <a:endParaRPr lang="es-US" sz="2800" dirty="0"/>
          </a:p>
        </p:txBody>
      </p:sp>
    </p:spTree>
    <p:extLst>
      <p:ext uri="{BB962C8B-B14F-4D97-AF65-F5344CB8AC3E}">
        <p14:creationId xmlns:p14="http://schemas.microsoft.com/office/powerpoint/2010/main" val="98709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dirty="0" smtClean="0"/>
              <a:t>Jenkins en integración continua</a:t>
            </a:r>
            <a:endParaRPr lang="es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58" y="2356646"/>
            <a:ext cx="8790301" cy="310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5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dirty="0" smtClean="0"/>
              <a:t>Alternativas a Jenkins</a:t>
            </a:r>
            <a:endParaRPr lang="es-US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006517"/>
              </p:ext>
            </p:extLst>
          </p:nvPr>
        </p:nvGraphicFramePr>
        <p:xfrm>
          <a:off x="838200" y="1690688"/>
          <a:ext cx="10467833" cy="4226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4742">
                  <a:extLst>
                    <a:ext uri="{9D8B030D-6E8A-4147-A177-3AD203B41FA5}">
                      <a16:colId xmlns:a16="http://schemas.microsoft.com/office/drawing/2014/main" val="2470702230"/>
                    </a:ext>
                  </a:extLst>
                </a:gridCol>
                <a:gridCol w="2554987">
                  <a:extLst>
                    <a:ext uri="{9D8B030D-6E8A-4147-A177-3AD203B41FA5}">
                      <a16:colId xmlns:a16="http://schemas.microsoft.com/office/drawing/2014/main" val="1985686195"/>
                    </a:ext>
                  </a:extLst>
                </a:gridCol>
                <a:gridCol w="3056245">
                  <a:extLst>
                    <a:ext uri="{9D8B030D-6E8A-4147-A177-3AD203B41FA5}">
                      <a16:colId xmlns:a16="http://schemas.microsoft.com/office/drawing/2014/main" val="3735735158"/>
                    </a:ext>
                  </a:extLst>
                </a:gridCol>
                <a:gridCol w="3321859">
                  <a:extLst>
                    <a:ext uri="{9D8B030D-6E8A-4147-A177-3AD203B41FA5}">
                      <a16:colId xmlns:a16="http://schemas.microsoft.com/office/drawing/2014/main" val="3354302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Herramienta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Ventajas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Desventajas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Ideal para...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90830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GitHub Actions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Integración nativa con GitHub; fácil de usar; económica.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Dependencia de GitHub; no ideal si no usas GitHub.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Proyectos que ya usan GitHub.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12983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Drone CI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Open Source; altamente personalizable; nativo con Docker.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Requiere más configuración inicial; curva de aprendizaje mayor.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Equipos con experiencia en contenedores y Kubernetes.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22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TeamCity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Poderoso para entornos empresariales; muy flexible.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Licencia costosa; curva de aprendizaje pronunciada.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Grandes empresas con presupuestos amplios.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343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CodeShip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Interfaz simple; configuraciones listas para usar.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Menos flexible que Jenkins; menor comunidad.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Pequeños equipos buscando simplicidad.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91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Wercker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Excelente para flujos Docker y Kubernetes.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Ha perdido relevancia; integración limitada fuera de su ecosistema.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Usuarios enfocados en Docker/Kubernetes.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5951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CircleCI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Soporte para múltiples plataformas; gran rendimiento.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Plan gratuito limitado; complejidad en grandes proyectos.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Equipos modernos con flujos multiplataforma.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631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42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270194" y="194897"/>
            <a:ext cx="3583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sz="3200" dirty="0" smtClean="0"/>
              <a:t>Arquitectura Jenkins</a:t>
            </a:r>
            <a:endParaRPr lang="es-US" sz="3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649" y="1266999"/>
            <a:ext cx="7333029" cy="479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7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791545" y="336542"/>
            <a:ext cx="24248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US" sz="4000" dirty="0" smtClean="0"/>
              <a:t>Instalación</a:t>
            </a:r>
            <a:endParaRPr lang="es-US" sz="40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86384" y="2057052"/>
            <a:ext cx="10643616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Descargar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Jenkins. </a:t>
            </a:r>
            <a:r>
              <a:rPr lang="en-US" alt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alt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consola</a:t>
            </a:r>
            <a:r>
              <a:rPr lang="en-US" alt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 Ubuntu </a:t>
            </a:r>
            <a:r>
              <a:rPr lang="en-US" alt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ejecutar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pull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jenkins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jenkins:lts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500" lvl="0" indent="-5715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US" sz="2400" b="1" dirty="0"/>
              <a:t>Configurar Jenkins con </a:t>
            </a:r>
            <a:r>
              <a:rPr lang="es-US" sz="2400" b="1" dirty="0" err="1"/>
              <a:t>Maven</a:t>
            </a:r>
            <a:r>
              <a:rPr lang="es-US" sz="2400" b="1" dirty="0"/>
              <a:t> y </a:t>
            </a:r>
            <a:r>
              <a:rPr lang="es-US" sz="2400" b="1" dirty="0" err="1" smtClean="0"/>
              <a:t>Docker</a:t>
            </a:r>
            <a:r>
              <a:rPr lang="es-US" sz="2400" b="1" dirty="0" smtClean="0"/>
              <a:t> utilizando un archivo </a:t>
            </a:r>
            <a:r>
              <a:rPr lang="es-US" sz="2400" b="1" dirty="0" err="1" smtClean="0"/>
              <a:t>Dockerfile</a:t>
            </a:r>
            <a:endParaRPr lang="es-US" sz="2400" b="1" dirty="0" smtClean="0"/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mkdir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jenkins</a:t>
            </a: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$ cd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jenkins</a:t>
            </a: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nano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29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468969" y="0"/>
            <a:ext cx="739503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US" sz="4000" dirty="0" smtClean="0"/>
              <a:t>Instalación y Configuración Jenkins</a:t>
            </a:r>
            <a:endParaRPr lang="es-US" sz="4000" dirty="0"/>
          </a:p>
        </p:txBody>
      </p:sp>
      <p:sp>
        <p:nvSpPr>
          <p:cNvPr id="2" name="Rectángulo 1"/>
          <p:cNvSpPr/>
          <p:nvPr/>
        </p:nvSpPr>
        <p:spPr>
          <a:xfrm>
            <a:off x="323472" y="1569179"/>
            <a:ext cx="11393424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jenkins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jenkins:lts</a:t>
            </a:r>
            <a:endParaRPr lang="es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root</a:t>
            </a:r>
            <a:endParaRPr lang="es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apt-get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&amp;&amp; \</a:t>
            </a: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apt-get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install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-y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maven</a:t>
            </a:r>
            <a:endParaRPr lang="es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apt-get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install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-y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-https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ca-certificates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curl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gnupg-agent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software-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properties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common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&amp;&amp; \</a:t>
            </a: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curl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fsSL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https://download.docker.com/linux/debian/gpg |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apt-key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&amp;&amp; \</a:t>
            </a: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add-apt-repository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deb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[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=amd64] https://download.docker.com/linux/debian $(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lsb_release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cs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stable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 &amp;&amp; \</a:t>
            </a: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apt-get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&amp;&amp; \</a:t>
            </a: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apt-get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install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-y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-ce-cli</a:t>
            </a: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groupadd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-g </a:t>
            </a:r>
            <a:r>
              <a:rPr lang="es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1001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&amp;&amp; \</a:t>
            </a: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usermod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jenkins</a:t>
            </a:r>
            <a:endParaRPr lang="es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</a:t>
            </a:r>
            <a:r>
              <a:rPr lang="es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jenkins</a:t>
            </a:r>
            <a:endParaRPr lang="es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41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744313" y="281354"/>
            <a:ext cx="24248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US" sz="4000" dirty="0" smtClean="0"/>
              <a:t>Instalación</a:t>
            </a:r>
            <a:endParaRPr lang="es-US" sz="4000" dirty="0"/>
          </a:p>
        </p:txBody>
      </p:sp>
      <p:sp>
        <p:nvSpPr>
          <p:cNvPr id="3" name="Rectángulo 2"/>
          <p:cNvSpPr/>
          <p:nvPr/>
        </p:nvSpPr>
        <p:spPr>
          <a:xfrm>
            <a:off x="799513" y="1200234"/>
            <a:ext cx="10314432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2400" b="1" dirty="0"/>
              <a:t>Construir la imagen de </a:t>
            </a:r>
            <a:r>
              <a:rPr lang="es-US" sz="2400" b="1" dirty="0" err="1"/>
              <a:t>Docker</a:t>
            </a:r>
            <a:r>
              <a:rPr lang="es-US" sz="2400" b="1" dirty="0"/>
              <a:t> </a:t>
            </a:r>
            <a:r>
              <a:rPr lang="es-US" sz="2400" b="1" dirty="0" smtClean="0"/>
              <a:t>personalizada</a:t>
            </a:r>
          </a:p>
          <a:p>
            <a:r>
              <a:rPr lang="es-US" sz="2400" dirty="0" smtClean="0"/>
              <a:t>$ </a:t>
            </a:r>
            <a:r>
              <a:rPr lang="es-US" sz="2400" dirty="0" err="1" smtClean="0"/>
              <a:t>docker</a:t>
            </a:r>
            <a:r>
              <a:rPr lang="es-US" sz="2400" dirty="0" smtClean="0"/>
              <a:t> </a:t>
            </a:r>
            <a:r>
              <a:rPr lang="es-US" sz="2400" dirty="0" err="1"/>
              <a:t>build</a:t>
            </a:r>
            <a:r>
              <a:rPr lang="es-US" sz="2400" dirty="0"/>
              <a:t> </a:t>
            </a:r>
            <a:r>
              <a:rPr lang="es-US" sz="2400" dirty="0" smtClean="0"/>
              <a:t>–t </a:t>
            </a:r>
            <a:r>
              <a:rPr lang="es-US" sz="2400" dirty="0" err="1" smtClean="0"/>
              <a:t>img</a:t>
            </a:r>
            <a:r>
              <a:rPr lang="es-US" sz="2800" dirty="0" err="1" smtClean="0"/>
              <a:t>jenkins:latest</a:t>
            </a:r>
            <a:r>
              <a:rPr lang="es-US" sz="2400" dirty="0" smtClean="0"/>
              <a:t>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2400" b="1" dirty="0" smtClean="0"/>
              <a:t>Crear un </a:t>
            </a:r>
            <a:r>
              <a:rPr lang="es-US" sz="2400" b="1" dirty="0"/>
              <a:t>volumen para que Jenkins pueda guardar su configuración </a:t>
            </a:r>
            <a:endParaRPr lang="es-US" sz="2400" b="1" dirty="0" smtClean="0"/>
          </a:p>
          <a:p>
            <a:r>
              <a:rPr lang="es-US" sz="2400" dirty="0" smtClean="0"/>
              <a:t>$ </a:t>
            </a:r>
            <a:r>
              <a:rPr lang="es-US" sz="2400" dirty="0" err="1" smtClean="0"/>
              <a:t>docker</a:t>
            </a:r>
            <a:r>
              <a:rPr lang="es-US" sz="2400" dirty="0" smtClean="0"/>
              <a:t> </a:t>
            </a:r>
            <a:r>
              <a:rPr lang="es-US" sz="2400" dirty="0" err="1"/>
              <a:t>volume</a:t>
            </a:r>
            <a:r>
              <a:rPr lang="es-US" sz="2400" dirty="0"/>
              <a:t> </a:t>
            </a:r>
            <a:r>
              <a:rPr lang="es-US" sz="2400" dirty="0" err="1"/>
              <a:t>create</a:t>
            </a:r>
            <a:r>
              <a:rPr lang="es-US" sz="2400" dirty="0"/>
              <a:t> </a:t>
            </a:r>
            <a:r>
              <a:rPr lang="es-US" sz="2400" dirty="0" err="1"/>
              <a:t>jenkins_home</a:t>
            </a:r>
            <a:endParaRPr lang="es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2400" b="1" dirty="0" smtClean="0"/>
              <a:t>Ejecutar el Contenedor de Jenkins</a:t>
            </a:r>
          </a:p>
          <a:p>
            <a:r>
              <a:rPr lang="es-US" sz="2400" dirty="0" smtClean="0"/>
              <a:t>$ </a:t>
            </a:r>
            <a:r>
              <a:rPr lang="es-US" sz="2400" dirty="0" err="1"/>
              <a:t>docker</a:t>
            </a:r>
            <a:r>
              <a:rPr lang="es-US" sz="2400" dirty="0"/>
              <a:t> run -d -p </a:t>
            </a:r>
            <a:r>
              <a:rPr lang="es-US" sz="2400" dirty="0" smtClean="0"/>
              <a:t>8070:8080 </a:t>
            </a:r>
            <a:r>
              <a:rPr lang="es-US" sz="2400" dirty="0"/>
              <a:t>-p 50000:50000 \</a:t>
            </a:r>
          </a:p>
          <a:p>
            <a:r>
              <a:rPr lang="es-US" sz="2400" dirty="0"/>
              <a:t>  -v /</a:t>
            </a:r>
            <a:r>
              <a:rPr lang="es-US" sz="2400" dirty="0" err="1"/>
              <a:t>var</a:t>
            </a:r>
            <a:r>
              <a:rPr lang="es-US" sz="2400" dirty="0"/>
              <a:t>/run/</a:t>
            </a:r>
            <a:r>
              <a:rPr lang="es-US" sz="2400" dirty="0" err="1"/>
              <a:t>docker.sock</a:t>
            </a:r>
            <a:r>
              <a:rPr lang="es-US" sz="2400" dirty="0"/>
              <a:t>:/</a:t>
            </a:r>
            <a:r>
              <a:rPr lang="es-US" sz="2400" dirty="0" err="1"/>
              <a:t>var</a:t>
            </a:r>
            <a:r>
              <a:rPr lang="es-US" sz="2400" dirty="0"/>
              <a:t>/run/</a:t>
            </a:r>
            <a:r>
              <a:rPr lang="es-US" sz="2400" dirty="0" err="1"/>
              <a:t>docker.sock</a:t>
            </a:r>
            <a:r>
              <a:rPr lang="es-US" sz="2400" dirty="0"/>
              <a:t> \</a:t>
            </a:r>
          </a:p>
          <a:p>
            <a:r>
              <a:rPr lang="es-US" sz="2400" dirty="0"/>
              <a:t>  -v </a:t>
            </a:r>
            <a:r>
              <a:rPr lang="es-US" sz="2400" dirty="0" err="1"/>
              <a:t>jenkins_home</a:t>
            </a:r>
            <a:r>
              <a:rPr lang="es-US" sz="2400" dirty="0"/>
              <a:t>:/</a:t>
            </a:r>
            <a:r>
              <a:rPr lang="es-US" sz="2400" dirty="0" err="1"/>
              <a:t>var</a:t>
            </a:r>
            <a:r>
              <a:rPr lang="es-US" sz="2400" dirty="0"/>
              <a:t>/</a:t>
            </a:r>
            <a:r>
              <a:rPr lang="es-US" sz="2400" dirty="0" err="1"/>
              <a:t>jenkins_home</a:t>
            </a:r>
            <a:r>
              <a:rPr lang="es-US" sz="2400" dirty="0"/>
              <a:t> \</a:t>
            </a:r>
          </a:p>
          <a:p>
            <a:r>
              <a:rPr lang="es-US" sz="2400" dirty="0"/>
              <a:t>  --</a:t>
            </a:r>
            <a:r>
              <a:rPr lang="es-US" sz="2400" dirty="0" err="1"/>
              <a:t>name</a:t>
            </a:r>
            <a:r>
              <a:rPr lang="es-US" sz="2400" dirty="0"/>
              <a:t> </a:t>
            </a:r>
            <a:r>
              <a:rPr lang="es-US" sz="2400" dirty="0" err="1"/>
              <a:t>jenkins</a:t>
            </a:r>
            <a:r>
              <a:rPr lang="es-US" sz="2400" dirty="0"/>
              <a:t> \</a:t>
            </a:r>
          </a:p>
          <a:p>
            <a:r>
              <a:rPr lang="es-US" sz="2400" dirty="0"/>
              <a:t>  </a:t>
            </a:r>
            <a:r>
              <a:rPr lang="es-US" sz="2400" dirty="0" err="1" smtClean="0"/>
              <a:t>imgjenkins:latest</a:t>
            </a:r>
            <a:endParaRPr lang="es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2400" b="1" dirty="0" smtClean="0"/>
              <a:t>Verificar que el contenedor esta corriendo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2400" dirty="0" smtClean="0"/>
              <a:t>$ </a:t>
            </a:r>
            <a:r>
              <a:rPr lang="es-US" sz="2400" dirty="0" err="1" smtClean="0"/>
              <a:t>docker</a:t>
            </a:r>
            <a:r>
              <a:rPr lang="es-US" sz="2400" dirty="0" smtClean="0"/>
              <a:t> </a:t>
            </a:r>
            <a:r>
              <a:rPr lang="es-US" sz="2400" dirty="0" err="1" smtClean="0"/>
              <a:t>container</a:t>
            </a:r>
            <a:r>
              <a:rPr lang="es-US" sz="2400" dirty="0" smtClean="0"/>
              <a:t> </a:t>
            </a:r>
            <a:r>
              <a:rPr lang="es-US" sz="2400" dirty="0" err="1" smtClean="0"/>
              <a:t>ls</a:t>
            </a:r>
            <a:r>
              <a:rPr lang="es-US" sz="2400" dirty="0" smtClean="0"/>
              <a:t> -a</a:t>
            </a:r>
            <a:endParaRPr lang="es-US" sz="2400" dirty="0"/>
          </a:p>
          <a:p>
            <a:endParaRPr lang="es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7115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767760" y="0"/>
            <a:ext cx="30693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US" sz="4000" dirty="0" smtClean="0"/>
              <a:t>Configuración</a:t>
            </a:r>
            <a:endParaRPr lang="es-US" sz="40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79515" y="1603774"/>
            <a:ext cx="112458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Instalación:</a:t>
            </a:r>
            <a:endParaRPr kumimoji="0" lang="es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"Administrar Jenkins"</a:t>
            </a:r>
            <a:r>
              <a:rPr kumimoji="0" lang="es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&gt; </a:t>
            </a: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"Administrar </a:t>
            </a:r>
            <a:r>
              <a:rPr kumimoji="0" lang="es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Plugins</a:t>
            </a: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  <a:r>
              <a:rPr kumimoji="0" lang="es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&gt; </a:t>
            </a: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"Disponible"</a:t>
            </a:r>
            <a:r>
              <a:rPr kumimoji="0" lang="es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Busca e instala </a:t>
            </a: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  <a:r>
              <a:rPr kumimoji="0" lang="es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Azure</a:t>
            </a: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CLI"</a:t>
            </a:r>
            <a:r>
              <a:rPr kumimoji="0" lang="es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  <a:r>
              <a:rPr kumimoji="0" lang="es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Kubernetes</a:t>
            </a: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CLI"</a:t>
            </a:r>
            <a:r>
              <a:rPr kumimoji="0" lang="es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881" y="2804103"/>
            <a:ext cx="6640103" cy="35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1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428799" y="337011"/>
            <a:ext cx="28014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/>
              <a:t>Jobs y Builds</a:t>
            </a:r>
            <a:endParaRPr lang="es-US" sz="4000" dirty="0"/>
          </a:p>
        </p:txBody>
      </p:sp>
      <p:sp>
        <p:nvSpPr>
          <p:cNvPr id="6" name="CuadroTexto 5"/>
          <p:cNvSpPr txBox="1"/>
          <p:nvPr/>
        </p:nvSpPr>
        <p:spPr>
          <a:xfrm>
            <a:off x="319688" y="1266093"/>
            <a:ext cx="1166129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b="1" dirty="0"/>
              <a:t>Jobs</a:t>
            </a:r>
            <a:r>
              <a:rPr lang="es-US" sz="2800" dirty="0"/>
              <a:t>: Son las unidades de trabajo en Jenkins. Pueden incluir compilaciones, pruebas, despliegues, etc</a:t>
            </a:r>
            <a:r>
              <a:rPr lang="es-US" sz="2800" dirty="0" smtClean="0"/>
              <a:t>.</a:t>
            </a:r>
          </a:p>
          <a:p>
            <a:r>
              <a:rPr lang="es-US" sz="2800" b="1" dirty="0" err="1" smtClean="0"/>
              <a:t>Builds</a:t>
            </a:r>
            <a:r>
              <a:rPr lang="es-US" sz="2800" dirty="0"/>
              <a:t>: Son ejecuciones de un </a:t>
            </a:r>
            <a:r>
              <a:rPr lang="es-US" sz="2800" dirty="0" err="1"/>
              <a:t>job</a:t>
            </a:r>
            <a:r>
              <a:rPr lang="es-US" sz="2800" dirty="0"/>
              <a:t>. Cada ejecución se registra como una "</a:t>
            </a:r>
            <a:r>
              <a:rPr lang="es-US" sz="2800" dirty="0" err="1"/>
              <a:t>build</a:t>
            </a:r>
            <a:r>
              <a:rPr lang="es-US" sz="2800" dirty="0"/>
              <a:t>" con su historial y resultados</a:t>
            </a:r>
            <a:r>
              <a:rPr lang="es-US" sz="2800" dirty="0" smtClean="0"/>
              <a:t>.</a:t>
            </a:r>
          </a:p>
          <a:p>
            <a:r>
              <a:rPr lang="es-US" sz="2800" b="1" dirty="0"/>
              <a:t>Freestyle Jobs</a:t>
            </a:r>
            <a:r>
              <a:rPr lang="es-US" sz="2800" dirty="0" smtClean="0"/>
              <a:t>: Jobs </a:t>
            </a:r>
            <a:r>
              <a:rPr lang="es-US" sz="2800" dirty="0"/>
              <a:t>básicos donde defines los pasos manualmente</a:t>
            </a:r>
            <a:r>
              <a:rPr lang="es-US" sz="2800" dirty="0" smtClean="0"/>
              <a:t>.</a:t>
            </a:r>
          </a:p>
          <a:p>
            <a:r>
              <a:rPr lang="es-US" sz="2800" b="1" dirty="0" smtClean="0"/>
              <a:t>Pipeline </a:t>
            </a:r>
            <a:r>
              <a:rPr lang="es-US" sz="2800" b="1" dirty="0"/>
              <a:t>Jobs</a:t>
            </a:r>
            <a:r>
              <a:rPr lang="es-US" sz="2800" dirty="0" smtClean="0"/>
              <a:t>: Más </a:t>
            </a:r>
            <a:r>
              <a:rPr lang="es-US" sz="2800" dirty="0"/>
              <a:t>avanzados. Usan un script llamado </a:t>
            </a:r>
            <a:r>
              <a:rPr lang="es-US" sz="2800" dirty="0" err="1"/>
              <a:t>Jenkinsfile</a:t>
            </a:r>
            <a:r>
              <a:rPr lang="es-US" sz="2800" dirty="0"/>
              <a:t> para definir flujos de trabajo</a:t>
            </a:r>
            <a:r>
              <a:rPr lang="es-US" sz="2800" dirty="0" smtClean="0"/>
              <a:t>.</a:t>
            </a:r>
          </a:p>
          <a:p>
            <a:r>
              <a:rPr lang="es-US" sz="2800" b="1" dirty="0" err="1" smtClean="0"/>
              <a:t>Multibranch</a:t>
            </a:r>
            <a:r>
              <a:rPr lang="es-US" sz="2800" b="1" dirty="0" smtClean="0"/>
              <a:t> </a:t>
            </a:r>
            <a:r>
              <a:rPr lang="es-US" sz="2800" b="1" dirty="0"/>
              <a:t>Pipeline Jobs</a:t>
            </a:r>
            <a:r>
              <a:rPr lang="es-US" sz="2800" dirty="0" smtClean="0"/>
              <a:t>: Diseñados </a:t>
            </a:r>
            <a:r>
              <a:rPr lang="es-US" sz="2800" dirty="0"/>
              <a:t>para trabajar con múltiples ramas en un repositorio de control de versiones</a:t>
            </a:r>
            <a:r>
              <a:rPr lang="es-US" sz="2800" dirty="0" smtClean="0"/>
              <a:t>.</a:t>
            </a:r>
          </a:p>
          <a:p>
            <a:r>
              <a:rPr lang="es-US" sz="2800" b="1" dirty="0" err="1" smtClean="0"/>
              <a:t>Matrix</a:t>
            </a:r>
            <a:r>
              <a:rPr lang="es-US" sz="2800" b="1" dirty="0" smtClean="0"/>
              <a:t> </a:t>
            </a:r>
            <a:r>
              <a:rPr lang="es-US" sz="2800" b="1" dirty="0"/>
              <a:t>Jobs</a:t>
            </a:r>
            <a:r>
              <a:rPr lang="es-US" sz="2800" dirty="0" smtClean="0"/>
              <a:t>: Ejecutan </a:t>
            </a:r>
            <a:r>
              <a:rPr lang="es-US" sz="2800" dirty="0"/>
              <a:t>múltiples configuraciones en paralelo, como pruebas en diferentes entornos</a:t>
            </a:r>
          </a:p>
        </p:txBody>
      </p:sp>
    </p:spTree>
    <p:extLst>
      <p:ext uri="{BB962C8B-B14F-4D97-AF65-F5344CB8AC3E}">
        <p14:creationId xmlns:p14="http://schemas.microsoft.com/office/powerpoint/2010/main" val="244300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Demo Freestyle </a:t>
            </a:r>
            <a:r>
              <a:rPr lang="es-US" dirty="0"/>
              <a:t>Jobs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656" y="1825625"/>
            <a:ext cx="82306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Demo </a:t>
            </a:r>
            <a:r>
              <a:rPr lang="es-US" dirty="0"/>
              <a:t>Pipeline </a:t>
            </a:r>
            <a:r>
              <a:rPr lang="es-US" dirty="0" smtClean="0"/>
              <a:t>Jobs</a:t>
            </a:r>
            <a:endParaRPr lang="es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974" y="1825625"/>
            <a:ext cx="83820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3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9313</TotalTime>
  <Words>674</Words>
  <Application>Microsoft Office PowerPoint</Application>
  <PresentationFormat>Panorámica</PresentationFormat>
  <Paragraphs>106</Paragraphs>
  <Slides>13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Tahoma</vt:lpstr>
      <vt:lpstr>Times New Roman</vt:lpstr>
      <vt:lpstr>Tema de Office</vt:lpstr>
      <vt:lpstr>Presentación</vt:lpstr>
      <vt:lpstr>Presentación de PowerPoint</vt:lpstr>
      <vt:lpstr>Presentación de PowerPoint</vt:lpstr>
      <vt:lpstr>Jenkins en integración continua</vt:lpstr>
      <vt:lpstr>Alternativas a Jenkins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Demo Freestyle Jobs</vt:lpstr>
      <vt:lpstr>Demo Pipeline Jobs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hernan liza garavito</dc:creator>
  <cp:lastModifiedBy>jose hernan liza garavito</cp:lastModifiedBy>
  <cp:revision>103</cp:revision>
  <dcterms:created xsi:type="dcterms:W3CDTF">2024-09-09T20:27:08Z</dcterms:created>
  <dcterms:modified xsi:type="dcterms:W3CDTF">2024-11-23T15:22:24Z</dcterms:modified>
</cp:coreProperties>
</file>