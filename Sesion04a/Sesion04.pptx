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AC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 varScale="1">
        <p:scale>
          <a:sx n="83" d="100"/>
          <a:sy n="83" d="100"/>
        </p:scale>
        <p:origin x="6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64695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8572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3798965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7612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251037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841974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05259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580346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U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192171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039577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2459155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U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U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C4B9E-347C-4104-ADB9-149F35A33AD1}" type="datetimeFigureOut">
              <a:rPr lang="es-US" smtClean="0"/>
              <a:t>10/28/2024</a:t>
            </a:fld>
            <a:endParaRPr lang="es-U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U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A8EF3-8079-491A-9360-2E43C989C572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4215329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US" dirty="0" smtClean="0"/>
              <a:t>Sistemas Operativos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78413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¿Qué es un </a:t>
            </a:r>
            <a:r>
              <a:rPr lang="es-US" dirty="0"/>
              <a:t>S</a:t>
            </a:r>
            <a:r>
              <a:rPr lang="es-US" dirty="0" smtClean="0"/>
              <a:t>istema Operativo(SO)?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s-PE" dirty="0" smtClean="0"/>
              <a:t>Un Sistema </a:t>
            </a:r>
            <a:r>
              <a:rPr lang="es-PE" dirty="0"/>
              <a:t>O</a:t>
            </a:r>
            <a:r>
              <a:rPr lang="es-PE" dirty="0" smtClean="0"/>
              <a:t>perativo </a:t>
            </a:r>
            <a:r>
              <a:rPr lang="es-PE" dirty="0"/>
              <a:t>es un software fundamental que gestiona los recursos de hardware y software de un dispositivo informático. Sus funciones principales son:</a:t>
            </a:r>
            <a:endParaRPr lang="en-US" dirty="0"/>
          </a:p>
          <a:p>
            <a:pPr lvl="0"/>
            <a:r>
              <a:rPr lang="es-PE" dirty="0"/>
              <a:t>Gestión de recursos: Administra la memoria, el procesador, los dispositivos de entrada/salida y el almacenamiento.</a:t>
            </a:r>
            <a:endParaRPr lang="en-US" dirty="0"/>
          </a:p>
          <a:p>
            <a:pPr lvl="0"/>
            <a:r>
              <a:rPr lang="es-PE" dirty="0"/>
              <a:t>Interfaz de usuario: Proporciona una forma para que los usuarios interactúen con el dispositivo, ya sea mediante una interfaz gráfica o de línea de comandos.</a:t>
            </a:r>
            <a:endParaRPr lang="en-US" dirty="0"/>
          </a:p>
          <a:p>
            <a:pPr lvl="0"/>
            <a:r>
              <a:rPr lang="es-PE" dirty="0"/>
              <a:t>Ejecución de programas: Permite la carga, ejecución y control de aplicaciones.</a:t>
            </a:r>
            <a:endParaRPr lang="en-US" dirty="0"/>
          </a:p>
          <a:p>
            <a:pPr lvl="0"/>
            <a:r>
              <a:rPr lang="es-PE" dirty="0"/>
              <a:t>Sistema de archivos: Organiza y gestiona los datos almacenados en el dispositivo.</a:t>
            </a:r>
            <a:endParaRPr lang="en-US" dirty="0"/>
          </a:p>
          <a:p>
            <a:pPr lvl="0"/>
            <a:r>
              <a:rPr lang="es-PE" dirty="0"/>
              <a:t>Gestión de procesos: Controla la ejecución simultánea de múltiples tareas o programas.</a:t>
            </a:r>
            <a:endParaRPr lang="en-US" dirty="0"/>
          </a:p>
          <a:p>
            <a:pPr lvl="0"/>
            <a:r>
              <a:rPr lang="es-PE" dirty="0"/>
              <a:t>Seguridad: Protege el sistema y los datos del usuario mediante controles de acceso y otras medidas de seguridad.</a:t>
            </a:r>
            <a:endParaRPr lang="en-US" dirty="0"/>
          </a:p>
          <a:p>
            <a:pPr lvl="0"/>
            <a:r>
              <a:rPr lang="es-PE" dirty="0"/>
              <a:t>Abstracción del hardware: Proporciona una capa de abstracción entre el hardware y las aplicaciones, facilitando el desarrollo de software.</a:t>
            </a:r>
            <a:endParaRPr lang="en-US" dirty="0"/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508218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Kernel</a:t>
            </a:r>
            <a:r>
              <a:rPr lang="es-US" dirty="0" smtClean="0"/>
              <a:t> del Sistema Operativo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PE" dirty="0"/>
              <a:t>El </a:t>
            </a:r>
            <a:r>
              <a:rPr lang="es-PE" dirty="0" err="1"/>
              <a:t>kernel</a:t>
            </a:r>
            <a:r>
              <a:rPr lang="es-PE" dirty="0"/>
              <a:t>, también conocido como núcleo, es el componente central de un sistema operativo. Es la primera capa de software que se carga en la memoria cuando se inicia el sistema y permanece en ella durante todo el tiempo que el sistema está en funcionamiento. </a:t>
            </a:r>
            <a:r>
              <a:rPr lang="en-US" dirty="0" err="1"/>
              <a:t>Sus</a:t>
            </a:r>
            <a:r>
              <a:rPr lang="en-US" dirty="0"/>
              <a:t> </a:t>
            </a:r>
            <a:r>
              <a:rPr lang="en-US" dirty="0" err="1"/>
              <a:t>principales</a:t>
            </a:r>
            <a:r>
              <a:rPr lang="en-US" dirty="0"/>
              <a:t> </a:t>
            </a:r>
            <a:r>
              <a:rPr lang="en-US" dirty="0" err="1"/>
              <a:t>funciones</a:t>
            </a:r>
            <a:r>
              <a:rPr lang="en-US" dirty="0"/>
              <a:t> </a:t>
            </a:r>
            <a:r>
              <a:rPr lang="en-US" dirty="0" err="1"/>
              <a:t>incluyen</a:t>
            </a:r>
            <a:r>
              <a:rPr lang="en-US" dirty="0"/>
              <a:t>:</a:t>
            </a:r>
          </a:p>
          <a:p>
            <a:pPr lvl="0"/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memoria</a:t>
            </a:r>
            <a:endParaRPr lang="en-US" dirty="0"/>
          </a:p>
          <a:p>
            <a:pPr lvl="0"/>
            <a:r>
              <a:rPr lang="en-US" dirty="0" err="1"/>
              <a:t>Gestión</a:t>
            </a:r>
            <a:r>
              <a:rPr lang="en-US" dirty="0"/>
              <a:t> de </a:t>
            </a:r>
            <a:r>
              <a:rPr lang="en-US" dirty="0" err="1"/>
              <a:t>procesos</a:t>
            </a:r>
            <a:endParaRPr lang="en-US" dirty="0"/>
          </a:p>
          <a:p>
            <a:pPr lvl="0"/>
            <a:r>
              <a:rPr lang="es-PE" dirty="0"/>
              <a:t>Manejo de dispositivos (a través de drivers)</a:t>
            </a:r>
            <a:endParaRPr lang="en-US" dirty="0"/>
          </a:p>
          <a:p>
            <a:pPr lvl="0"/>
            <a:r>
              <a:rPr lang="en-US" dirty="0" err="1"/>
              <a:t>Manejo</a:t>
            </a:r>
            <a:r>
              <a:rPr lang="en-US" dirty="0"/>
              <a:t> de </a:t>
            </a:r>
            <a:r>
              <a:rPr lang="en-US" dirty="0" err="1"/>
              <a:t>llamadas</a:t>
            </a:r>
            <a:r>
              <a:rPr lang="en-US" dirty="0"/>
              <a:t> al </a:t>
            </a:r>
            <a:r>
              <a:rPr lang="en-US" dirty="0" err="1"/>
              <a:t>sistema</a:t>
            </a:r>
            <a:endParaRPr lang="en-US" dirty="0"/>
          </a:p>
          <a:p>
            <a:pPr lvl="0"/>
            <a:r>
              <a:rPr lang="es-PE" dirty="0"/>
              <a:t>Gestión de archivos y sistemas de archivos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9032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Kernel</a:t>
            </a:r>
            <a:r>
              <a:rPr lang="es-US" dirty="0" smtClean="0"/>
              <a:t> Monolítico</a:t>
            </a:r>
            <a:endParaRPr lang="es-US" dirty="0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9963" y="1904014"/>
            <a:ext cx="5606473" cy="3888076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468745" y="1904014"/>
            <a:ext cx="5516418" cy="4158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monolítico es una arquitectura de sistema operativo donde todo el sistema operativo funciona en el espacio del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 Todos los servicios del sistema operativo se ejecutan en un solo programa en modo privilegiado.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Características: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1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Todo el código del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se ejecuta en un solo espacio de direcciones.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1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Servicios del sistema (sistema de archivos, gestión de memoria, drivers, etc.) funcionan en modo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1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Comunicación directa entre componentes del sistema.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1000"/>
              </a:lnSpc>
              <a:spcAft>
                <a:spcPts val="45"/>
              </a:spcAft>
              <a:buFont typeface="Symbol" panose="05050102010706020507" pitchFamily="18" charset="2"/>
              <a:buChar char=""/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Generalmente más rápido debido a menos cambios de contexto.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Ventajas: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1000"/>
              </a:lnSpc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Alto rendimiento debido a la comunicación directa.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1000"/>
              </a:lnSpc>
              <a:spcAft>
                <a:spcPts val="45"/>
              </a:spcAft>
              <a:buFont typeface="Symbol" panose="05050102010706020507" pitchFamily="18" charset="2"/>
              <a:buChar char=""/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Acceso directo al hardware</a:t>
            </a:r>
            <a:r>
              <a:rPr lang="es-PE" sz="140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Ejemplos: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Linux, versiones tradicionales de Unix, Windows NT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1000"/>
              </a:lnSpc>
              <a:spcAft>
                <a:spcPts val="45"/>
              </a:spcAft>
              <a:buFont typeface="Symbol" panose="05050102010706020507" pitchFamily="18" charset="2"/>
              <a:buChar char=""/>
            </a:pP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794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 err="1"/>
              <a:t>Microkernel</a:t>
            </a:r>
            <a:endParaRPr lang="en-US" dirty="0"/>
          </a:p>
        </p:txBody>
      </p:sp>
      <p:pic>
        <p:nvPicPr>
          <p:cNvPr id="4" name="Marcador de contenido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9080" y="1690688"/>
            <a:ext cx="4259731" cy="4351338"/>
          </a:xfrm>
          <a:prstGeom prst="rect">
            <a:avLst/>
          </a:prstGeom>
        </p:spPr>
      </p:pic>
      <p:sp>
        <p:nvSpPr>
          <p:cNvPr id="6" name="Rectángulo 5"/>
          <p:cNvSpPr/>
          <p:nvPr/>
        </p:nvSpPr>
        <p:spPr>
          <a:xfrm>
            <a:off x="838200" y="1690688"/>
            <a:ext cx="6096000" cy="46365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microkernel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es una arquitectura minimalista que solo implementa servicios básicos como la gestión de memoria, comunicación entre procesos y programación básica en el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 Los otros servicios del sistema operativo se ejecutan como procesos en el espacio de usuario.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Características: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mínimo que proporciona solo servicios esenciales.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La mayoría de los servicios del sistema se ejecutan en el espacio de usuario.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Comunicación entre componentes a través de paso de mensajes.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Mayor modularidad y facilidad de extensión.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 </a:t>
            </a:r>
            <a:endParaRPr lang="es-PE" sz="1400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Ventajas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Mayor estabilidad (un fallo en un servicio no hace caer todo el sistema).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- Más fácil de mantener y extender.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  <a:buFontTx/>
              <a:buChar char="-"/>
            </a:pPr>
            <a:r>
              <a:rPr lang="es-PE" sz="140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Mejor 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seguridad debido al aislamiento de componentes</a:t>
            </a:r>
            <a:r>
              <a:rPr lang="es-PE" sz="140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s-PE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endParaRPr lang="es-PE" sz="1400" dirty="0" smtClean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 smtClean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Ejemplos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6350" indent="-6350" algn="just">
              <a:lnSpc>
                <a:spcPct val="111000"/>
              </a:lnSpc>
              <a:spcAft>
                <a:spcPts val="45"/>
              </a:spcAft>
            </a:pP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MINIX, QNX, L4,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Fuchsia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OS (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Zircon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s-PE" sz="14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kernel</a:t>
            </a:r>
            <a:r>
              <a:rPr lang="es-PE" sz="1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).</a:t>
            </a: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 algn="just">
              <a:lnSpc>
                <a:spcPct val="111000"/>
              </a:lnSpc>
              <a:spcAft>
                <a:spcPts val="45"/>
              </a:spcAft>
              <a:buFontTx/>
              <a:buChar char="-"/>
            </a:pPr>
            <a:endParaRPr lang="en-US" sz="1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669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Bibliografia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b="1" dirty="0" err="1"/>
              <a:t>Bibliografia</a:t>
            </a:r>
            <a:endParaRPr lang="en-US" b="1" dirty="0"/>
          </a:p>
          <a:p>
            <a:r>
              <a:rPr lang="en-US" dirty="0"/>
              <a:t>·</a:t>
            </a:r>
            <a:r>
              <a:rPr lang="es-PE" dirty="0"/>
              <a:t>  </a:t>
            </a:r>
            <a:r>
              <a:rPr lang="es-PE" dirty="0" err="1"/>
              <a:t>Tanenbaum</a:t>
            </a:r>
            <a:r>
              <a:rPr lang="es-PE" dirty="0"/>
              <a:t>, A. S., &amp; </a:t>
            </a:r>
            <a:r>
              <a:rPr lang="es-PE" dirty="0" err="1"/>
              <a:t>Bos</a:t>
            </a:r>
            <a:r>
              <a:rPr lang="es-PE" dirty="0"/>
              <a:t>, H. (2015). </a:t>
            </a:r>
            <a:r>
              <a:rPr lang="en-US" i="1" dirty="0"/>
              <a:t>Modern Operating Systems</a:t>
            </a:r>
            <a:r>
              <a:rPr lang="en-US" dirty="0"/>
              <a:t> (4th ed.). Pearson. </a:t>
            </a:r>
          </a:p>
          <a:p>
            <a:r>
              <a:rPr lang="en-US" dirty="0"/>
              <a:t>·  </a:t>
            </a:r>
            <a:r>
              <a:rPr lang="en-US" dirty="0" err="1"/>
              <a:t>Silberschatz</a:t>
            </a:r>
            <a:r>
              <a:rPr lang="en-US" dirty="0"/>
              <a:t>, A., Galvin, P. B., &amp; Gagne, G. (2018). </a:t>
            </a:r>
            <a:r>
              <a:rPr lang="en-US" i="1" dirty="0"/>
              <a:t>Operating System Concepts</a:t>
            </a:r>
            <a:r>
              <a:rPr lang="en-US" dirty="0"/>
              <a:t> (10th ed.). Wiley. </a:t>
            </a:r>
          </a:p>
          <a:p>
            <a:r>
              <a:rPr lang="en-US" dirty="0"/>
              <a:t>·  Stallings, W. (2018). </a:t>
            </a:r>
            <a:r>
              <a:rPr lang="en-US" i="1" dirty="0"/>
              <a:t>Operating Systems: Internals and Design Principles</a:t>
            </a:r>
            <a:r>
              <a:rPr lang="en-US" dirty="0"/>
              <a:t> (9th ed.). Pearson. 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41292374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Linux - Comandos </a:t>
            </a:r>
            <a:r>
              <a:rPr lang="es-PE" dirty="0" smtClean="0"/>
              <a:t>básicos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PE" b="1" dirty="0"/>
              <a:t>Estructura básica de un comando</a:t>
            </a:r>
            <a:endParaRPr lang="en-US" b="1" dirty="0"/>
          </a:p>
          <a:p>
            <a:pPr marL="0" indent="0">
              <a:buNone/>
            </a:pPr>
            <a:r>
              <a:rPr lang="en-US" dirty="0" smtClean="0"/>
              <a:t>#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comando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[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opciones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] [</a:t>
            </a:r>
            <a:r>
              <a:rPr lang="en-US" dirty="0" err="1">
                <a:solidFill>
                  <a:schemeClr val="accent1">
                    <a:lumMod val="50000"/>
                  </a:schemeClr>
                </a:solidFill>
              </a:rPr>
              <a:t>argumentos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]</a:t>
            </a:r>
          </a:p>
          <a:p>
            <a:pPr marL="0" indent="0">
              <a:buNone/>
            </a:pPr>
            <a:r>
              <a:rPr lang="es-US" i="1" dirty="0"/>
              <a:t>comando</a:t>
            </a:r>
            <a:r>
              <a:rPr lang="es-US" dirty="0"/>
              <a:t>: Es el programa o script que deseas ejecutar</a:t>
            </a:r>
            <a:r>
              <a:rPr lang="es-US" dirty="0" smtClean="0"/>
              <a:t>.</a:t>
            </a:r>
          </a:p>
          <a:p>
            <a:pPr marL="0" indent="0">
              <a:buNone/>
            </a:pPr>
            <a:r>
              <a:rPr lang="es-US" dirty="0" smtClean="0"/>
              <a:t>[</a:t>
            </a:r>
            <a:r>
              <a:rPr lang="es-US" i="1" dirty="0"/>
              <a:t>opciones</a:t>
            </a:r>
            <a:r>
              <a:rPr lang="es-US" dirty="0" smtClean="0"/>
              <a:t>] o </a:t>
            </a:r>
            <a:r>
              <a:rPr lang="es-US" dirty="0" err="1" smtClean="0"/>
              <a:t>flags</a:t>
            </a:r>
            <a:r>
              <a:rPr lang="es-US" dirty="0" smtClean="0"/>
              <a:t>: </a:t>
            </a:r>
            <a:r>
              <a:rPr lang="es-US" dirty="0"/>
              <a:t>Son los modificadores que cambian el comportamiento del comando (pueden no estar presentes). </a:t>
            </a:r>
            <a:r>
              <a:rPr lang="es-US" dirty="0" smtClean="0"/>
              <a:t>Van </a:t>
            </a:r>
            <a:r>
              <a:rPr lang="es-US" dirty="0"/>
              <a:t>precedidas por uno o dos guiones (- o --).</a:t>
            </a:r>
            <a:endParaRPr lang="es-US" dirty="0" smtClean="0"/>
          </a:p>
          <a:p>
            <a:pPr marL="0" indent="0">
              <a:buNone/>
            </a:pPr>
            <a:r>
              <a:rPr lang="es-US" dirty="0" smtClean="0"/>
              <a:t>[</a:t>
            </a:r>
            <a:r>
              <a:rPr lang="es-US" i="1" dirty="0"/>
              <a:t>argumentos</a:t>
            </a:r>
            <a:r>
              <a:rPr lang="es-US" dirty="0"/>
              <a:t>]: Son los elementos a los cuales se aplica el comando (también pueden no estar presentes).</a:t>
            </a:r>
          </a:p>
        </p:txBody>
      </p:sp>
    </p:spTree>
    <p:extLst>
      <p:ext uri="{BB962C8B-B14F-4D97-AF65-F5344CB8AC3E}">
        <p14:creationId xmlns:p14="http://schemas.microsoft.com/office/powerpoint/2010/main" val="676302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Linux - Comandos básicos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199" y="1690688"/>
            <a:ext cx="10688783" cy="5167312"/>
          </a:xfrm>
        </p:spPr>
        <p:txBody>
          <a:bodyPr>
            <a:normAutofit fontScale="55000" lnSpcReduction="20000"/>
          </a:bodyPr>
          <a:lstStyle/>
          <a:p>
            <a:pPr marL="2244725" indent="-2244725">
              <a:buNone/>
            </a:pPr>
            <a:r>
              <a:rPr lang="es-US" dirty="0"/>
              <a:t>$</a:t>
            </a:r>
            <a:r>
              <a:rPr lang="es-US" dirty="0" smtClean="0"/>
              <a:t> </a:t>
            </a:r>
            <a:r>
              <a:rPr lang="es-US" dirty="0" err="1" smtClean="0"/>
              <a:t>man</a:t>
            </a:r>
            <a:r>
              <a:rPr lang="es-US" dirty="0" smtClean="0"/>
              <a:t> [comando]	</a:t>
            </a:r>
            <a:r>
              <a:rPr lang="es-US" i="1" dirty="0" smtClean="0"/>
              <a:t>pagina del manual</a:t>
            </a:r>
            <a:endParaRPr lang="es-US" dirty="0" smtClean="0"/>
          </a:p>
          <a:p>
            <a:pPr marL="2244725" indent="-2244725">
              <a:buNone/>
            </a:pPr>
            <a:r>
              <a:rPr lang="es-US" dirty="0"/>
              <a:t>$</a:t>
            </a:r>
            <a:r>
              <a:rPr lang="es-US" dirty="0" smtClean="0"/>
              <a:t> [comando] –</a:t>
            </a:r>
            <a:r>
              <a:rPr lang="es-US" dirty="0" err="1" smtClean="0"/>
              <a:t>help</a:t>
            </a:r>
            <a:r>
              <a:rPr lang="es-US" dirty="0" smtClean="0"/>
              <a:t>	</a:t>
            </a:r>
            <a:r>
              <a:rPr lang="es-US" i="1" dirty="0" smtClean="0"/>
              <a:t>ayuda de un comando</a:t>
            </a:r>
          </a:p>
          <a:p>
            <a:pPr marL="2244725" indent="-2244725">
              <a:buNone/>
            </a:pPr>
            <a:r>
              <a:rPr lang="es-PE" dirty="0" smtClean="0"/>
              <a:t>$ </a:t>
            </a:r>
            <a:r>
              <a:rPr lang="es-PE" dirty="0" err="1"/>
              <a:t>wsl</a:t>
            </a:r>
            <a:r>
              <a:rPr lang="es-PE" dirty="0"/>
              <a:t> -u </a:t>
            </a:r>
            <a:r>
              <a:rPr lang="es-PE" dirty="0" err="1" smtClean="0"/>
              <a:t>root</a:t>
            </a:r>
            <a:r>
              <a:rPr lang="es-PE" dirty="0" smtClean="0"/>
              <a:t>	</a:t>
            </a:r>
            <a:r>
              <a:rPr lang="es-PE" i="1" dirty="0" smtClean="0"/>
              <a:t>en la consola </a:t>
            </a:r>
            <a:r>
              <a:rPr lang="es-PE" i="1" dirty="0" err="1" smtClean="0"/>
              <a:t>cmd</a:t>
            </a:r>
            <a:r>
              <a:rPr lang="es-PE" i="1" dirty="0" smtClean="0"/>
              <a:t> abre </a:t>
            </a:r>
            <a:r>
              <a:rPr lang="es-PE" i="1" dirty="0" err="1" smtClean="0"/>
              <a:t>wsl</a:t>
            </a:r>
            <a:endParaRPr lang="es-PE" i="1" dirty="0" smtClean="0"/>
          </a:p>
          <a:p>
            <a:pPr marL="2244725" indent="-2244725">
              <a:buNone/>
            </a:pPr>
            <a:r>
              <a:rPr lang="es-US" dirty="0" smtClean="0"/>
              <a:t>$ </a:t>
            </a:r>
            <a:r>
              <a:rPr lang="es-US" dirty="0"/>
              <a:t>sudo </a:t>
            </a:r>
            <a:r>
              <a:rPr lang="es-US" dirty="0" err="1"/>
              <a:t>passwd</a:t>
            </a:r>
            <a:r>
              <a:rPr lang="es-US" dirty="0"/>
              <a:t> </a:t>
            </a:r>
            <a:r>
              <a:rPr lang="es-US" dirty="0" err="1" smtClean="0"/>
              <a:t>root</a:t>
            </a:r>
            <a:r>
              <a:rPr lang="es-US" dirty="0" smtClean="0"/>
              <a:t>	</a:t>
            </a:r>
            <a:r>
              <a:rPr lang="es-US" i="1" dirty="0" smtClean="0"/>
              <a:t>cambiar la </a:t>
            </a:r>
            <a:r>
              <a:rPr lang="es-US" i="1" dirty="0" err="1" smtClean="0"/>
              <a:t>constraseña</a:t>
            </a:r>
            <a:r>
              <a:rPr lang="es-US" i="1" dirty="0" smtClean="0"/>
              <a:t> a </a:t>
            </a:r>
            <a:r>
              <a:rPr lang="es-US" i="1" dirty="0" err="1" smtClean="0"/>
              <a:t>root</a:t>
            </a:r>
            <a:endParaRPr lang="es-US" i="1" dirty="0"/>
          </a:p>
          <a:p>
            <a:pPr marL="2244725" indent="-2244725">
              <a:buNone/>
            </a:pPr>
            <a:r>
              <a:rPr lang="es-US" sz="2100" dirty="0"/>
              <a:t>[sudo] </a:t>
            </a:r>
            <a:r>
              <a:rPr lang="es-US" sz="2100" dirty="0" err="1"/>
              <a:t>password</a:t>
            </a:r>
            <a:r>
              <a:rPr lang="es-US" sz="2100" dirty="0"/>
              <a:t> </a:t>
            </a:r>
            <a:r>
              <a:rPr lang="es-US" sz="2100" dirty="0" err="1"/>
              <a:t>for</a:t>
            </a:r>
            <a:r>
              <a:rPr lang="es-US" sz="2100" dirty="0"/>
              <a:t> </a:t>
            </a:r>
            <a:r>
              <a:rPr lang="es-US" sz="2100" dirty="0" smtClean="0"/>
              <a:t>usuario:</a:t>
            </a:r>
            <a:endParaRPr lang="es-US" sz="2100" dirty="0"/>
          </a:p>
          <a:p>
            <a:pPr marL="2244725" indent="-2244725">
              <a:buNone/>
            </a:pPr>
            <a:r>
              <a:rPr lang="es-US" sz="2100" dirty="0"/>
              <a:t>New </a:t>
            </a:r>
            <a:r>
              <a:rPr lang="es-US" sz="2100" dirty="0" err="1"/>
              <a:t>password</a:t>
            </a:r>
            <a:r>
              <a:rPr lang="es-US" sz="2100" dirty="0"/>
              <a:t>:</a:t>
            </a:r>
          </a:p>
          <a:p>
            <a:pPr marL="2244725" indent="-2244725">
              <a:buNone/>
            </a:pPr>
            <a:r>
              <a:rPr lang="es-US" sz="2100" dirty="0" err="1"/>
              <a:t>Retype</a:t>
            </a:r>
            <a:r>
              <a:rPr lang="es-US" sz="2100" dirty="0"/>
              <a:t> new </a:t>
            </a:r>
            <a:r>
              <a:rPr lang="es-US" sz="2100" dirty="0" err="1"/>
              <a:t>password</a:t>
            </a:r>
            <a:r>
              <a:rPr lang="es-US" sz="2100" dirty="0" smtClean="0"/>
              <a:t>:</a:t>
            </a:r>
          </a:p>
          <a:p>
            <a:pPr marL="2244725" indent="-2244725">
              <a:buNone/>
            </a:pPr>
            <a:r>
              <a:rPr lang="es-US" sz="2900" dirty="0"/>
              <a:t>$ </a:t>
            </a:r>
            <a:r>
              <a:rPr lang="es-US" sz="2900" dirty="0" err="1"/>
              <a:t>awk</a:t>
            </a:r>
            <a:r>
              <a:rPr lang="es-US" sz="2900" dirty="0"/>
              <a:t>	</a:t>
            </a:r>
            <a:r>
              <a:rPr lang="es-US" sz="2900" i="1" dirty="0"/>
              <a:t>es una herramienta de procesamiento de texto y lenguaje de programación </a:t>
            </a:r>
            <a:r>
              <a:rPr lang="es-US" sz="2900" i="1" dirty="0" err="1"/>
              <a:t>ejm</a:t>
            </a:r>
            <a:r>
              <a:rPr lang="es-US" sz="2900" i="1" dirty="0"/>
              <a:t>: </a:t>
            </a:r>
            <a:r>
              <a:rPr lang="es-US" sz="2900" i="1" dirty="0" err="1"/>
              <a:t>awk</a:t>
            </a:r>
            <a:r>
              <a:rPr lang="es-US" sz="2900" i="1" dirty="0"/>
              <a:t> -F: '$3&gt;=1000 {</a:t>
            </a:r>
            <a:r>
              <a:rPr lang="es-US" sz="2900" i="1" dirty="0" err="1"/>
              <a:t>print</a:t>
            </a:r>
            <a:r>
              <a:rPr lang="es-US" sz="2900" i="1" dirty="0"/>
              <a:t> $1, $6}' /</a:t>
            </a:r>
            <a:r>
              <a:rPr lang="es-US" sz="2900" i="1" dirty="0" err="1"/>
              <a:t>etc</a:t>
            </a:r>
            <a:r>
              <a:rPr lang="es-US" sz="2900" i="1" dirty="0"/>
              <a:t>/</a:t>
            </a:r>
            <a:r>
              <a:rPr lang="es-US" sz="2900" i="1" dirty="0" err="1"/>
              <a:t>passwd</a:t>
            </a:r>
            <a:endParaRPr lang="es-US" sz="2900" i="1" dirty="0"/>
          </a:p>
          <a:p>
            <a:pPr marL="2244725" indent="-2244725">
              <a:buNone/>
            </a:pPr>
            <a:r>
              <a:rPr lang="es-US" sz="2900" dirty="0"/>
              <a:t>$ </a:t>
            </a:r>
            <a:r>
              <a:rPr lang="es-US" sz="2900" dirty="0" err="1"/>
              <a:t>pwd</a:t>
            </a:r>
            <a:r>
              <a:rPr lang="es-US" sz="2900" dirty="0"/>
              <a:t>	</a:t>
            </a:r>
            <a:r>
              <a:rPr lang="es-US" sz="2900" i="1" dirty="0"/>
              <a:t>la ruta o </a:t>
            </a:r>
            <a:r>
              <a:rPr lang="es-US" sz="2900" i="1" dirty="0" err="1"/>
              <a:t>path</a:t>
            </a:r>
            <a:r>
              <a:rPr lang="es-US" sz="2900" i="1" dirty="0"/>
              <a:t> actual</a:t>
            </a:r>
          </a:p>
          <a:p>
            <a:pPr marL="2244725" indent="-2244725">
              <a:buNone/>
            </a:pPr>
            <a:r>
              <a:rPr lang="es-US" sz="2900" dirty="0"/>
              <a:t>$ cd 	</a:t>
            </a:r>
            <a:r>
              <a:rPr lang="es-US" sz="2900" i="1" dirty="0"/>
              <a:t>cambia la posición en el árbol de directorio. Se utilizar tanto el </a:t>
            </a:r>
            <a:r>
              <a:rPr lang="es-US" sz="2900" i="1" dirty="0" err="1"/>
              <a:t>path</a:t>
            </a:r>
            <a:r>
              <a:rPr lang="es-US" sz="2900" i="1" dirty="0"/>
              <a:t> absoluto como relativo</a:t>
            </a:r>
          </a:p>
          <a:p>
            <a:pPr marL="2244725" indent="-2244725">
              <a:buNone/>
            </a:pPr>
            <a:r>
              <a:rPr lang="es-US" sz="2900" dirty="0"/>
              <a:t>$ </a:t>
            </a:r>
            <a:r>
              <a:rPr lang="es-US" sz="2900" dirty="0" err="1"/>
              <a:t>ls</a:t>
            </a:r>
            <a:r>
              <a:rPr lang="es-US" sz="2900" dirty="0"/>
              <a:t>	</a:t>
            </a:r>
            <a:r>
              <a:rPr lang="es-US" sz="2900" i="1" dirty="0"/>
              <a:t>listar archivos</a:t>
            </a:r>
          </a:p>
          <a:p>
            <a:pPr marL="2244725" indent="-2244725">
              <a:buNone/>
            </a:pPr>
            <a:r>
              <a:rPr lang="es-US" sz="2900" dirty="0"/>
              <a:t>$ </a:t>
            </a:r>
            <a:r>
              <a:rPr lang="es-US" sz="2900" dirty="0" err="1"/>
              <a:t>df</a:t>
            </a:r>
            <a:r>
              <a:rPr lang="es-US" sz="2900" dirty="0"/>
              <a:t> –h	</a:t>
            </a:r>
            <a:r>
              <a:rPr lang="es-PE" sz="2900" i="1" dirty="0"/>
              <a:t>ver el espacio libre de cada </a:t>
            </a:r>
            <a:r>
              <a:rPr lang="es-PE" sz="2900" i="1" dirty="0" err="1"/>
              <a:t>filesystem</a:t>
            </a:r>
            <a:r>
              <a:rPr lang="es-PE" sz="2900" i="1" dirty="0"/>
              <a:t>.</a:t>
            </a:r>
          </a:p>
          <a:p>
            <a:pPr marL="2244725" indent="-2244725">
              <a:buNone/>
            </a:pPr>
            <a:r>
              <a:rPr lang="es-PE" sz="2900" dirty="0"/>
              <a:t>$ </a:t>
            </a:r>
            <a:r>
              <a:rPr lang="es-PE" sz="2900" dirty="0" err="1"/>
              <a:t>history</a:t>
            </a:r>
            <a:r>
              <a:rPr lang="es-PE" sz="2900" dirty="0"/>
              <a:t>	</a:t>
            </a:r>
            <a:r>
              <a:rPr lang="es-PE" sz="2900" i="1" dirty="0"/>
              <a:t>historia de los comandos utilizados. Ejemplo: $ </a:t>
            </a:r>
            <a:r>
              <a:rPr lang="es-PE" sz="2900" i="1" dirty="0" err="1"/>
              <a:t>history</a:t>
            </a:r>
            <a:r>
              <a:rPr lang="es-PE" sz="2900" i="1" dirty="0"/>
              <a:t> | grep sudo     $ !23</a:t>
            </a:r>
          </a:p>
          <a:p>
            <a:pPr marL="2244725" indent="-2244725">
              <a:buNone/>
            </a:pPr>
            <a:r>
              <a:rPr lang="es-PE" sz="2900" dirty="0"/>
              <a:t>$ </a:t>
            </a:r>
            <a:r>
              <a:rPr lang="es-PE" sz="2900" dirty="0" err="1"/>
              <a:t>mkdir</a:t>
            </a:r>
            <a:r>
              <a:rPr lang="es-PE" sz="2900" dirty="0"/>
              <a:t>	</a:t>
            </a:r>
            <a:r>
              <a:rPr lang="es-PE" sz="2900" i="1" dirty="0"/>
              <a:t>crear un directorio</a:t>
            </a:r>
          </a:p>
          <a:p>
            <a:pPr marL="2244725" indent="-2244725">
              <a:buNone/>
            </a:pPr>
            <a:r>
              <a:rPr lang="es-PE" sz="2900" dirty="0"/>
              <a:t>$ mv $ </a:t>
            </a:r>
            <a:r>
              <a:rPr lang="es-PE" sz="2900" dirty="0" err="1"/>
              <a:t>cp</a:t>
            </a:r>
            <a:r>
              <a:rPr lang="es-PE" sz="2900" dirty="0"/>
              <a:t> $ </a:t>
            </a:r>
            <a:r>
              <a:rPr lang="es-PE" sz="2900" dirty="0" err="1"/>
              <a:t>rm</a:t>
            </a:r>
            <a:r>
              <a:rPr lang="es-PE" sz="2900" dirty="0"/>
              <a:t> 	</a:t>
            </a:r>
            <a:r>
              <a:rPr lang="es-PE" sz="2900" i="1" dirty="0"/>
              <a:t>mover o renombrar, copiar y eliminar archivos o carpetas</a:t>
            </a:r>
          </a:p>
          <a:p>
            <a:pPr marL="2244725" indent="-2244725">
              <a:buNone/>
            </a:pPr>
            <a:r>
              <a:rPr lang="es-PE" sz="2900" dirty="0"/>
              <a:t>$ nano	</a:t>
            </a:r>
            <a:r>
              <a:rPr lang="es-PE" sz="2900" i="1" dirty="0"/>
              <a:t>editar de textos en </a:t>
            </a:r>
            <a:r>
              <a:rPr lang="es-PE" sz="2900" i="1" dirty="0" smtClean="0"/>
              <a:t>línea</a:t>
            </a:r>
            <a:endParaRPr lang="es-US" sz="2900" i="1" dirty="0"/>
          </a:p>
        </p:txBody>
      </p:sp>
    </p:spTree>
    <p:extLst>
      <p:ext uri="{BB962C8B-B14F-4D97-AF65-F5344CB8AC3E}">
        <p14:creationId xmlns:p14="http://schemas.microsoft.com/office/powerpoint/2010/main" val="1868846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Maquinas Virtuales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US" dirty="0"/>
              <a:t>Una </a:t>
            </a:r>
            <a:r>
              <a:rPr lang="es-US" b="1" dirty="0"/>
              <a:t>Máquina Virtual</a:t>
            </a:r>
            <a:r>
              <a:rPr lang="es-US" dirty="0"/>
              <a:t> es un entorno virtual que actúa como un sistema de computación independiente. </a:t>
            </a:r>
            <a:endParaRPr lang="es-US" dirty="0" smtClean="0"/>
          </a:p>
          <a:p>
            <a:pPr marL="0" indent="0">
              <a:buNone/>
            </a:pPr>
            <a:r>
              <a:rPr lang="es-US" dirty="0" smtClean="0"/>
              <a:t>Se </a:t>
            </a:r>
            <a:r>
              <a:rPr lang="es-US" dirty="0"/>
              <a:t>ejecuta sobre un hardware físico real y está gestionada por un software conocido como </a:t>
            </a:r>
            <a:r>
              <a:rPr lang="es-US" b="1" dirty="0" err="1"/>
              <a:t>hipervisor</a:t>
            </a:r>
            <a:r>
              <a:rPr lang="es-US" dirty="0"/>
              <a:t> o </a:t>
            </a:r>
            <a:r>
              <a:rPr lang="es-US" b="1" dirty="0"/>
              <a:t>monitor de máquina virtual</a:t>
            </a:r>
            <a:r>
              <a:rPr lang="es-US" dirty="0" smtClean="0"/>
              <a:t>.</a:t>
            </a:r>
          </a:p>
          <a:p>
            <a:pPr marL="0" indent="0">
              <a:buNone/>
            </a:pPr>
            <a:r>
              <a:rPr lang="es-US" dirty="0" smtClean="0"/>
              <a:t>Permiten </a:t>
            </a:r>
            <a:r>
              <a:rPr lang="es-US" dirty="0"/>
              <a:t>que múltiples sistemas operativos y aplicaciones se ejecuten de manera aislada en un solo hardware físico, optimizando el uso de recursos y proporcionando flexibilidad.</a:t>
            </a:r>
          </a:p>
        </p:txBody>
      </p:sp>
    </p:spTree>
    <p:extLst>
      <p:ext uri="{BB962C8B-B14F-4D97-AF65-F5344CB8AC3E}">
        <p14:creationId xmlns:p14="http://schemas.microsoft.com/office/powerpoint/2010/main" val="302411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Contenedores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US" dirty="0"/>
              <a:t>Un </a:t>
            </a:r>
            <a:r>
              <a:rPr lang="es-US" dirty="0" smtClean="0"/>
              <a:t>contenedor es </a:t>
            </a:r>
            <a:r>
              <a:rPr lang="es-US" dirty="0"/>
              <a:t>una </a:t>
            </a:r>
            <a:r>
              <a:rPr lang="es-US" b="1" dirty="0"/>
              <a:t>unidad de software que empaqueta código y todas sus dependencias </a:t>
            </a:r>
            <a:r>
              <a:rPr lang="es-US" dirty="0"/>
              <a:t>necesarias para que una aplicación se ejecute de manera rápida y confiable de un entorno informático a otro. Los contenedores permiten aislar aplicaciones del entorno que las rodea (por ejemplo, diferencias entre los entornos de desarrollo y de producción) y solucionar el problema de </a:t>
            </a:r>
            <a:r>
              <a:rPr lang="es-US" dirty="0" smtClean="0"/>
              <a:t>“en mi maquina si funciona".</a:t>
            </a: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2044638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Docker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US" dirty="0" err="1"/>
              <a:t>Docker</a:t>
            </a:r>
            <a:r>
              <a:rPr lang="es-US" dirty="0"/>
              <a:t> es una plataforma de contenedores que permite a los desarrolladores empaquetar una aplicación junto con todas sus dependencias (bibliotecas, herramientas, configuraciones) en un contenedor. Este contenedor es un entorno aislado y portátil que puede ejecutarse de manera consistente en cualquier lugar donde </a:t>
            </a:r>
            <a:r>
              <a:rPr lang="es-US" dirty="0" err="1"/>
              <a:t>Docker</a:t>
            </a:r>
            <a:r>
              <a:rPr lang="es-US" dirty="0"/>
              <a:t> esté disponible, sin importar el sistema operativo o las configuraciones subyacentes.</a:t>
            </a:r>
          </a:p>
        </p:txBody>
      </p:sp>
    </p:spTree>
    <p:extLst>
      <p:ext uri="{BB962C8B-B14F-4D97-AF65-F5344CB8AC3E}">
        <p14:creationId xmlns:p14="http://schemas.microsoft.com/office/powerpoint/2010/main" val="3161080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US" dirty="0" err="1" smtClean="0"/>
              <a:t>Docker</a:t>
            </a:r>
            <a:r>
              <a:rPr lang="es-US" dirty="0" smtClean="0"/>
              <a:t> vs </a:t>
            </a:r>
            <a:r>
              <a:rPr lang="es-US" dirty="0" err="1" smtClean="0"/>
              <a:t>VMs</a:t>
            </a:r>
            <a:endParaRPr lang="es-US" dirty="0"/>
          </a:p>
        </p:txBody>
      </p:sp>
      <p:pic>
        <p:nvPicPr>
          <p:cNvPr id="4" name="Marcador de contenid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7931" y="1825625"/>
            <a:ext cx="839613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313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Ejemplo con </a:t>
            </a:r>
            <a:r>
              <a:rPr lang="es-US" dirty="0" err="1" smtClean="0"/>
              <a:t>Docker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US" dirty="0" smtClean="0"/>
              <a:t>Crear un archivo </a:t>
            </a:r>
            <a:r>
              <a:rPr lang="es-US" dirty="0" err="1" smtClean="0"/>
              <a:t>Dockerfile</a:t>
            </a:r>
            <a:endParaRPr lang="es-US" dirty="0" smtClean="0"/>
          </a:p>
          <a:p>
            <a:pPr marL="442913" indent="0">
              <a:buNone/>
            </a:pPr>
            <a:r>
              <a:rPr lang="es-US" sz="1800" dirty="0"/>
              <a:t>FROM python:3.9-slim</a:t>
            </a:r>
          </a:p>
          <a:p>
            <a:pPr marL="442913" indent="0">
              <a:buNone/>
            </a:pPr>
            <a:r>
              <a:rPr lang="es-US" sz="1800" dirty="0"/>
              <a:t>COPY . /app</a:t>
            </a:r>
          </a:p>
          <a:p>
            <a:pPr marL="442913" indent="0">
              <a:buNone/>
            </a:pPr>
            <a:r>
              <a:rPr lang="es-US" sz="1800" dirty="0"/>
              <a:t>WORKDIR /app</a:t>
            </a:r>
          </a:p>
          <a:p>
            <a:pPr marL="442913" indent="0">
              <a:buNone/>
            </a:pPr>
            <a:r>
              <a:rPr lang="es-US" sz="1800" dirty="0"/>
              <a:t>RUN </a:t>
            </a:r>
            <a:r>
              <a:rPr lang="es-US" sz="1800" dirty="0" err="1"/>
              <a:t>pip</a:t>
            </a:r>
            <a:r>
              <a:rPr lang="es-US" sz="1800" dirty="0"/>
              <a:t> </a:t>
            </a:r>
            <a:r>
              <a:rPr lang="es-US" sz="1800" dirty="0" err="1"/>
              <a:t>install</a:t>
            </a:r>
            <a:r>
              <a:rPr lang="es-US" sz="1800" dirty="0"/>
              <a:t> -r requirements.txt</a:t>
            </a:r>
          </a:p>
          <a:p>
            <a:pPr marL="442913" indent="0">
              <a:buNone/>
            </a:pPr>
            <a:r>
              <a:rPr lang="es-US" sz="1800" dirty="0"/>
              <a:t>CMD ["</a:t>
            </a:r>
            <a:r>
              <a:rPr lang="es-US" sz="1800" dirty="0" err="1"/>
              <a:t>python</a:t>
            </a:r>
            <a:r>
              <a:rPr lang="es-US" sz="1800" dirty="0"/>
              <a:t>", "</a:t>
            </a:r>
            <a:r>
              <a:rPr lang="es-US" sz="1800" dirty="0" smtClean="0"/>
              <a:t>app.py“]</a:t>
            </a:r>
          </a:p>
          <a:p>
            <a:pPr marL="0" indent="0">
              <a:buNone/>
            </a:pPr>
            <a:r>
              <a:rPr lang="en-US" dirty="0" err="1"/>
              <a:t>Construir</a:t>
            </a:r>
            <a:r>
              <a:rPr lang="en-US" dirty="0"/>
              <a:t> la </a:t>
            </a:r>
            <a:r>
              <a:rPr lang="en-US" dirty="0" err="1" smtClean="0"/>
              <a:t>Imagen</a:t>
            </a:r>
            <a:endParaRPr lang="en-US" dirty="0" smtClean="0"/>
          </a:p>
          <a:p>
            <a:pPr marL="442913" indent="0">
              <a:buNone/>
            </a:pPr>
            <a:r>
              <a:rPr lang="es-US" sz="1800" dirty="0" smtClean="0"/>
              <a:t>$ </a:t>
            </a:r>
            <a:r>
              <a:rPr lang="es-US" sz="1800" dirty="0" err="1" smtClean="0"/>
              <a:t>docker</a:t>
            </a:r>
            <a:r>
              <a:rPr lang="es-US" sz="1800" dirty="0" smtClean="0"/>
              <a:t> </a:t>
            </a:r>
            <a:r>
              <a:rPr lang="es-US" sz="1800" dirty="0" err="1"/>
              <a:t>build</a:t>
            </a:r>
            <a:r>
              <a:rPr lang="es-US" sz="1800" dirty="0"/>
              <a:t> -t </a:t>
            </a:r>
            <a:r>
              <a:rPr lang="es-US" sz="1800" dirty="0" err="1"/>
              <a:t>mi-aplicacion:latest</a:t>
            </a:r>
            <a:r>
              <a:rPr lang="es-US" sz="1800" dirty="0"/>
              <a:t> .</a:t>
            </a:r>
          </a:p>
          <a:p>
            <a:pPr marL="0" indent="0">
              <a:buNone/>
            </a:pPr>
            <a:r>
              <a:rPr lang="en-US" dirty="0" err="1"/>
              <a:t>Construir</a:t>
            </a:r>
            <a:r>
              <a:rPr lang="en-US" dirty="0"/>
              <a:t> la </a:t>
            </a:r>
            <a:r>
              <a:rPr lang="en-US" dirty="0" err="1"/>
              <a:t>Imagen</a:t>
            </a:r>
            <a:endParaRPr lang="en-US" dirty="0"/>
          </a:p>
          <a:p>
            <a:pPr marL="442913" indent="0">
              <a:buNone/>
            </a:pPr>
            <a:r>
              <a:rPr lang="es-US" sz="1800" dirty="0" smtClean="0"/>
              <a:t>$ </a:t>
            </a:r>
            <a:r>
              <a:rPr lang="es-US" sz="1800" dirty="0" err="1" smtClean="0"/>
              <a:t>docker</a:t>
            </a:r>
            <a:r>
              <a:rPr lang="es-US" sz="1800" dirty="0" smtClean="0"/>
              <a:t> </a:t>
            </a:r>
            <a:r>
              <a:rPr lang="es-US" sz="1800" dirty="0"/>
              <a:t>run -d -p </a:t>
            </a:r>
            <a:r>
              <a:rPr lang="es-US" sz="1800" dirty="0" smtClean="0"/>
              <a:t>8080:8080 </a:t>
            </a:r>
            <a:r>
              <a:rPr lang="es-US" sz="1800" dirty="0" err="1"/>
              <a:t>mi-aplicacion:latest</a:t>
            </a:r>
            <a:endParaRPr lang="es-US" sz="1800" dirty="0"/>
          </a:p>
          <a:p>
            <a:pPr marL="442913" indent="0">
              <a:buNone/>
            </a:pPr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3092214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err="1" smtClean="0"/>
              <a:t>Ansible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US" dirty="0" err="1"/>
              <a:t>Ansible</a:t>
            </a:r>
            <a:r>
              <a:rPr lang="es-US" dirty="0"/>
              <a:t> es una herramienta de automatización de TI de código abierto que permite:</a:t>
            </a:r>
          </a:p>
          <a:p>
            <a:r>
              <a:rPr lang="es-US" dirty="0"/>
              <a:t>Automatizar la configuración de sistemas</a:t>
            </a:r>
          </a:p>
          <a:p>
            <a:r>
              <a:rPr lang="es-US" dirty="0"/>
              <a:t>Implementar aplicaciones</a:t>
            </a:r>
          </a:p>
          <a:p>
            <a:r>
              <a:rPr lang="es-US" dirty="0"/>
              <a:t>Gestionar la infraestructura como código</a:t>
            </a:r>
          </a:p>
          <a:p>
            <a:pPr marL="0" indent="0">
              <a:buNone/>
            </a:pPr>
            <a:r>
              <a:rPr lang="es-US" dirty="0"/>
              <a:t>Sus principales características son:</a:t>
            </a:r>
          </a:p>
          <a:p>
            <a:r>
              <a:rPr lang="es-US" dirty="0"/>
              <a:t>No requiere agentes en los equipos gestionados (</a:t>
            </a:r>
            <a:r>
              <a:rPr lang="es-US" dirty="0" err="1"/>
              <a:t>agentless</a:t>
            </a:r>
            <a:r>
              <a:rPr lang="es-US" dirty="0"/>
              <a:t>)</a:t>
            </a:r>
          </a:p>
          <a:p>
            <a:r>
              <a:rPr lang="es-US" dirty="0"/>
              <a:t>Usa SSH para conectarse a los servidores</a:t>
            </a:r>
          </a:p>
          <a:p>
            <a:r>
              <a:rPr lang="es-US" dirty="0"/>
              <a:t>Utiliza YAML para escribir las configuraciones (llamadas "</a:t>
            </a:r>
            <a:r>
              <a:rPr lang="es-US" dirty="0" err="1"/>
              <a:t>playbooks</a:t>
            </a:r>
            <a:r>
              <a:rPr lang="es-US" dirty="0"/>
              <a:t>")</a:t>
            </a:r>
          </a:p>
          <a:p>
            <a:r>
              <a:rPr lang="es-US" dirty="0"/>
              <a:t>Es declarativo: describes el estado deseado del sistema</a:t>
            </a:r>
          </a:p>
          <a:p>
            <a:r>
              <a:rPr lang="es-US" dirty="0"/>
              <a:t>Tiene una curva de aprendizaje relativamente baja</a:t>
            </a:r>
          </a:p>
          <a:p>
            <a:endParaRPr lang="es-US" dirty="0"/>
          </a:p>
        </p:txBody>
      </p:sp>
    </p:spTree>
    <p:extLst>
      <p:ext uri="{BB962C8B-B14F-4D97-AF65-F5344CB8AC3E}">
        <p14:creationId xmlns:p14="http://schemas.microsoft.com/office/powerpoint/2010/main" val="18829183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Ejemplo de </a:t>
            </a:r>
            <a:r>
              <a:rPr lang="es-US" dirty="0" err="1" smtClean="0"/>
              <a:t>Ansible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US" dirty="0" smtClean="0"/>
              <a:t>Requisitos previos</a:t>
            </a:r>
          </a:p>
          <a:p>
            <a:r>
              <a:rPr lang="es-US" dirty="0" smtClean="0"/>
              <a:t>Cuenta en </a:t>
            </a:r>
            <a:r>
              <a:rPr lang="es-US" dirty="0"/>
              <a:t>AWS (para poder interactuar con AWS</a:t>
            </a:r>
            <a:r>
              <a:rPr lang="es-US" dirty="0" smtClean="0"/>
              <a:t>).</a:t>
            </a:r>
          </a:p>
          <a:p>
            <a:r>
              <a:rPr lang="es-US" dirty="0" smtClean="0"/>
              <a:t>Conocimiento básico de EC2 </a:t>
            </a:r>
            <a:r>
              <a:rPr lang="es-US" dirty="0"/>
              <a:t>de </a:t>
            </a:r>
            <a:r>
              <a:rPr lang="es-US" dirty="0" smtClean="0"/>
              <a:t>AWS</a:t>
            </a:r>
            <a:r>
              <a:rPr lang="es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604098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US" dirty="0" smtClean="0"/>
              <a:t>Ejemplo de </a:t>
            </a:r>
            <a:r>
              <a:rPr lang="es-US" dirty="0" err="1" smtClean="0"/>
              <a:t>Ansible</a:t>
            </a:r>
            <a:r>
              <a:rPr lang="es-US" dirty="0" smtClean="0"/>
              <a:t> (Continuación)</a:t>
            </a:r>
            <a:endParaRPr lang="es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US" dirty="0" smtClean="0"/>
              <a:t>Configuración</a:t>
            </a:r>
          </a:p>
          <a:p>
            <a:r>
              <a:rPr lang="es-US" dirty="0" smtClean="0"/>
              <a:t>Instalar AWS CLI</a:t>
            </a:r>
          </a:p>
          <a:p>
            <a:r>
              <a:rPr lang="es-US" dirty="0" smtClean="0"/>
              <a:t>Instalación </a:t>
            </a:r>
            <a:r>
              <a:rPr lang="es-US" dirty="0"/>
              <a:t>de </a:t>
            </a:r>
            <a:r>
              <a:rPr lang="es-US" dirty="0" err="1" smtClean="0"/>
              <a:t>Ansible</a:t>
            </a:r>
            <a:r>
              <a:rPr lang="es-US" dirty="0" smtClean="0"/>
              <a:t> local.</a:t>
            </a:r>
          </a:p>
          <a:p>
            <a:r>
              <a:rPr lang="es-US" dirty="0" err="1" smtClean="0"/>
              <a:t>yml</a:t>
            </a:r>
            <a:r>
              <a:rPr lang="es-US" dirty="0" smtClean="0"/>
              <a:t> para la creación </a:t>
            </a:r>
            <a:r>
              <a:rPr lang="es-US" dirty="0"/>
              <a:t>de </a:t>
            </a:r>
            <a:r>
              <a:rPr lang="es-US" dirty="0" smtClean="0"/>
              <a:t>EC2 </a:t>
            </a:r>
            <a:r>
              <a:rPr lang="es-US" dirty="0"/>
              <a:t>de </a:t>
            </a:r>
            <a:r>
              <a:rPr lang="es-US" dirty="0" smtClean="0"/>
              <a:t>AWS</a:t>
            </a:r>
            <a:r>
              <a:rPr lang="es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50142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10880</TotalTime>
  <Words>956</Words>
  <Application>Microsoft Office PowerPoint</Application>
  <PresentationFormat>Panorámica</PresentationFormat>
  <Paragraphs>113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Symbol</vt:lpstr>
      <vt:lpstr>Tema de Office</vt:lpstr>
      <vt:lpstr>Sistemas Operativos</vt:lpstr>
      <vt:lpstr>¿Qué es un Sistema Operativo(SO)?</vt:lpstr>
      <vt:lpstr>Kernel del Sistema Operativo</vt:lpstr>
      <vt:lpstr>Kernel Monolítico</vt:lpstr>
      <vt:lpstr>Microkernel</vt:lpstr>
      <vt:lpstr>Bibliografia</vt:lpstr>
      <vt:lpstr>Linux - Comandos básicos</vt:lpstr>
      <vt:lpstr>Linux - Comandos básicos</vt:lpstr>
      <vt:lpstr>Maquinas Virtuales</vt:lpstr>
      <vt:lpstr>Contenedores</vt:lpstr>
      <vt:lpstr>Docker</vt:lpstr>
      <vt:lpstr>Docker vs VMs</vt:lpstr>
      <vt:lpstr>Ejemplo con Docker</vt:lpstr>
      <vt:lpstr>Ansible</vt:lpstr>
      <vt:lpstr>Ejemplo de Ansible</vt:lpstr>
      <vt:lpstr>Ejemplo de Ansible (Continuación)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jose hernan liza garavito</dc:creator>
  <cp:lastModifiedBy>jose hernan liza garavito</cp:lastModifiedBy>
  <cp:revision>105</cp:revision>
  <dcterms:created xsi:type="dcterms:W3CDTF">2024-09-09T20:27:08Z</dcterms:created>
  <dcterms:modified xsi:type="dcterms:W3CDTF">2024-10-28T16:36:41Z</dcterms:modified>
</cp:coreProperties>
</file>