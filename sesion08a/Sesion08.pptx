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1" r:id="rId2"/>
    <p:sldId id="256" r:id="rId3"/>
    <p:sldId id="293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C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86692" autoAdjust="0"/>
  </p:normalViewPr>
  <p:slideViewPr>
    <p:cSldViewPr snapToGrid="0">
      <p:cViewPr varScale="1">
        <p:scale>
          <a:sx n="72" d="100"/>
          <a:sy n="72" d="100"/>
        </p:scale>
        <p:origin x="10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BA190-D714-418B-A939-E4355E0551C0}" type="datetimeFigureOut">
              <a:rPr lang="es-US" smtClean="0"/>
              <a:t>12/7/2024</a:t>
            </a:fld>
            <a:endParaRPr lang="es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D5287-6E0B-4A0B-AD0F-B57693BFD2F5}" type="slidenum">
              <a:rPr lang="es-US" smtClean="0"/>
              <a:t>‹Nº›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197333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D5287-6E0B-4A0B-AD0F-B57693BFD2F5}" type="slidenum">
              <a:rPr lang="es-US" smtClean="0"/>
              <a:t>3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57254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D5287-6E0B-4A0B-AD0F-B57693BFD2F5}" type="slidenum">
              <a:rPr lang="es-US" smtClean="0"/>
              <a:t>4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082985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D5287-6E0B-4A0B-AD0F-B57693BFD2F5}" type="slidenum">
              <a:rPr lang="es-US" smtClean="0"/>
              <a:t>5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1406972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D5287-6E0B-4A0B-AD0F-B57693BFD2F5}" type="slidenum">
              <a:rPr lang="es-US" smtClean="0"/>
              <a:t>7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829765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D5287-6E0B-4A0B-AD0F-B57693BFD2F5}" type="slidenum">
              <a:rPr lang="es-US" smtClean="0"/>
              <a:t>8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013580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12/7/2024</a:t>
            </a:fld>
            <a:endParaRPr lang="es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26469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12/7/2024</a:t>
            </a:fld>
            <a:endParaRPr lang="es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1585722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12/7/2024</a:t>
            </a:fld>
            <a:endParaRPr lang="es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798965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12/7/2024</a:t>
            </a:fld>
            <a:endParaRPr lang="es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27612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12/7/2024</a:t>
            </a:fld>
            <a:endParaRPr lang="es-U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251037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12/7/2024</a:t>
            </a:fld>
            <a:endParaRPr lang="es-U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841974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12/7/2024</a:t>
            </a:fld>
            <a:endParaRPr lang="es-U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405259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12/7/2024</a:t>
            </a:fld>
            <a:endParaRPr lang="es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1580346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12/7/2024</a:t>
            </a:fld>
            <a:endParaRPr lang="es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19217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12/7/2024</a:t>
            </a:fld>
            <a:endParaRPr lang="es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4039577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12/7/2024</a:t>
            </a:fld>
            <a:endParaRPr lang="es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45915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C4B9E-347C-4104-ADB9-149F35A33AD1}" type="datetimeFigureOut">
              <a:rPr lang="es-US" smtClean="0"/>
              <a:t>12/7/2024</a:t>
            </a:fld>
            <a:endParaRPr lang="es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A8EF3-8079-491A-9360-2E43C989C572}" type="slidenum">
              <a:rPr lang="es-US" smtClean="0"/>
              <a:t>‹Nº›</a:t>
            </a:fld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421532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37678" y="2988404"/>
            <a:ext cx="4953001" cy="774127"/>
          </a:xfrm>
        </p:spPr>
        <p:txBody>
          <a:bodyPr>
            <a:noAutofit/>
          </a:bodyPr>
          <a:lstStyle/>
          <a:p>
            <a:pPr algn="ctr"/>
            <a:r>
              <a:rPr lang="es-US" sz="6000" dirty="0" smtClean="0"/>
              <a:t>Presentación</a:t>
            </a:r>
            <a:endParaRPr lang="es-US" sz="6000" dirty="0"/>
          </a:p>
        </p:txBody>
      </p:sp>
    </p:spTree>
    <p:extLst>
      <p:ext uri="{BB962C8B-B14F-4D97-AF65-F5344CB8AC3E}">
        <p14:creationId xmlns:p14="http://schemas.microsoft.com/office/powerpoint/2010/main" val="364615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adroTexto 26"/>
          <p:cNvSpPr txBox="1"/>
          <p:nvPr/>
        </p:nvSpPr>
        <p:spPr>
          <a:xfrm>
            <a:off x="5148125" y="194897"/>
            <a:ext cx="18279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US" sz="3200" dirty="0" smtClean="0"/>
              <a:t>Terraform</a:t>
            </a:r>
            <a:endParaRPr lang="es-US" sz="3200" dirty="0"/>
          </a:p>
        </p:txBody>
      </p:sp>
      <p:sp>
        <p:nvSpPr>
          <p:cNvPr id="3" name="Rectángulo 2"/>
          <p:cNvSpPr/>
          <p:nvPr/>
        </p:nvSpPr>
        <p:spPr>
          <a:xfrm>
            <a:off x="1341631" y="1568919"/>
            <a:ext cx="53639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¿Qué es </a:t>
            </a:r>
            <a:r>
              <a:rPr lang="en-US" sz="2400" dirty="0" smtClean="0"/>
              <a:t>Terraform?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 smtClean="0"/>
              <a:t>Beneficios</a:t>
            </a:r>
            <a:endParaRPr lang="en-US" sz="24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400" dirty="0" smtClean="0"/>
              <a:t>Alternativas</a:t>
            </a:r>
            <a:endParaRPr lang="en-US" sz="24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400" dirty="0" smtClean="0"/>
              <a:t>Instalación</a:t>
            </a:r>
            <a:endParaRPr lang="en-US" sz="24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400" dirty="0" smtClean="0"/>
              <a:t>Conceptos Basicos</a:t>
            </a:r>
            <a:endParaRPr lang="en-US" sz="24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400" dirty="0" smtClean="0"/>
              <a:t>Estructura básica de archivos</a:t>
            </a:r>
            <a:endParaRPr lang="en-US" sz="2400" dirty="0" smtClean="0"/>
          </a:p>
          <a:p>
            <a:pPr marL="342900" indent="-342900">
              <a:buFont typeface="+mj-lt"/>
              <a:buAutoNum type="arabicPeriod"/>
            </a:pPr>
            <a:r>
              <a:rPr lang="es-US" sz="2400" dirty="0" smtClean="0"/>
              <a:t>Bloques principales</a:t>
            </a:r>
            <a:endParaRPr lang="es-US" sz="2400" dirty="0" smtClean="0"/>
          </a:p>
          <a:p>
            <a:pPr marL="342900" indent="-342900">
              <a:buFont typeface="+mj-lt"/>
              <a:buAutoNum type="arabicPeriod"/>
            </a:pPr>
            <a:r>
              <a:rPr lang="es-US" sz="2400" dirty="0" smtClean="0"/>
              <a:t>Expresiones, Comentarios</a:t>
            </a:r>
          </a:p>
          <a:p>
            <a:pPr marL="342900" indent="-342900">
              <a:buFont typeface="+mj-lt"/>
              <a:buAutoNum type="arabicPeriod"/>
            </a:pPr>
            <a:r>
              <a:rPr lang="es-US" sz="2400" dirty="0" smtClean="0"/>
              <a:t>Organización de archivos</a:t>
            </a:r>
          </a:p>
          <a:p>
            <a:pPr marL="342900" indent="-342900">
              <a:buFont typeface="+mj-lt"/>
              <a:buAutoNum type="arabicPeriod"/>
            </a:pPr>
            <a:r>
              <a:rPr lang="es-US" sz="2400" dirty="0" smtClean="0"/>
              <a:t>Práctica</a:t>
            </a:r>
            <a:endParaRPr lang="es-US" sz="2400" dirty="0"/>
          </a:p>
        </p:txBody>
      </p:sp>
      <p:pic>
        <p:nvPicPr>
          <p:cNvPr id="5" name="Picture 2" descr="A crash course on Terraform. Ramp up on Terraform in minutes via a… | by  Yevgeniy Brikman | Grun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123" y="1262542"/>
            <a:ext cx="3810000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70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4334604" y="194897"/>
            <a:ext cx="3454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US" sz="3200" dirty="0" smtClean="0"/>
              <a:t>¿Qué es Terraform?</a:t>
            </a:r>
            <a:endParaRPr lang="es-US" sz="3200" dirty="0"/>
          </a:p>
        </p:txBody>
      </p:sp>
      <p:sp>
        <p:nvSpPr>
          <p:cNvPr id="5" name="Rectángulo 4"/>
          <p:cNvSpPr/>
          <p:nvPr/>
        </p:nvSpPr>
        <p:spPr>
          <a:xfrm>
            <a:off x="594344" y="2027471"/>
            <a:ext cx="708236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800" dirty="0"/>
              <a:t>Terraform es una herramienta de código abierto desarrollada por HashiCorp que permite definir y gestionar infraestructuras de forma segura y eficiente. Utiliza una sintaxis declarativa en archivos de configuración para describir el estado deseado de tu infraestructura</a:t>
            </a:r>
            <a:r>
              <a:rPr lang="es-US" sz="2800" dirty="0" smtClean="0"/>
              <a:t>.</a:t>
            </a:r>
            <a:endParaRPr lang="es-US" sz="2800" dirty="0"/>
          </a:p>
        </p:txBody>
      </p:sp>
      <p:pic>
        <p:nvPicPr>
          <p:cNvPr id="1026" name="Picture 2" descr="A crash course on Terraform. Ramp up on Terraform in minutes via a… | by  Yevgeniy Brikman | Gruntwor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589" y="1687844"/>
            <a:ext cx="3810000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709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dirty="0" smtClean="0"/>
              <a:t>Beneficios de Terraform</a:t>
            </a:r>
            <a:endParaRPr lang="es-US" dirty="0"/>
          </a:p>
        </p:txBody>
      </p:sp>
      <p:sp>
        <p:nvSpPr>
          <p:cNvPr id="3" name="Rectángulo 2"/>
          <p:cNvSpPr/>
          <p:nvPr/>
        </p:nvSpPr>
        <p:spPr>
          <a:xfrm>
            <a:off x="838200" y="2010587"/>
            <a:ext cx="1099583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Infraestructura como Código (IaC</a:t>
            </a:r>
            <a:r>
              <a:rPr lang="en-US" sz="2400" b="1" dirty="0" smtClean="0"/>
              <a:t>)</a:t>
            </a:r>
          </a:p>
          <a:p>
            <a:r>
              <a:rPr lang="es-US" sz="2400" b="1" dirty="0"/>
              <a:t>Versionamiento</a:t>
            </a:r>
            <a:r>
              <a:rPr lang="es-US" sz="2400" dirty="0"/>
              <a:t>: Puedes guardar tus configuraciones en un sistema de control de versiones como Git, lo que permite rastrear cambios, revertir configuraciones y colaborar en equipo</a:t>
            </a:r>
            <a:r>
              <a:rPr lang="es-US" sz="2400" dirty="0" smtClean="0"/>
              <a:t>.</a:t>
            </a:r>
          </a:p>
          <a:p>
            <a:r>
              <a:rPr lang="es-US" sz="2400" b="1" dirty="0" smtClean="0"/>
              <a:t>Reproducibilidad</a:t>
            </a:r>
            <a:r>
              <a:rPr lang="es-US" sz="2400" dirty="0"/>
              <a:t>: Puedes recrear la infraestructura exacta en otro entorno (por ejemplo, staging o producción) simplemente aplicando las mismas configuraciones</a:t>
            </a:r>
            <a:r>
              <a:rPr lang="es-US" sz="2400" dirty="0" smtClean="0"/>
              <a:t>.</a:t>
            </a:r>
          </a:p>
          <a:p>
            <a:r>
              <a:rPr lang="es-US" sz="2400" b="1" dirty="0" smtClean="0"/>
              <a:t>Documentación</a:t>
            </a:r>
            <a:r>
              <a:rPr lang="es-US" sz="2400" dirty="0" smtClean="0"/>
              <a:t> </a:t>
            </a:r>
            <a:r>
              <a:rPr lang="es-US" sz="2400" b="1" dirty="0"/>
              <a:t>Viva</a:t>
            </a:r>
            <a:r>
              <a:rPr lang="es-US" sz="2400" dirty="0"/>
              <a:t>: Los archivos de Terraform funcionan como documentación clara y actualizada de tu infraestructura, a diferencia de configuraciones manuales en la consola que pueden quedar desactualizadas</a:t>
            </a:r>
            <a:r>
              <a:rPr lang="es-US" sz="2400" dirty="0" smtClean="0"/>
              <a:t>.</a:t>
            </a:r>
          </a:p>
          <a:p>
            <a:r>
              <a:rPr lang="es-US" sz="2400" b="1" dirty="0"/>
              <a:t>Multi-proveedor</a:t>
            </a:r>
            <a:r>
              <a:rPr lang="es-US" sz="2400" dirty="0"/>
              <a:t>: Soporta múltiples proveedores y servicios en la nube</a:t>
            </a:r>
            <a:r>
              <a:rPr lang="es-US" sz="2400" dirty="0" smtClean="0"/>
              <a:t>.</a:t>
            </a:r>
          </a:p>
          <a:p>
            <a:r>
              <a:rPr lang="es-US" sz="2400" b="1" dirty="0" smtClean="0"/>
              <a:t>Declarativo</a:t>
            </a:r>
            <a:r>
              <a:rPr lang="es-US" sz="2400" dirty="0"/>
              <a:t>: Especificas el estado final y Terraform se encarga de los detalles</a:t>
            </a:r>
            <a:r>
              <a:rPr lang="es-US" sz="2400" dirty="0" smtClean="0"/>
              <a:t>.</a:t>
            </a:r>
            <a:endParaRPr lang="es-US" sz="2400" dirty="0"/>
          </a:p>
        </p:txBody>
      </p:sp>
    </p:spTree>
    <p:extLst>
      <p:ext uri="{BB962C8B-B14F-4D97-AF65-F5344CB8AC3E}">
        <p14:creationId xmlns:p14="http://schemas.microsoft.com/office/powerpoint/2010/main" val="2110755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117607"/>
          </a:xfrm>
        </p:spPr>
        <p:txBody>
          <a:bodyPr/>
          <a:lstStyle/>
          <a:p>
            <a:pPr algn="ctr"/>
            <a:r>
              <a:rPr lang="es-US" dirty="0" smtClean="0"/>
              <a:t>Alternativas a Terraform</a:t>
            </a:r>
            <a:endParaRPr lang="es-US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222328"/>
              </p:ext>
            </p:extLst>
          </p:nvPr>
        </p:nvGraphicFramePr>
        <p:xfrm>
          <a:off x="838199" y="1277095"/>
          <a:ext cx="10439399" cy="53269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7351">
                  <a:extLst>
                    <a:ext uri="{9D8B030D-6E8A-4147-A177-3AD203B41FA5}">
                      <a16:colId xmlns:a16="http://schemas.microsoft.com/office/drawing/2014/main" val="678071381"/>
                    </a:ext>
                  </a:extLst>
                </a:gridCol>
                <a:gridCol w="744814">
                  <a:extLst>
                    <a:ext uri="{9D8B030D-6E8A-4147-A177-3AD203B41FA5}">
                      <a16:colId xmlns:a16="http://schemas.microsoft.com/office/drawing/2014/main" val="284486360"/>
                    </a:ext>
                  </a:extLst>
                </a:gridCol>
                <a:gridCol w="2546781">
                  <a:extLst>
                    <a:ext uri="{9D8B030D-6E8A-4147-A177-3AD203B41FA5}">
                      <a16:colId xmlns:a16="http://schemas.microsoft.com/office/drawing/2014/main" val="2513213091"/>
                    </a:ext>
                  </a:extLst>
                </a:gridCol>
                <a:gridCol w="3219515">
                  <a:extLst>
                    <a:ext uri="{9D8B030D-6E8A-4147-A177-3AD203B41FA5}">
                      <a16:colId xmlns:a16="http://schemas.microsoft.com/office/drawing/2014/main" val="1788905367"/>
                    </a:ext>
                  </a:extLst>
                </a:gridCol>
                <a:gridCol w="2690938">
                  <a:extLst>
                    <a:ext uri="{9D8B030D-6E8A-4147-A177-3AD203B41FA5}">
                      <a16:colId xmlns:a16="http://schemas.microsoft.com/office/drawing/2014/main" val="1517010666"/>
                    </a:ext>
                  </a:extLst>
                </a:gridCol>
              </a:tblGrid>
              <a:tr h="1664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Herramienta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Lenguaje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Ventajas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Desventajas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Ideal Para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53998"/>
                  </a:ext>
                </a:extLst>
              </a:tr>
              <a:tr h="166462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 smtClean="0">
                          <a:effectLst/>
                        </a:rPr>
                        <a:t>Terraform</a:t>
                      </a:r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HCL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Multi-proveedor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US" sz="900" u="none" strike="noStrike" dirty="0">
                          <a:effectLst/>
                        </a:rPr>
                        <a:t>- Sintaxis limitada comparada con lenguajes completos</a:t>
                      </a:r>
                      <a:endParaRPr lang="es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Infraestructura en múltiples nubes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1488346149"/>
                  </a:ext>
                </a:extLst>
              </a:tr>
              <a:tr h="1664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Gran comunidad y soporte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Complejidad con dependencias complejas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2521910740"/>
                  </a:ext>
                </a:extLst>
              </a:tr>
              <a:tr h="1664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Amplio ecosistema de módulos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976007973"/>
                  </a:ext>
                </a:extLst>
              </a:tr>
              <a:tr h="1664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Escalabilidad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2863720167"/>
                  </a:ext>
                </a:extLst>
              </a:tr>
              <a:tr h="1664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Integración con CI/CD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3382102884"/>
                  </a:ext>
                </a:extLst>
              </a:tr>
              <a:tr h="16646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>
                          <a:effectLst/>
                        </a:rPr>
                        <a:t>AWS </a:t>
                      </a:r>
                      <a:r>
                        <a:rPr lang="en-US" sz="1200" b="1" u="none" strike="noStrike" dirty="0" smtClean="0">
                          <a:effectLst/>
                        </a:rPr>
                        <a:t>CloudFormation</a:t>
                      </a:r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JSON/YAML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Nativo de AWS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Solo soporta AWS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Infraestructura exclusivamente en AWS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4086841482"/>
                  </a:ext>
                </a:extLst>
              </a:tr>
              <a:tr h="1664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Profunda integración con AWS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Complejidad en configuraciones grandes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576347475"/>
                  </a:ext>
                </a:extLst>
              </a:tr>
              <a:tr h="1664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Gestión automática de dependencias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Syntax limitada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557254086"/>
                  </a:ext>
                </a:extLst>
              </a:tr>
              <a:tr h="1664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Coste cero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4288756351"/>
                  </a:ext>
                </a:extLst>
              </a:tr>
              <a:tr h="332923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 smtClean="0">
                          <a:effectLst/>
                        </a:rPr>
                        <a:t>Pulumi</a:t>
                      </a:r>
                      <a:r>
                        <a:rPr lang="en-US" sz="1200" b="1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Python, Go, TypeScript...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Usa lenguajes conocidos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Curva de aprendizaje si vienes de Terraform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US" sz="900" u="none" strike="noStrike" dirty="0">
                          <a:effectLst/>
                        </a:rPr>
                        <a:t>Equipos que prefieren lenguajes de programación</a:t>
                      </a:r>
                      <a:endParaRPr lang="es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4091702241"/>
                  </a:ext>
                </a:extLst>
              </a:tr>
              <a:tr h="1664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Flexibilidad en lógica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Comunidad más pequeña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2781862177"/>
                  </a:ext>
                </a:extLst>
              </a:tr>
              <a:tr h="1664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Compatible con múltiples proveedores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Dependencia del lenguaje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941296604"/>
                  </a:ext>
                </a:extLst>
              </a:tr>
              <a:tr h="1664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Estado en varias plataformas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2956681312"/>
                  </a:ext>
                </a:extLst>
              </a:tr>
              <a:tr h="16646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 smtClean="0">
                          <a:effectLst/>
                        </a:rPr>
                        <a:t>Ansible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YAML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Sin agente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US" sz="900" u="none" strike="noStrike" dirty="0">
                          <a:effectLst/>
                        </a:rPr>
                        <a:t>- Gestión menos eficiente de infraestructuras grandes</a:t>
                      </a:r>
                      <a:endParaRPr lang="es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Configuración y despliegues rápidos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3958341446"/>
                  </a:ext>
                </a:extLst>
              </a:tr>
              <a:tr h="1664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US" sz="900" u="none" strike="noStrike" dirty="0">
                          <a:effectLst/>
                        </a:rPr>
                        <a:t>- Compatible con IaC y configuración</a:t>
                      </a:r>
                      <a:endParaRPr lang="es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Menos herramientas para multi-proveedor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1189964769"/>
                  </a:ext>
                </a:extLst>
              </a:tr>
              <a:tr h="3217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US" sz="900" u="none" strike="noStrike" dirty="0">
                          <a:effectLst/>
                        </a:rPr>
                        <a:t>- Fácil integración con herramientas existentes</a:t>
                      </a:r>
                      <a:endParaRPr lang="es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4249016254"/>
                  </a:ext>
                </a:extLst>
              </a:tr>
              <a:tr h="1664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Sin necesidad de estado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1829427102"/>
                  </a:ext>
                </a:extLst>
              </a:tr>
              <a:tr h="332923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>
                          <a:effectLst/>
                        </a:rPr>
                        <a:t>Chef y </a:t>
                      </a:r>
                      <a:r>
                        <a:rPr lang="en-US" sz="1200" b="1" u="none" strike="noStrike" dirty="0" smtClean="0">
                          <a:effectLst/>
                        </a:rPr>
                        <a:t>Puppet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Ruby, DSL específico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Enfoque fuerte en configuración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Complejidad inicial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Configuración avanzada de servidores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118478123"/>
                  </a:ext>
                </a:extLst>
              </a:tr>
              <a:tr h="332923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Historial extenso y probado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US" sz="900" u="none" strike="noStrike" dirty="0">
                          <a:effectLst/>
                        </a:rPr>
                        <a:t>- Comunidad decreciendo frente a herramientas más modernas</a:t>
                      </a:r>
                      <a:endParaRPr lang="es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750346042"/>
                  </a:ext>
                </a:extLst>
              </a:tr>
              <a:tr h="1664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Gestión automatizada avanzada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937731681"/>
                  </a:ext>
                </a:extLst>
              </a:tr>
              <a:tr h="499386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200" b="1" u="none" strike="noStrike" dirty="0" smtClean="0">
                          <a:effectLst/>
                        </a:rPr>
                        <a:t>Crossplane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YAML (Kubernetes CRD)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Basado en Kubernetes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US" sz="900" u="none" strike="noStrike" dirty="0">
                          <a:effectLst/>
                        </a:rPr>
                        <a:t>- Requiere un clúster de Kubernetes</a:t>
                      </a:r>
                      <a:endParaRPr lang="es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US" sz="900" u="none" strike="noStrike" dirty="0">
                          <a:effectLst/>
                        </a:rPr>
                        <a:t>Gestión IaC basada en entornos Kubernetes</a:t>
                      </a:r>
                      <a:endParaRPr lang="es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889512583"/>
                  </a:ext>
                </a:extLst>
              </a:tr>
              <a:tr h="3217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Multi-proveedor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Curva de aprendizaje alta para no expertos en Kubernetes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166774901"/>
                  </a:ext>
                </a:extLst>
              </a:tr>
              <a:tr h="1664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Gestión declarativa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976673185"/>
                  </a:ext>
                </a:extLst>
              </a:tr>
              <a:tr h="166462">
                <a:tc vMerge="1">
                  <a:txBody>
                    <a:bodyPr/>
                    <a:lstStyle/>
                    <a:p>
                      <a:pPr algn="l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- Nativo de Kubernetes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/>
                </a:tc>
                <a:extLst>
                  <a:ext uri="{0D108BD9-81ED-4DB2-BD59-A6C34878D82A}">
                    <a16:rowId xmlns:a16="http://schemas.microsoft.com/office/drawing/2014/main" val="862958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42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791545" y="336542"/>
            <a:ext cx="242483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US" sz="4000" dirty="0" smtClean="0"/>
              <a:t>Instalación</a:t>
            </a:r>
            <a:endParaRPr lang="es-US" sz="400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86384" y="2057052"/>
            <a:ext cx="10643616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46088" marR="0" lvl="0" indent="-446088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Descargar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el archive de instalación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https://developer.hashicorp.com/terraform/install</a:t>
            </a: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6088" lvl="0" indent="-446088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US" sz="2400" b="1" dirty="0"/>
              <a:t>Configurar </a:t>
            </a:r>
            <a:r>
              <a:rPr lang="es-US" sz="2400" b="1" dirty="0" smtClean="0"/>
              <a:t>la variable de entorno </a:t>
            </a:r>
          </a:p>
          <a:p>
            <a:pPr lvl="1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s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Configura en la variable path con la ruta donde se guardo terraform.exe</a:t>
            </a:r>
          </a:p>
          <a:p>
            <a:pPr marL="342900" lvl="1" indent="-3429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la instalación</a:t>
            </a:r>
          </a:p>
          <a:p>
            <a:pPr marL="0" lvl="1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s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s-US" sz="2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erraform -v</a:t>
            </a:r>
            <a:endParaRPr lang="es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29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468969" y="0"/>
            <a:ext cx="68278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/>
              <a:t>Conceptos Básicos de Terraform</a:t>
            </a:r>
            <a:endParaRPr lang="es-US" sz="4000" dirty="0"/>
          </a:p>
        </p:txBody>
      </p:sp>
      <p:sp>
        <p:nvSpPr>
          <p:cNvPr id="2" name="Rectángulo 1"/>
          <p:cNvSpPr/>
          <p:nvPr/>
        </p:nvSpPr>
        <p:spPr>
          <a:xfrm>
            <a:off x="472328" y="1292733"/>
            <a:ext cx="1139342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400" b="1" dirty="0" smtClean="0"/>
              <a:t>Providers</a:t>
            </a:r>
            <a:endParaRPr lang="es-US" sz="2400" dirty="0"/>
          </a:p>
          <a:p>
            <a:r>
              <a:rPr lang="es-US" sz="2400" dirty="0"/>
              <a:t>Son plugins que permiten a Terraform interactuar con diferentes APIs y servicios. Ejemplos: AWS, Azure, Google Cloud, Docker, etc.</a:t>
            </a:r>
          </a:p>
          <a:p>
            <a:r>
              <a:rPr lang="es-US" sz="2400" b="1" dirty="0" smtClean="0"/>
              <a:t>Resources</a:t>
            </a:r>
            <a:endParaRPr lang="es-US" sz="2400" dirty="0"/>
          </a:p>
          <a:p>
            <a:r>
              <a:rPr lang="es-US" sz="2400" dirty="0"/>
              <a:t>Representan los componentes de tu infraestructura, como máquinas virtuales, contenedores, redes, etc.</a:t>
            </a:r>
          </a:p>
          <a:p>
            <a:r>
              <a:rPr lang="es-US" sz="2400" b="1" dirty="0"/>
              <a:t>Variables</a:t>
            </a:r>
            <a:endParaRPr lang="es-US" sz="2400" dirty="0"/>
          </a:p>
          <a:p>
            <a:r>
              <a:rPr lang="es-US" sz="2400" dirty="0"/>
              <a:t>Permiten parametrizar tus configuraciones para reutilización y flexibilidad.</a:t>
            </a:r>
          </a:p>
          <a:p>
            <a:r>
              <a:rPr lang="es-US" sz="2400" b="1" dirty="0" smtClean="0"/>
              <a:t>State files</a:t>
            </a:r>
            <a:endParaRPr lang="es-US" sz="2400" dirty="0"/>
          </a:p>
          <a:p>
            <a:r>
              <a:rPr lang="es-US" sz="2400" dirty="0"/>
              <a:t>Terraform mantiene un archivo de estado para rastrear los recursos gestionados. Es crucial para sincronizar el estado real con el deseado.</a:t>
            </a:r>
          </a:p>
          <a:p>
            <a:r>
              <a:rPr lang="es-US" sz="2400" b="1" dirty="0"/>
              <a:t>Módulos</a:t>
            </a:r>
            <a:endParaRPr lang="es-US" sz="2400" dirty="0"/>
          </a:p>
          <a:p>
            <a:r>
              <a:rPr lang="es-US" sz="2400" dirty="0"/>
              <a:t>Son contenedores lógicos que agrupan recursos relacionados, permitiendo reutilización y organización.</a:t>
            </a:r>
          </a:p>
        </p:txBody>
      </p:sp>
    </p:spTree>
    <p:extLst>
      <p:ext uri="{BB962C8B-B14F-4D97-AF65-F5344CB8AC3E}">
        <p14:creationId xmlns:p14="http://schemas.microsoft.com/office/powerpoint/2010/main" val="311141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281354"/>
            <a:ext cx="121919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US" sz="4000" dirty="0" smtClean="0"/>
              <a:t>Estructura básico de archivos</a:t>
            </a:r>
            <a:endParaRPr lang="es-US" sz="4000" dirty="0"/>
          </a:p>
        </p:txBody>
      </p:sp>
      <p:sp>
        <p:nvSpPr>
          <p:cNvPr id="3" name="Rectángulo 2"/>
          <p:cNvSpPr/>
          <p:nvPr/>
        </p:nvSpPr>
        <p:spPr>
          <a:xfrm>
            <a:off x="799513" y="1200234"/>
            <a:ext cx="10314432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000" dirty="0"/>
              <a:t>Un archivo de Terraform generalmente se organiza en bloques. Cada bloque define un tipo de configuración y contiene argumentos o atributos</a:t>
            </a:r>
            <a:r>
              <a:rPr lang="es-US" sz="2000" dirty="0" smtClean="0"/>
              <a:t>.</a:t>
            </a:r>
          </a:p>
          <a:p>
            <a:endParaRPr lang="es-US" sz="2000" b="1" dirty="0" smtClean="0"/>
          </a:p>
          <a:p>
            <a:r>
              <a:rPr lang="es-US" sz="2000" b="1" dirty="0" smtClean="0"/>
              <a:t>bloque</a:t>
            </a:r>
            <a:r>
              <a:rPr lang="es-US" sz="2000" dirty="0" smtClean="0"/>
              <a:t> </a:t>
            </a:r>
            <a:r>
              <a:rPr lang="es-US" sz="2000" dirty="0"/>
              <a:t>"tipo" "nombre" {</a:t>
            </a:r>
          </a:p>
          <a:p>
            <a:r>
              <a:rPr lang="es-US" sz="2000" dirty="0"/>
              <a:t>  </a:t>
            </a:r>
            <a:r>
              <a:rPr lang="es-US" sz="2000" b="1" dirty="0"/>
              <a:t>argumento</a:t>
            </a:r>
            <a:r>
              <a:rPr lang="es-US" sz="2000" dirty="0"/>
              <a:t> = "valor"</a:t>
            </a:r>
          </a:p>
          <a:p>
            <a:r>
              <a:rPr lang="es-US" sz="2000" dirty="0"/>
              <a:t>  </a:t>
            </a:r>
            <a:r>
              <a:rPr lang="es-US" sz="2000" b="1" dirty="0"/>
              <a:t>atributo</a:t>
            </a:r>
            <a:r>
              <a:rPr lang="es-US" sz="2000" dirty="0"/>
              <a:t> {</a:t>
            </a:r>
          </a:p>
          <a:p>
            <a:r>
              <a:rPr lang="es-US" sz="2000" dirty="0"/>
              <a:t>    </a:t>
            </a:r>
            <a:r>
              <a:rPr lang="es-US" sz="2000" b="1" dirty="0"/>
              <a:t>subargumento</a:t>
            </a:r>
            <a:r>
              <a:rPr lang="es-US" sz="2000" dirty="0"/>
              <a:t> = "valor"</a:t>
            </a:r>
          </a:p>
          <a:p>
            <a:r>
              <a:rPr lang="es-US" sz="2000" dirty="0"/>
              <a:t>  }</a:t>
            </a:r>
          </a:p>
          <a:p>
            <a:r>
              <a:rPr lang="es-US" sz="2000" dirty="0" smtClean="0"/>
              <a:t>}</a:t>
            </a:r>
          </a:p>
          <a:p>
            <a:endParaRPr lang="es-US" sz="2000" dirty="0"/>
          </a:p>
          <a:p>
            <a:r>
              <a:rPr lang="en-US" sz="2000" dirty="0"/>
              <a:t>resource "aws_instance" "</a:t>
            </a:r>
            <a:r>
              <a:rPr lang="en-US" sz="2000" dirty="0" smtClean="0"/>
              <a:t>mi_instancia" </a:t>
            </a:r>
            <a:r>
              <a:rPr lang="en-US" sz="2000" dirty="0"/>
              <a:t>{ </a:t>
            </a:r>
            <a:endParaRPr lang="en-US" sz="2000" dirty="0" smtClean="0"/>
          </a:p>
          <a:p>
            <a:r>
              <a:rPr lang="en-US" sz="2000" dirty="0"/>
              <a:t> </a:t>
            </a:r>
            <a:r>
              <a:rPr lang="en-US" sz="2000" dirty="0" smtClean="0"/>
              <a:t>   ami </a:t>
            </a:r>
            <a:r>
              <a:rPr lang="en-US" sz="2000" dirty="0"/>
              <a:t>= "ami-0c55b159cbfafe1f0" </a:t>
            </a:r>
            <a:endParaRPr lang="en-US" sz="2000" dirty="0" smtClean="0"/>
          </a:p>
          <a:p>
            <a:r>
              <a:rPr lang="en-US" sz="2000" dirty="0"/>
              <a:t> </a:t>
            </a:r>
            <a:r>
              <a:rPr lang="en-US" sz="2000" dirty="0" smtClean="0"/>
              <a:t>   instancia_tipo </a:t>
            </a:r>
            <a:r>
              <a:rPr lang="en-US" sz="2000" dirty="0"/>
              <a:t>= "t2.micro" </a:t>
            </a:r>
            <a:endParaRPr lang="en-US" sz="2000" dirty="0" smtClean="0"/>
          </a:p>
          <a:p>
            <a:r>
              <a:rPr lang="en-US" sz="2000" dirty="0"/>
              <a:t> </a:t>
            </a:r>
            <a:r>
              <a:rPr lang="en-US" sz="2000" dirty="0" smtClean="0"/>
              <a:t>   tags </a:t>
            </a:r>
            <a:r>
              <a:rPr lang="en-US" sz="2000" dirty="0"/>
              <a:t>= { </a:t>
            </a:r>
            <a:endParaRPr lang="en-US" sz="2000" dirty="0" smtClean="0"/>
          </a:p>
          <a:p>
            <a:r>
              <a:rPr lang="en-US" sz="2000" dirty="0"/>
              <a:t> </a:t>
            </a:r>
            <a:r>
              <a:rPr lang="en-US" sz="2000" dirty="0" smtClean="0"/>
              <a:t>       Name </a:t>
            </a:r>
            <a:r>
              <a:rPr lang="en-US" sz="2000" dirty="0"/>
              <a:t>= "</a:t>
            </a:r>
            <a:r>
              <a:rPr lang="en-US" sz="2000" dirty="0" smtClean="0"/>
              <a:t>MiInstancia" 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}</a:t>
            </a:r>
          </a:p>
          <a:p>
            <a:r>
              <a:rPr lang="en-US" sz="2000" dirty="0" smtClean="0"/>
              <a:t>}</a:t>
            </a:r>
            <a:endParaRPr lang="es-US" sz="2000" dirty="0"/>
          </a:p>
        </p:txBody>
      </p:sp>
    </p:spTree>
    <p:extLst>
      <p:ext uri="{BB962C8B-B14F-4D97-AF65-F5344CB8AC3E}">
        <p14:creationId xmlns:p14="http://schemas.microsoft.com/office/powerpoint/2010/main" val="417115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Bloques principales</a:t>
            </a:r>
            <a:endParaRPr lang="es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4680098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US" b="1" dirty="0"/>
              <a:t>provider</a:t>
            </a:r>
            <a:r>
              <a:rPr lang="es-US" dirty="0"/>
              <a:t> "aws" {</a:t>
            </a:r>
          </a:p>
          <a:p>
            <a:pPr marL="0" indent="0">
              <a:buNone/>
            </a:pPr>
            <a:r>
              <a:rPr lang="es-US" dirty="0"/>
              <a:t>  region = "us-east-1"</a:t>
            </a:r>
          </a:p>
          <a:p>
            <a:pPr marL="0" indent="0">
              <a:buNone/>
            </a:pPr>
            <a:r>
              <a:rPr lang="es-US" dirty="0" smtClean="0"/>
              <a:t>}</a:t>
            </a:r>
          </a:p>
          <a:p>
            <a:pPr marL="0" indent="0">
              <a:buNone/>
            </a:pPr>
            <a:r>
              <a:rPr lang="es-US" dirty="0" smtClean="0"/>
              <a:t>----------------------------------------------</a:t>
            </a:r>
            <a:endParaRPr lang="es-US" dirty="0"/>
          </a:p>
          <a:p>
            <a:pPr marL="0" indent="0">
              <a:buNone/>
            </a:pPr>
            <a:r>
              <a:rPr lang="en-US" b="1" dirty="0"/>
              <a:t>resource</a:t>
            </a:r>
            <a:r>
              <a:rPr lang="en-US" dirty="0"/>
              <a:t> "aws_s3_bucket" "example" {</a:t>
            </a:r>
          </a:p>
          <a:p>
            <a:pPr marL="0" indent="0">
              <a:buNone/>
            </a:pPr>
            <a:r>
              <a:rPr lang="en-US" dirty="0"/>
              <a:t>  bucket = "my-unique-bucket-name"</a:t>
            </a:r>
          </a:p>
          <a:p>
            <a:pPr marL="0" indent="0">
              <a:buNone/>
            </a:pPr>
            <a:r>
              <a:rPr lang="en-US" dirty="0"/>
              <a:t>  acl    = "private"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-----------------------------------------------</a:t>
            </a:r>
            <a:endParaRPr lang="en-US" dirty="0"/>
          </a:p>
          <a:p>
            <a:pPr marL="0" indent="0">
              <a:buNone/>
            </a:pPr>
            <a:r>
              <a:rPr lang="es-US" b="1" dirty="0"/>
              <a:t>variable</a:t>
            </a:r>
            <a:r>
              <a:rPr lang="es-US" dirty="0"/>
              <a:t> "region" {</a:t>
            </a:r>
          </a:p>
          <a:p>
            <a:pPr marL="0" indent="0">
              <a:buNone/>
            </a:pPr>
            <a:r>
              <a:rPr lang="es-US" dirty="0"/>
              <a:t>  default = "us-east-1"</a:t>
            </a:r>
          </a:p>
          <a:p>
            <a:pPr marL="0" indent="0">
              <a:buNone/>
            </a:pPr>
            <a:r>
              <a:rPr lang="es-US" dirty="0" smtClean="0"/>
              <a:t>}</a:t>
            </a:r>
            <a:endParaRPr lang="es-US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5977269" y="1690688"/>
            <a:ext cx="55803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US" sz="2400" b="1" dirty="0" smtClean="0"/>
              <a:t>output</a:t>
            </a:r>
            <a:r>
              <a:rPr lang="es-US" sz="2400" dirty="0" smtClean="0"/>
              <a:t> "bucket_name"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US" sz="2400" dirty="0" smtClean="0"/>
              <a:t>  value = aws_s3_bucket.example.bucket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US" sz="2400" dirty="0" smtClean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US" sz="2400" dirty="0" smtClean="0"/>
              <a:t>--------------------------------------------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US" sz="2400" b="1" dirty="0" smtClean="0"/>
              <a:t>module</a:t>
            </a:r>
            <a:r>
              <a:rPr lang="es-US" sz="2400" dirty="0" smtClean="0"/>
              <a:t> "vpc"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US" sz="2400" dirty="0" smtClean="0"/>
              <a:t>  source = "./modules/vpc"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US" sz="2400" dirty="0" smtClean="0"/>
              <a:t>  cidr_block = "10.0.0.0/16"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US" sz="2400" dirty="0" smtClean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US" sz="2400" dirty="0"/>
          </a:p>
        </p:txBody>
      </p:sp>
    </p:spTree>
    <p:extLst>
      <p:ext uri="{BB962C8B-B14F-4D97-AF65-F5344CB8AC3E}">
        <p14:creationId xmlns:p14="http://schemas.microsoft.com/office/powerpoint/2010/main" val="1427699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Tipos de Datos</a:t>
            </a:r>
            <a:endParaRPr lang="es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84791" y="2336318"/>
            <a:ext cx="362570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Cadenas de </a:t>
            </a:r>
            <a:r>
              <a:rPr kumimoji="0" lang="en-US" altLang="en-US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Texto</a:t>
            </a:r>
            <a:endParaRPr kumimoji="0" lang="en-US" altLang="en-US" b="0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name = "example"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Números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size = 42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Booleanos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enabled = true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5326912" y="2336318"/>
            <a:ext cx="590461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_tradnl" altLang="en-US" b="1" dirty="0" smtClean="0">
                <a:latin typeface="Arial" panose="020B0604020202020204" pitchFamily="34" charset="0"/>
              </a:rPr>
              <a:t>Mapas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Arial" panose="020B0604020202020204" pitchFamily="34" charset="0"/>
              </a:rPr>
              <a:t>Son </a:t>
            </a:r>
            <a:r>
              <a:rPr lang="en-US" altLang="en-US" dirty="0">
                <a:latin typeface="Arial" panose="020B0604020202020204" pitchFamily="34" charset="0"/>
              </a:rPr>
              <a:t>pares clave-valor.</a:t>
            </a:r>
            <a:endParaRPr lang="en-US" altLang="en-US" dirty="0">
              <a:latin typeface="Arial Unicode MS" panose="020B0604020202020204" pitchFamily="34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 Unicode MS" panose="020B0604020202020204" pitchFamily="34" charset="-128"/>
              </a:rPr>
              <a:t>tags = {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 Unicode MS" panose="020B0604020202020204" pitchFamily="34" charset="-128"/>
              </a:rPr>
              <a:t>    Environment = "Production"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 Unicode MS" panose="020B0604020202020204" pitchFamily="34" charset="-128"/>
              </a:rPr>
              <a:t>    Project = "Example"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 Unicode MS" panose="020B0604020202020204" pitchFamily="34" charset="-128"/>
              </a:rPr>
              <a:t>}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Colecciones de valores.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 Unicode MS" panose="020B0604020202020204" pitchFamily="34" charset="-128"/>
              </a:rPr>
              <a:t>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ps_permititdos = ["192.168.0.1", "10.0.0.0/16"]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70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Expresiones</a:t>
            </a:r>
            <a:endParaRPr lang="es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06055" y="1751430"/>
            <a:ext cx="937791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US" altLang="en-US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utilizan para referirse a otros recursos o variables.</a:t>
            </a:r>
            <a:endParaRPr kumimoji="0" lang="es-US" altLang="en-US" b="0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value = aws_instance.my_instance.public_ip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US" altLang="en-US" b="1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US" altLang="en-US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Interpolación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incluir expresiones dentro de cadenas usando </a:t>
            </a: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${}</a:t>
            </a: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US" altLang="en-US" b="0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description = "Instance IP: ${aws_instance.my_instance.public_ip}"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US" altLang="en-US" b="1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US" altLang="en-US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Condicionales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usan para asignar valores en función de condiciones.</a:t>
            </a:r>
            <a:endParaRPr kumimoji="0" lang="es-US" altLang="en-US" b="0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instance_type = var.environment == "production" ? "t3.medium" : "t2.micro" </a:t>
            </a:r>
            <a:endParaRPr kumimoji="0" lang="es-US" altLang="en-US" b="1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US" altLang="en-US" b="1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US" altLang="en-US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Funciones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Terraform incluye varias funciones integradas, como </a:t>
            </a: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concat</a:t>
            </a: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length</a:t>
            </a: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join</a:t>
            </a: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</a:rPr>
              <a:t>, etc.</a:t>
            </a:r>
            <a:endParaRPr kumimoji="0" lang="es-US" altLang="en-US" b="0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cidr_blocks = concat(var.private_subnets, var.public_subnets)</a:t>
            </a:r>
            <a:endParaRPr kumimoji="0" lang="es-US" altLang="en-US" b="0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9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Comentarios</a:t>
            </a:r>
            <a:endParaRPr lang="es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06055" y="2351598"/>
            <a:ext cx="789999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US" altLang="en-US" sz="2400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Comentario en una línea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US" altLang="en-US" sz="2400" noProof="1" smtClean="0">
                <a:latin typeface="Arial" panose="020B0604020202020204" pitchFamily="34" charset="0"/>
              </a:rPr>
              <a:t># </a:t>
            </a:r>
            <a:r>
              <a:rPr lang="es-US" altLang="en-US" sz="2400" i="1" noProof="1" smtClean="0">
                <a:latin typeface="Arial" panose="020B0604020202020204" pitchFamily="34" charset="0"/>
              </a:rPr>
              <a:t>Este es un comentario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US" altLang="en-US" sz="2400" i="1" noProof="1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US" altLang="en-US" sz="2400" b="1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Comentario en un bloque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US" altLang="en-US" sz="2400" noProof="1" smtClean="0">
                <a:latin typeface="Arial" panose="020B0604020202020204" pitchFamily="34" charset="0"/>
              </a:rPr>
              <a:t>/*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US" altLang="en-US" sz="2400" noProof="1" smtClean="0">
                <a:latin typeface="Arial" panose="020B0604020202020204" pitchFamily="34" charset="0"/>
              </a:rPr>
              <a:t>Este es un comentario 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US" altLang="en-US" sz="2400" noProof="1" smtClean="0">
                <a:latin typeface="Arial" panose="020B0604020202020204" pitchFamily="34" charset="0"/>
              </a:rPr>
              <a:t>Varias lineas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US" altLang="en-US" sz="240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216324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Organización de archivos</a:t>
            </a:r>
            <a:endParaRPr lang="es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48586" y="1537153"/>
            <a:ext cx="542260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Archivos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noProof="1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main.tf</a:t>
            </a:r>
            <a:r>
              <a:rPr kumimoji="0" lang="en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</a:rPr>
              <a:t>: Configuración principal.</a:t>
            </a:r>
            <a:endParaRPr lang="en-US" altLang="en-US" noProof="1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variables.tf</a:t>
            </a:r>
            <a:r>
              <a:rPr kumimoji="0" lang="en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</a:rPr>
              <a:t>: Declaración de variables.</a:t>
            </a:r>
            <a:endParaRPr kumimoji="0" lang="en-US" altLang="en-US" b="0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1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outputs.tf</a:t>
            </a:r>
            <a:r>
              <a:rPr kumimoji="0" lang="en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</a:rPr>
              <a:t>: Definición de salidas.</a:t>
            </a:r>
            <a:endParaRPr kumimoji="0" lang="en-US" altLang="en-US" b="0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1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terraform.tfvars</a:t>
            </a:r>
            <a:r>
              <a:rPr kumimoji="0" lang="en-US" altLang="en-US" b="0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</a:rPr>
              <a:t>: Valores predeterminados de las variables.</a:t>
            </a:r>
            <a:endParaRPr kumimoji="0" lang="en-US" altLang="en-US" b="0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69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Ejemplo practico</a:t>
            </a:r>
            <a:endParaRPr lang="es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1616260"/>
            <a:ext cx="485966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noProof="1" smtClean="0">
                <a:latin typeface="Arial" panose="020B0604020202020204" pitchFamily="34" charset="0"/>
              </a:rPr>
              <a:t>Crear un Proyecto tefform para la creacion de un EC2.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noProof="1" smtClean="0">
                <a:latin typeface="Arial" panose="020B0604020202020204" pitchFamily="34" charset="0"/>
              </a:rPr>
              <a:t>La estructrua basica es la propuesta en la imagen.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noProof="1" smtClean="0">
                <a:latin typeface="Arial" panose="020B0604020202020204" pitchFamily="34" charset="0"/>
              </a:rPr>
              <a:t>Si se necesita más archivos estos deben guarder una estructura standard.</a:t>
            </a:r>
            <a:endParaRPr kumimoji="0" lang="en-US" altLang="en-US" i="0" u="none" strike="noStrike" cap="none" normalizeH="0" baseline="0" noProof="1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269" y="1616260"/>
            <a:ext cx="2998980" cy="415700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861" y="1616260"/>
            <a:ext cx="2656959" cy="26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6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10857</TotalTime>
  <Words>950</Words>
  <Application>Microsoft Office PowerPoint</Application>
  <PresentationFormat>Panorámica</PresentationFormat>
  <Paragraphs>202</Paragraphs>
  <Slides>14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 Unicode MS</vt:lpstr>
      <vt:lpstr>Arial</vt:lpstr>
      <vt:lpstr>Calibri</vt:lpstr>
      <vt:lpstr>Calibri Light</vt:lpstr>
      <vt:lpstr>Tema de Office</vt:lpstr>
      <vt:lpstr>Presentación</vt:lpstr>
      <vt:lpstr>Presentación de PowerPoint</vt:lpstr>
      <vt:lpstr>Presentación de PowerPoint</vt:lpstr>
      <vt:lpstr>Beneficios de Terraform</vt:lpstr>
      <vt:lpstr>Alternativas a Terraform</vt:lpstr>
      <vt:lpstr>Presentación de PowerPoint</vt:lpstr>
      <vt:lpstr>Presentación de PowerPoint</vt:lpstr>
      <vt:lpstr>Presentación de PowerPoint</vt:lpstr>
      <vt:lpstr>Bloques principales</vt:lpstr>
      <vt:lpstr>Tipos de Datos</vt:lpstr>
      <vt:lpstr>Expresiones</vt:lpstr>
      <vt:lpstr>Comentarios</vt:lpstr>
      <vt:lpstr>Organización de archivos</vt:lpstr>
      <vt:lpstr>Ejemplo practico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hernan liza garavito</dc:creator>
  <cp:lastModifiedBy>jose hernan liza garavito</cp:lastModifiedBy>
  <cp:revision>120</cp:revision>
  <dcterms:created xsi:type="dcterms:W3CDTF">2024-09-09T20:27:08Z</dcterms:created>
  <dcterms:modified xsi:type="dcterms:W3CDTF">2024-12-08T05:11:31Z</dcterms:modified>
</cp:coreProperties>
</file>