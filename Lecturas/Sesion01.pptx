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1" r:id="rId2"/>
    <p:sldId id="256" r:id="rId3"/>
    <p:sldId id="257" r:id="rId4"/>
    <p:sldId id="258" r:id="rId5"/>
    <p:sldId id="259"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60" r:id="rId19"/>
    <p:sldId id="261" r:id="rId20"/>
    <p:sldId id="262" r:id="rId21"/>
    <p:sldId id="263" r:id="rId22"/>
    <p:sldId id="265" r:id="rId23"/>
    <p:sldId id="266" r:id="rId24"/>
    <p:sldId id="267" r:id="rId25"/>
    <p:sldId id="268" r:id="rId26"/>
    <p:sldId id="269" r:id="rId27"/>
    <p:sldId id="276" r:id="rId28"/>
    <p:sldId id="270" r:id="rId29"/>
    <p:sldId id="272" r:id="rId30"/>
    <p:sldId id="278" r:id="rId31"/>
    <p:sldId id="273" r:id="rId32"/>
    <p:sldId id="277" r:id="rId33"/>
    <p:sldId id="275" r:id="rId34"/>
    <p:sldId id="29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C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snapToGrid="0">
      <p:cViewPr varScale="1">
        <p:scale>
          <a:sx n="83" d="100"/>
          <a:sy n="83" d="100"/>
        </p:scale>
        <p:origin x="60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US"/>
          </a:p>
        </p:txBody>
      </p:sp>
      <p:sp>
        <p:nvSpPr>
          <p:cNvPr id="4" name="Marcador de fecha 3"/>
          <p:cNvSpPr>
            <a:spLocks noGrp="1"/>
          </p:cNvSpPr>
          <p:nvPr>
            <p:ph type="dt" sz="half" idx="10"/>
          </p:nvPr>
        </p:nvSpPr>
        <p:spPr/>
        <p:txBody>
          <a:bodyPr/>
          <a:lstStyle/>
          <a:p>
            <a:fld id="{70EC4B9E-347C-4104-ADB9-149F35A33AD1}" type="datetimeFigureOut">
              <a:rPr lang="es-US" smtClean="0"/>
              <a:t>10/5/2024</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2264695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U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4" name="Marcador de fecha 3"/>
          <p:cNvSpPr>
            <a:spLocks noGrp="1"/>
          </p:cNvSpPr>
          <p:nvPr>
            <p:ph type="dt" sz="half" idx="10"/>
          </p:nvPr>
        </p:nvSpPr>
        <p:spPr/>
        <p:txBody>
          <a:bodyPr/>
          <a:lstStyle/>
          <a:p>
            <a:fld id="{70EC4B9E-347C-4104-ADB9-149F35A33AD1}" type="datetimeFigureOut">
              <a:rPr lang="es-US" smtClean="0"/>
              <a:t>10/5/2024</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1585722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70EC4B9E-347C-4104-ADB9-149F35A33AD1}" type="datetimeFigureOut">
              <a:rPr lang="es-US" smtClean="0"/>
              <a:t>10/5/2024</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3798965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U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5" name="Marcador de fecha 4"/>
          <p:cNvSpPr>
            <a:spLocks noGrp="1"/>
          </p:cNvSpPr>
          <p:nvPr>
            <p:ph type="dt" sz="half" idx="10"/>
          </p:nvPr>
        </p:nvSpPr>
        <p:spPr/>
        <p:txBody>
          <a:bodyPr/>
          <a:lstStyle/>
          <a:p>
            <a:fld id="{70EC4B9E-347C-4104-ADB9-149F35A33AD1}" type="datetimeFigureOut">
              <a:rPr lang="es-US" smtClean="0"/>
              <a:t>10/5/2024</a:t>
            </a:fld>
            <a:endParaRPr lang="es-US"/>
          </a:p>
        </p:txBody>
      </p:sp>
      <p:sp>
        <p:nvSpPr>
          <p:cNvPr id="6" name="Marcador de pie de página 5"/>
          <p:cNvSpPr>
            <a:spLocks noGrp="1"/>
          </p:cNvSpPr>
          <p:nvPr>
            <p:ph type="ftr" sz="quarter" idx="11"/>
          </p:nvPr>
        </p:nvSpPr>
        <p:spPr/>
        <p:txBody>
          <a:bodyPr/>
          <a:lstStyle/>
          <a:p>
            <a:endParaRPr lang="es-US"/>
          </a:p>
        </p:txBody>
      </p:sp>
      <p:sp>
        <p:nvSpPr>
          <p:cNvPr id="7" name="Marcador de número de diapositiva 6"/>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227612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7" name="Marcador de fecha 6"/>
          <p:cNvSpPr>
            <a:spLocks noGrp="1"/>
          </p:cNvSpPr>
          <p:nvPr>
            <p:ph type="dt" sz="half" idx="10"/>
          </p:nvPr>
        </p:nvSpPr>
        <p:spPr/>
        <p:txBody>
          <a:bodyPr/>
          <a:lstStyle/>
          <a:p>
            <a:fld id="{70EC4B9E-347C-4104-ADB9-149F35A33AD1}" type="datetimeFigureOut">
              <a:rPr lang="es-US" smtClean="0"/>
              <a:t>10/5/2024</a:t>
            </a:fld>
            <a:endParaRPr lang="es-US"/>
          </a:p>
        </p:txBody>
      </p:sp>
      <p:sp>
        <p:nvSpPr>
          <p:cNvPr id="8" name="Marcador de pie de página 7"/>
          <p:cNvSpPr>
            <a:spLocks noGrp="1"/>
          </p:cNvSpPr>
          <p:nvPr>
            <p:ph type="ftr" sz="quarter" idx="11"/>
          </p:nvPr>
        </p:nvSpPr>
        <p:spPr/>
        <p:txBody>
          <a:bodyPr/>
          <a:lstStyle/>
          <a:p>
            <a:endParaRPr lang="es-US"/>
          </a:p>
        </p:txBody>
      </p:sp>
      <p:sp>
        <p:nvSpPr>
          <p:cNvPr id="9" name="Marcador de número de diapositiva 8"/>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225103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US"/>
          </a:p>
        </p:txBody>
      </p:sp>
      <p:sp>
        <p:nvSpPr>
          <p:cNvPr id="3" name="Marcador de fecha 2"/>
          <p:cNvSpPr>
            <a:spLocks noGrp="1"/>
          </p:cNvSpPr>
          <p:nvPr>
            <p:ph type="dt" sz="half" idx="10"/>
          </p:nvPr>
        </p:nvSpPr>
        <p:spPr/>
        <p:txBody>
          <a:bodyPr/>
          <a:lstStyle/>
          <a:p>
            <a:fld id="{70EC4B9E-347C-4104-ADB9-149F35A33AD1}" type="datetimeFigureOut">
              <a:rPr lang="es-US" smtClean="0"/>
              <a:t>10/5/2024</a:t>
            </a:fld>
            <a:endParaRPr lang="es-US"/>
          </a:p>
        </p:txBody>
      </p:sp>
      <p:sp>
        <p:nvSpPr>
          <p:cNvPr id="4" name="Marcador de pie de página 3"/>
          <p:cNvSpPr>
            <a:spLocks noGrp="1"/>
          </p:cNvSpPr>
          <p:nvPr>
            <p:ph type="ftr" sz="quarter" idx="11"/>
          </p:nvPr>
        </p:nvSpPr>
        <p:spPr/>
        <p:txBody>
          <a:bodyPr/>
          <a:lstStyle/>
          <a:p>
            <a:endParaRPr lang="es-US"/>
          </a:p>
        </p:txBody>
      </p:sp>
      <p:sp>
        <p:nvSpPr>
          <p:cNvPr id="5" name="Marcador de número de diapositiva 4"/>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84197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0EC4B9E-347C-4104-ADB9-149F35A33AD1}" type="datetimeFigureOut">
              <a:rPr lang="es-US" smtClean="0"/>
              <a:t>10/5/2024</a:t>
            </a:fld>
            <a:endParaRPr lang="es-US"/>
          </a:p>
        </p:txBody>
      </p:sp>
      <p:sp>
        <p:nvSpPr>
          <p:cNvPr id="3" name="Marcador de pie de página 2"/>
          <p:cNvSpPr>
            <a:spLocks noGrp="1"/>
          </p:cNvSpPr>
          <p:nvPr>
            <p:ph type="ftr" sz="quarter" idx="11"/>
          </p:nvPr>
        </p:nvSpPr>
        <p:spPr/>
        <p:txBody>
          <a:bodyPr/>
          <a:lstStyle/>
          <a:p>
            <a:endParaRPr lang="es-US"/>
          </a:p>
        </p:txBody>
      </p:sp>
      <p:sp>
        <p:nvSpPr>
          <p:cNvPr id="4" name="Marcador de número de diapositiva 3"/>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2405259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70EC4B9E-347C-4104-ADB9-149F35A33AD1}" type="datetimeFigureOut">
              <a:rPr lang="es-US" smtClean="0"/>
              <a:t>10/5/2024</a:t>
            </a:fld>
            <a:endParaRPr lang="es-US"/>
          </a:p>
        </p:txBody>
      </p:sp>
      <p:sp>
        <p:nvSpPr>
          <p:cNvPr id="6" name="Marcador de pie de página 5"/>
          <p:cNvSpPr>
            <a:spLocks noGrp="1"/>
          </p:cNvSpPr>
          <p:nvPr>
            <p:ph type="ftr" sz="quarter" idx="11"/>
          </p:nvPr>
        </p:nvSpPr>
        <p:spPr/>
        <p:txBody>
          <a:bodyPr/>
          <a:lstStyle/>
          <a:p>
            <a:endParaRPr lang="es-US"/>
          </a:p>
        </p:txBody>
      </p:sp>
      <p:sp>
        <p:nvSpPr>
          <p:cNvPr id="7" name="Marcador de número de diapositiva 6"/>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1580346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70EC4B9E-347C-4104-ADB9-149F35A33AD1}" type="datetimeFigureOut">
              <a:rPr lang="es-US" smtClean="0"/>
              <a:t>10/5/2024</a:t>
            </a:fld>
            <a:endParaRPr lang="es-US"/>
          </a:p>
        </p:txBody>
      </p:sp>
      <p:sp>
        <p:nvSpPr>
          <p:cNvPr id="6" name="Marcador de pie de página 5"/>
          <p:cNvSpPr>
            <a:spLocks noGrp="1"/>
          </p:cNvSpPr>
          <p:nvPr>
            <p:ph type="ftr" sz="quarter" idx="11"/>
          </p:nvPr>
        </p:nvSpPr>
        <p:spPr/>
        <p:txBody>
          <a:bodyPr/>
          <a:lstStyle/>
          <a:p>
            <a:endParaRPr lang="es-US"/>
          </a:p>
        </p:txBody>
      </p:sp>
      <p:sp>
        <p:nvSpPr>
          <p:cNvPr id="7" name="Marcador de número de diapositiva 6"/>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219217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U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4" name="Marcador de fecha 3"/>
          <p:cNvSpPr>
            <a:spLocks noGrp="1"/>
          </p:cNvSpPr>
          <p:nvPr>
            <p:ph type="dt" sz="half" idx="10"/>
          </p:nvPr>
        </p:nvSpPr>
        <p:spPr/>
        <p:txBody>
          <a:bodyPr/>
          <a:lstStyle/>
          <a:p>
            <a:fld id="{70EC4B9E-347C-4104-ADB9-149F35A33AD1}" type="datetimeFigureOut">
              <a:rPr lang="es-US" smtClean="0"/>
              <a:t>10/5/2024</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4039577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4" name="Marcador de fecha 3"/>
          <p:cNvSpPr>
            <a:spLocks noGrp="1"/>
          </p:cNvSpPr>
          <p:nvPr>
            <p:ph type="dt" sz="half" idx="10"/>
          </p:nvPr>
        </p:nvSpPr>
        <p:spPr/>
        <p:txBody>
          <a:bodyPr/>
          <a:lstStyle/>
          <a:p>
            <a:fld id="{70EC4B9E-347C-4104-ADB9-149F35A33AD1}" type="datetimeFigureOut">
              <a:rPr lang="es-US" smtClean="0"/>
              <a:t>10/5/2024</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32AA8EF3-8079-491A-9360-2E43C989C572}" type="slidenum">
              <a:rPr lang="es-US" smtClean="0"/>
              <a:t>‹Nº›</a:t>
            </a:fld>
            <a:endParaRPr lang="es-US"/>
          </a:p>
        </p:txBody>
      </p:sp>
    </p:spTree>
    <p:extLst>
      <p:ext uri="{BB962C8B-B14F-4D97-AF65-F5344CB8AC3E}">
        <p14:creationId xmlns:p14="http://schemas.microsoft.com/office/powerpoint/2010/main" val="245915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C4B9E-347C-4104-ADB9-149F35A33AD1}" type="datetimeFigureOut">
              <a:rPr lang="es-US" smtClean="0"/>
              <a:t>10/5/2024</a:t>
            </a:fld>
            <a:endParaRPr lang="es-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A8EF3-8079-491A-9360-2E43C989C572}" type="slidenum">
              <a:rPr lang="es-US" smtClean="0"/>
              <a:t>‹Nº›</a:t>
            </a:fld>
            <a:endParaRPr lang="es-US"/>
          </a:p>
        </p:txBody>
      </p:sp>
    </p:spTree>
    <p:extLst>
      <p:ext uri="{BB962C8B-B14F-4D97-AF65-F5344CB8AC3E}">
        <p14:creationId xmlns:p14="http://schemas.microsoft.com/office/powerpoint/2010/main" val="4215329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537678" y="2988404"/>
            <a:ext cx="4953001" cy="774127"/>
          </a:xfrm>
        </p:spPr>
        <p:txBody>
          <a:bodyPr>
            <a:noAutofit/>
          </a:bodyPr>
          <a:lstStyle/>
          <a:p>
            <a:pPr algn="ctr"/>
            <a:r>
              <a:rPr lang="es-US" sz="6000" dirty="0" smtClean="0"/>
              <a:t>Presentación</a:t>
            </a:r>
            <a:endParaRPr lang="es-US" sz="6000" dirty="0"/>
          </a:p>
        </p:txBody>
      </p:sp>
    </p:spTree>
    <p:extLst>
      <p:ext uri="{BB962C8B-B14F-4D97-AF65-F5344CB8AC3E}">
        <p14:creationId xmlns:p14="http://schemas.microsoft.com/office/powerpoint/2010/main" val="36461514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redondeado 20"/>
          <p:cNvSpPr/>
          <p:nvPr/>
        </p:nvSpPr>
        <p:spPr>
          <a:xfrm>
            <a:off x="597161" y="985380"/>
            <a:ext cx="3095608" cy="4817543"/>
          </a:xfrm>
          <a:prstGeom prst="roundRect">
            <a:avLst>
              <a:gd name="adj" fmla="val 10618"/>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 name="Disco magnético 3"/>
          <p:cNvSpPr/>
          <p:nvPr/>
        </p:nvSpPr>
        <p:spPr>
          <a:xfrm>
            <a:off x="1607429" y="4602397"/>
            <a:ext cx="1011115" cy="1058679"/>
          </a:xfrm>
          <a:custGeom>
            <a:avLst/>
            <a:gdLst>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00 w 10000"/>
              <a:gd name="connsiteY1" fmla="*/ 333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637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030 h 9363"/>
              <a:gd name="connsiteX1" fmla="*/ 4900 w 10000"/>
              <a:gd name="connsiteY1" fmla="*/ 43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10000 w 10000"/>
              <a:gd name="connsiteY0" fmla="*/ 1030 h 9363"/>
              <a:gd name="connsiteX1" fmla="*/ 5050 w 10000"/>
              <a:gd name="connsiteY1" fmla="*/ 2017 h 9363"/>
              <a:gd name="connsiteX2" fmla="*/ 0 w 10000"/>
              <a:gd name="connsiteY2" fmla="*/ 1030 h 9363"/>
              <a:gd name="connsiteX0" fmla="*/ 0 w 10000"/>
              <a:gd name="connsiteY0" fmla="*/ 1030 h 9363"/>
              <a:gd name="connsiteX1" fmla="*/ 5000 w 10000"/>
              <a:gd name="connsiteY1" fmla="*/ 0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0 w 10000"/>
              <a:gd name="connsiteY0" fmla="*/ 1100 h 10000"/>
              <a:gd name="connsiteX1" fmla="*/ 4900 w 10000"/>
              <a:gd name="connsiteY1" fmla="*/ 46 h 10000"/>
              <a:gd name="connsiteX2" fmla="*/ 10000 w 10000"/>
              <a:gd name="connsiteY2" fmla="*/ 1100 h 10000"/>
              <a:gd name="connsiteX3" fmla="*/ 10000 w 10000"/>
              <a:gd name="connsiteY3" fmla="*/ 8220 h 10000"/>
              <a:gd name="connsiteX4" fmla="*/ 5000 w 10000"/>
              <a:gd name="connsiteY4" fmla="*/ 10000 h 10000"/>
              <a:gd name="connsiteX5" fmla="*/ 0 w 10000"/>
              <a:gd name="connsiteY5" fmla="*/ 8220 h 10000"/>
              <a:gd name="connsiteX6" fmla="*/ 0 w 10000"/>
              <a:gd name="connsiteY6" fmla="*/ 1100 h 10000"/>
              <a:gd name="connsiteX0" fmla="*/ 10000 w 10000"/>
              <a:gd name="connsiteY0" fmla="*/ 1100 h 10000"/>
              <a:gd name="connsiteX1" fmla="*/ 5050 w 10000"/>
              <a:gd name="connsiteY1" fmla="*/ 2154 h 10000"/>
              <a:gd name="connsiteX2" fmla="*/ 0 w 10000"/>
              <a:gd name="connsiteY2" fmla="*/ 1100 h 10000"/>
              <a:gd name="connsiteX0" fmla="*/ 0 w 10000"/>
              <a:gd name="connsiteY0" fmla="*/ 1100 h 10000"/>
              <a:gd name="connsiteX1" fmla="*/ 5000 w 10000"/>
              <a:gd name="connsiteY1" fmla="*/ 0 h 10000"/>
              <a:gd name="connsiteX2" fmla="*/ 10000 w 10000"/>
              <a:gd name="connsiteY2" fmla="*/ 1100 h 10000"/>
              <a:gd name="connsiteX3" fmla="*/ 10000 w 10000"/>
              <a:gd name="connsiteY3" fmla="*/ 8220 h 10000"/>
              <a:gd name="connsiteX4" fmla="*/ 5000 w 10000"/>
              <a:gd name="connsiteY4" fmla="*/ 9410 h 10000"/>
              <a:gd name="connsiteX5" fmla="*/ 0 w 10000"/>
              <a:gd name="connsiteY5" fmla="*/ 8220 h 10000"/>
              <a:gd name="connsiteX6" fmla="*/ 0 w 10000"/>
              <a:gd name="connsiteY6" fmla="*/ 1100 h 10000"/>
              <a:gd name="connsiteX0" fmla="*/ 0 w 10000"/>
              <a:gd name="connsiteY0" fmla="*/ 1100 h 9456"/>
              <a:gd name="connsiteX1" fmla="*/ 4900 w 10000"/>
              <a:gd name="connsiteY1" fmla="*/ 46 h 9456"/>
              <a:gd name="connsiteX2" fmla="*/ 10000 w 10000"/>
              <a:gd name="connsiteY2" fmla="*/ 1100 h 9456"/>
              <a:gd name="connsiteX3" fmla="*/ 10000 w 10000"/>
              <a:gd name="connsiteY3" fmla="*/ 8220 h 9456"/>
              <a:gd name="connsiteX4" fmla="*/ 4950 w 10000"/>
              <a:gd name="connsiteY4" fmla="*/ 9456 h 9456"/>
              <a:gd name="connsiteX5" fmla="*/ 0 w 10000"/>
              <a:gd name="connsiteY5" fmla="*/ 8220 h 9456"/>
              <a:gd name="connsiteX6" fmla="*/ 0 w 10000"/>
              <a:gd name="connsiteY6" fmla="*/ 1100 h 9456"/>
              <a:gd name="connsiteX0" fmla="*/ 10000 w 10000"/>
              <a:gd name="connsiteY0" fmla="*/ 1100 h 9456"/>
              <a:gd name="connsiteX1" fmla="*/ 5050 w 10000"/>
              <a:gd name="connsiteY1" fmla="*/ 2154 h 9456"/>
              <a:gd name="connsiteX2" fmla="*/ 0 w 10000"/>
              <a:gd name="connsiteY2" fmla="*/ 1100 h 9456"/>
              <a:gd name="connsiteX0" fmla="*/ 0 w 10000"/>
              <a:gd name="connsiteY0" fmla="*/ 1100 h 9456"/>
              <a:gd name="connsiteX1" fmla="*/ 5000 w 10000"/>
              <a:gd name="connsiteY1" fmla="*/ 0 h 9456"/>
              <a:gd name="connsiteX2" fmla="*/ 10000 w 10000"/>
              <a:gd name="connsiteY2" fmla="*/ 1100 h 9456"/>
              <a:gd name="connsiteX3" fmla="*/ 10000 w 10000"/>
              <a:gd name="connsiteY3" fmla="*/ 8220 h 9456"/>
              <a:gd name="connsiteX4" fmla="*/ 5000 w 10000"/>
              <a:gd name="connsiteY4" fmla="*/ 9410 h 9456"/>
              <a:gd name="connsiteX5" fmla="*/ 0 w 10000"/>
              <a:gd name="connsiteY5" fmla="*/ 8220 h 9456"/>
              <a:gd name="connsiteX6" fmla="*/ 0 w 10000"/>
              <a:gd name="connsiteY6" fmla="*/ 1100 h 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9456" stroke="0" extrusionOk="0">
                <a:moveTo>
                  <a:pt x="0" y="1100"/>
                </a:moveTo>
                <a:cubicBezTo>
                  <a:pt x="0" y="116"/>
                  <a:pt x="2139" y="46"/>
                  <a:pt x="4900" y="46"/>
                </a:cubicBezTo>
                <a:cubicBezTo>
                  <a:pt x="7661" y="46"/>
                  <a:pt x="10000" y="116"/>
                  <a:pt x="10000" y="1100"/>
                </a:cubicBezTo>
                <a:lnTo>
                  <a:pt x="10000" y="8220"/>
                </a:lnTo>
                <a:cubicBezTo>
                  <a:pt x="10000" y="9203"/>
                  <a:pt x="7711" y="9456"/>
                  <a:pt x="4950" y="9456"/>
                </a:cubicBezTo>
                <a:cubicBezTo>
                  <a:pt x="2189" y="9456"/>
                  <a:pt x="0" y="9203"/>
                  <a:pt x="0" y="8220"/>
                </a:cubicBezTo>
                <a:lnTo>
                  <a:pt x="0" y="1100"/>
                </a:lnTo>
                <a:close/>
              </a:path>
              <a:path w="10000" h="9456" fill="none" extrusionOk="0">
                <a:moveTo>
                  <a:pt x="10000" y="1100"/>
                </a:moveTo>
                <a:cubicBezTo>
                  <a:pt x="10000" y="2084"/>
                  <a:pt x="7811" y="2154"/>
                  <a:pt x="5050" y="2154"/>
                </a:cubicBezTo>
                <a:cubicBezTo>
                  <a:pt x="2289" y="2154"/>
                  <a:pt x="0" y="2084"/>
                  <a:pt x="0" y="1100"/>
                </a:cubicBezTo>
              </a:path>
              <a:path w="10000" h="9456" fill="none">
                <a:moveTo>
                  <a:pt x="0" y="1100"/>
                </a:moveTo>
                <a:cubicBezTo>
                  <a:pt x="0" y="116"/>
                  <a:pt x="2239" y="0"/>
                  <a:pt x="5000" y="0"/>
                </a:cubicBezTo>
                <a:cubicBezTo>
                  <a:pt x="7761" y="0"/>
                  <a:pt x="10000" y="116"/>
                  <a:pt x="10000" y="1100"/>
                </a:cubicBezTo>
                <a:lnTo>
                  <a:pt x="10000" y="8220"/>
                </a:lnTo>
                <a:cubicBezTo>
                  <a:pt x="10000" y="9203"/>
                  <a:pt x="7761" y="9410"/>
                  <a:pt x="5000" y="9410"/>
                </a:cubicBezTo>
                <a:cubicBezTo>
                  <a:pt x="2239" y="9410"/>
                  <a:pt x="0" y="9203"/>
                  <a:pt x="0" y="8220"/>
                </a:cubicBezTo>
                <a:lnTo>
                  <a:pt x="0" y="1100"/>
                </a:lnTo>
                <a:close/>
              </a:path>
            </a:pathLst>
          </a:custGeom>
          <a:solidFill>
            <a:schemeClr val="accent1">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s-US"/>
          </a:p>
        </p:txBody>
      </p:sp>
      <p:sp>
        <p:nvSpPr>
          <p:cNvPr id="5" name="Rectángulo redondeado 4"/>
          <p:cNvSpPr/>
          <p:nvPr/>
        </p:nvSpPr>
        <p:spPr>
          <a:xfrm>
            <a:off x="846894" y="3506320"/>
            <a:ext cx="2532184" cy="73855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US"/>
          </a:p>
        </p:txBody>
      </p:sp>
      <p:sp>
        <p:nvSpPr>
          <p:cNvPr id="6" name="Rectángulo redondeado 5"/>
          <p:cNvSpPr/>
          <p:nvPr/>
        </p:nvSpPr>
        <p:spPr>
          <a:xfrm>
            <a:off x="846894" y="2486412"/>
            <a:ext cx="2532184" cy="73855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7" name="Rectángulo redondeado 6"/>
          <p:cNvSpPr/>
          <p:nvPr/>
        </p:nvSpPr>
        <p:spPr>
          <a:xfrm>
            <a:off x="846894" y="1466504"/>
            <a:ext cx="2532184" cy="73855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a:p>
        </p:txBody>
      </p:sp>
      <p:cxnSp>
        <p:nvCxnSpPr>
          <p:cNvPr id="9" name="Conector recto de flecha 8"/>
          <p:cNvCxnSpPr/>
          <p:nvPr/>
        </p:nvCxnSpPr>
        <p:spPr>
          <a:xfrm flipV="1">
            <a:off x="2446997" y="2205058"/>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Conector recto de flecha 9"/>
          <p:cNvCxnSpPr/>
          <p:nvPr/>
        </p:nvCxnSpPr>
        <p:spPr>
          <a:xfrm flipH="1">
            <a:off x="1740877" y="2205058"/>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Conector recto de flecha 12"/>
          <p:cNvCxnSpPr/>
          <p:nvPr/>
        </p:nvCxnSpPr>
        <p:spPr>
          <a:xfrm flipV="1">
            <a:off x="2446997" y="3224966"/>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Conector recto de flecha 13"/>
          <p:cNvCxnSpPr/>
          <p:nvPr/>
        </p:nvCxnSpPr>
        <p:spPr>
          <a:xfrm flipH="1">
            <a:off x="1740877" y="3224966"/>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Conector recto de flecha 14"/>
          <p:cNvCxnSpPr/>
          <p:nvPr/>
        </p:nvCxnSpPr>
        <p:spPr>
          <a:xfrm flipV="1">
            <a:off x="2260209" y="4244874"/>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Conector recto de flecha 15"/>
          <p:cNvCxnSpPr/>
          <p:nvPr/>
        </p:nvCxnSpPr>
        <p:spPr>
          <a:xfrm flipH="1">
            <a:off x="1933820" y="4244874"/>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Rectángulo 16"/>
          <p:cNvSpPr/>
          <p:nvPr/>
        </p:nvSpPr>
        <p:spPr>
          <a:xfrm>
            <a:off x="1036761" y="3715820"/>
            <a:ext cx="2152449"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Capa de Acceso a Datos</a:t>
            </a:r>
            <a:endParaRPr lang="es-ES" sz="1600" dirty="0">
              <a:ln w="0"/>
              <a:effectLst>
                <a:outerShdw blurRad="50800" dist="38100" dir="5400000" algn="t" rotWithShape="0">
                  <a:prstClr val="black">
                    <a:alpha val="40000"/>
                  </a:prstClr>
                </a:outerShdw>
              </a:effectLst>
            </a:endParaRPr>
          </a:p>
        </p:txBody>
      </p:sp>
      <p:sp>
        <p:nvSpPr>
          <p:cNvPr id="18" name="Rectángulo 17"/>
          <p:cNvSpPr/>
          <p:nvPr/>
        </p:nvSpPr>
        <p:spPr>
          <a:xfrm>
            <a:off x="830393" y="2672809"/>
            <a:ext cx="2565189"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Capa de Lógica de Negocios</a:t>
            </a:r>
            <a:endParaRPr lang="es-ES" sz="1600" dirty="0">
              <a:ln w="0"/>
              <a:effectLst>
                <a:outerShdw blurRad="50800" dist="38100" dir="5400000" algn="t" rotWithShape="0">
                  <a:prstClr val="black">
                    <a:alpha val="40000"/>
                  </a:prstClr>
                </a:outerShdw>
              </a:effectLst>
            </a:endParaRPr>
          </a:p>
        </p:txBody>
      </p:sp>
      <p:sp>
        <p:nvSpPr>
          <p:cNvPr id="19" name="Rectángulo 18"/>
          <p:cNvSpPr/>
          <p:nvPr/>
        </p:nvSpPr>
        <p:spPr>
          <a:xfrm>
            <a:off x="1123329" y="1662863"/>
            <a:ext cx="1979324"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Capa de Presentación</a:t>
            </a:r>
            <a:endParaRPr lang="es-ES" sz="1600" dirty="0">
              <a:ln w="0"/>
              <a:effectLst>
                <a:outerShdw blurRad="50800" dist="38100" dir="5400000" algn="t" rotWithShape="0">
                  <a:prstClr val="black">
                    <a:alpha val="40000"/>
                  </a:prstClr>
                </a:outerShdw>
              </a:effectLst>
            </a:endParaRPr>
          </a:p>
        </p:txBody>
      </p:sp>
      <p:sp>
        <p:nvSpPr>
          <p:cNvPr id="20" name="Rectángulo 19"/>
          <p:cNvSpPr/>
          <p:nvPr/>
        </p:nvSpPr>
        <p:spPr>
          <a:xfrm>
            <a:off x="1740877" y="4795320"/>
            <a:ext cx="797786" cy="830997"/>
          </a:xfrm>
          <a:prstGeom prst="rect">
            <a:avLst/>
          </a:prstGeom>
          <a:noFill/>
        </p:spPr>
        <p:txBody>
          <a:bodyPr wrap="squar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Base de Datos</a:t>
            </a:r>
            <a:endParaRPr lang="es-ES" sz="1600" dirty="0">
              <a:ln w="0"/>
              <a:effectLst>
                <a:outerShdw blurRad="50800" dist="38100" dir="5400000" algn="t" rotWithShape="0">
                  <a:prstClr val="black">
                    <a:alpha val="40000"/>
                  </a:prstClr>
                </a:outerShdw>
              </a:effectLst>
            </a:endParaRPr>
          </a:p>
        </p:txBody>
      </p:sp>
      <p:sp>
        <p:nvSpPr>
          <p:cNvPr id="26" name="Rectángulo 25"/>
          <p:cNvSpPr/>
          <p:nvPr/>
        </p:nvSpPr>
        <p:spPr>
          <a:xfrm>
            <a:off x="4049382" y="1076943"/>
            <a:ext cx="7467994" cy="5078313"/>
          </a:xfrm>
          <a:prstGeom prst="rect">
            <a:avLst/>
          </a:prstGeom>
        </p:spPr>
        <p:txBody>
          <a:bodyPr wrap="square">
            <a:spAutoFit/>
          </a:bodyPr>
          <a:lstStyle/>
          <a:p>
            <a:pPr marL="285750" indent="-285750">
              <a:buFont typeface="Arial" panose="020B0604020202020204" pitchFamily="34" charset="0"/>
              <a:buChar char="•"/>
            </a:pPr>
            <a:r>
              <a:rPr lang="es-US" dirty="0" smtClean="0"/>
              <a:t>Se construyen y despliegan como una única unidad. Todas las funciones, como la lógica de negocio, la interfaz de usuario y la gestión de datos, están interconectadas y se ejecutan en un solo proceso.</a:t>
            </a:r>
          </a:p>
          <a:p>
            <a:pPr marL="285750" indent="-285750">
              <a:buFont typeface="Arial" panose="020B0604020202020204" pitchFamily="34" charset="0"/>
              <a:buChar char="•"/>
            </a:pPr>
            <a:r>
              <a:rPr lang="es-US" dirty="0"/>
              <a:t>S</a:t>
            </a:r>
            <a:r>
              <a:rPr lang="es-US" dirty="0" smtClean="0"/>
              <a:t>encilla de desarrollar y desplegar cuando se trata de aplicaciones pequeñas o cuando el equipo de desarrollo es pequeño.</a:t>
            </a:r>
          </a:p>
          <a:p>
            <a:pPr marL="285750" indent="-285750">
              <a:buFont typeface="Arial" panose="020B0604020202020204" pitchFamily="34" charset="0"/>
              <a:buChar char="•"/>
            </a:pPr>
            <a:r>
              <a:rPr lang="es-US" dirty="0" smtClean="0"/>
              <a:t>No hay llamada a servicios web utilizando la red por esta razón tienen un mejor rendimiento.</a:t>
            </a:r>
          </a:p>
          <a:p>
            <a:pPr marL="285750" indent="-285750">
              <a:buFont typeface="Arial" panose="020B0604020202020204" pitchFamily="34" charset="0"/>
              <a:buChar char="•"/>
            </a:pPr>
            <a:r>
              <a:rPr lang="es-US" dirty="0" smtClean="0"/>
              <a:t>Es difícil adoptar nuevas tecnologías, </a:t>
            </a:r>
            <a:r>
              <a:rPr lang="es-US" dirty="0" err="1" smtClean="0"/>
              <a:t>frameworks</a:t>
            </a:r>
            <a:r>
              <a:rPr lang="es-US" dirty="0" smtClean="0"/>
              <a:t>, lenguaje de programación, etc. Las diferentes partes de la aplicación están fuertemente acopladas lo que dificulta algún cambio en un modulo con una nueva tecnología</a:t>
            </a:r>
          </a:p>
          <a:p>
            <a:pPr marL="285750" indent="-285750">
              <a:buFont typeface="Arial" panose="020B0604020202020204" pitchFamily="34" charset="0"/>
              <a:buChar char="•"/>
            </a:pPr>
            <a:r>
              <a:rPr lang="es-US" dirty="0" smtClean="0"/>
              <a:t>Un cambio en cualquier parte de la aplicación requiere el despliegue completo, lo que puede generar tiempos de inactividad.</a:t>
            </a:r>
          </a:p>
          <a:p>
            <a:pPr marL="285750" indent="-285750">
              <a:buFont typeface="Arial" panose="020B0604020202020204" pitchFamily="34" charset="0"/>
              <a:buChar char="•"/>
            </a:pPr>
            <a:r>
              <a:rPr lang="es-US" dirty="0" smtClean="0"/>
              <a:t>No hay tolerancia a fallos. La escalabilidad  y la disponibilidad de su aplicación es más complicada porque es necesario escalar toda la aplicación, aunque solo una parte de ella lo necesite.</a:t>
            </a:r>
          </a:p>
          <a:p>
            <a:pPr marL="285750" indent="-285750">
              <a:buFont typeface="Arial" panose="020B0604020202020204" pitchFamily="34" charset="0"/>
              <a:buChar char="•"/>
            </a:pPr>
            <a:r>
              <a:rPr lang="es-US" dirty="0" smtClean="0"/>
              <a:t>A medida que crece, es más difícil agregar nuevas funcionalidades sin afectar otras partes.</a:t>
            </a:r>
            <a:endParaRPr lang="es-US" dirty="0"/>
          </a:p>
        </p:txBody>
      </p:sp>
      <p:sp>
        <p:nvSpPr>
          <p:cNvPr id="27" name="CuadroTexto 26"/>
          <p:cNvSpPr txBox="1"/>
          <p:nvPr/>
        </p:nvSpPr>
        <p:spPr>
          <a:xfrm>
            <a:off x="2279357" y="194897"/>
            <a:ext cx="7565469" cy="584775"/>
          </a:xfrm>
          <a:prstGeom prst="rect">
            <a:avLst/>
          </a:prstGeom>
          <a:noFill/>
        </p:spPr>
        <p:txBody>
          <a:bodyPr wrap="none" rtlCol="0">
            <a:spAutoFit/>
          </a:bodyPr>
          <a:lstStyle/>
          <a:p>
            <a:pPr algn="ctr"/>
            <a:r>
              <a:rPr lang="es-US" sz="3200" dirty="0" smtClean="0"/>
              <a:t>Características de la Arquitectura Monolítica</a:t>
            </a:r>
            <a:endParaRPr lang="es-US" sz="3200" dirty="0"/>
          </a:p>
        </p:txBody>
      </p:sp>
      <p:sp>
        <p:nvSpPr>
          <p:cNvPr id="2" name="CuadroTexto 1"/>
          <p:cNvSpPr txBox="1"/>
          <p:nvPr/>
        </p:nvSpPr>
        <p:spPr>
          <a:xfrm>
            <a:off x="1570696" y="910775"/>
            <a:ext cx="1047848" cy="369332"/>
          </a:xfrm>
          <a:prstGeom prst="rect">
            <a:avLst/>
          </a:prstGeom>
          <a:noFill/>
        </p:spPr>
        <p:txBody>
          <a:bodyPr wrap="square" rtlCol="0">
            <a:spAutoFit/>
          </a:bodyPr>
          <a:lstStyle/>
          <a:p>
            <a:pPr algn="ctr"/>
            <a:r>
              <a:rPr lang="es-US" i="1" dirty="0" smtClean="0"/>
              <a:t>Servidor</a:t>
            </a:r>
            <a:endParaRPr lang="es-US" i="1" dirty="0"/>
          </a:p>
        </p:txBody>
      </p:sp>
    </p:spTree>
    <p:extLst>
      <p:ext uri="{BB962C8B-B14F-4D97-AF65-F5344CB8AC3E}">
        <p14:creationId xmlns:p14="http://schemas.microsoft.com/office/powerpoint/2010/main" val="1321701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606669" y="1046286"/>
            <a:ext cx="2325727" cy="5169876"/>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 name="CuadroTexto 3"/>
          <p:cNvSpPr txBox="1"/>
          <p:nvPr/>
        </p:nvSpPr>
        <p:spPr>
          <a:xfrm>
            <a:off x="2395579" y="194897"/>
            <a:ext cx="7333033" cy="584775"/>
          </a:xfrm>
          <a:prstGeom prst="rect">
            <a:avLst/>
          </a:prstGeom>
          <a:noFill/>
        </p:spPr>
        <p:txBody>
          <a:bodyPr wrap="none" rtlCol="0">
            <a:spAutoFit/>
          </a:bodyPr>
          <a:lstStyle/>
          <a:p>
            <a:pPr algn="ctr"/>
            <a:r>
              <a:rPr lang="es-US" sz="3200" dirty="0" smtClean="0"/>
              <a:t>Despliegue en una Arquitectura Monolítica</a:t>
            </a:r>
            <a:endParaRPr lang="es-US" sz="3200" dirty="0"/>
          </a:p>
        </p:txBody>
      </p:sp>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5795" y="3083902"/>
            <a:ext cx="828370" cy="828370"/>
          </a:xfrm>
          <a:prstGeom prst="rect">
            <a:avLst/>
          </a:prstGeom>
        </p:spPr>
      </p:pic>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9595" y="3236302"/>
            <a:ext cx="828370" cy="828370"/>
          </a:xfrm>
          <a:prstGeom prst="rect">
            <a:avLst/>
          </a:prstGeom>
        </p:spPr>
      </p:pic>
      <p:pic>
        <p:nvPicPr>
          <p:cNvPr id="7" name="Imagen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5770" y="3417277"/>
            <a:ext cx="828370" cy="828370"/>
          </a:xfrm>
          <a:prstGeom prst="rect">
            <a:avLst/>
          </a:prstGeom>
        </p:spPr>
      </p:pic>
      <p:pic>
        <p:nvPicPr>
          <p:cNvPr id="8" name="Imagen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9570" y="3569677"/>
            <a:ext cx="828370" cy="828370"/>
          </a:xfrm>
          <a:prstGeom prst="rect">
            <a:avLst/>
          </a:prstGeom>
        </p:spPr>
      </p:pic>
      <p:sp>
        <p:nvSpPr>
          <p:cNvPr id="9" name="Flecha derecha 8"/>
          <p:cNvSpPr/>
          <p:nvPr/>
        </p:nvSpPr>
        <p:spPr>
          <a:xfrm>
            <a:off x="3034472" y="3650487"/>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CuadroTexto 2"/>
          <p:cNvSpPr txBox="1"/>
          <p:nvPr/>
        </p:nvSpPr>
        <p:spPr>
          <a:xfrm>
            <a:off x="899693" y="1048855"/>
            <a:ext cx="1688123" cy="369332"/>
          </a:xfrm>
          <a:prstGeom prst="rect">
            <a:avLst/>
          </a:prstGeom>
          <a:noFill/>
        </p:spPr>
        <p:txBody>
          <a:bodyPr wrap="square" rtlCol="0">
            <a:spAutoFit/>
          </a:bodyPr>
          <a:lstStyle/>
          <a:p>
            <a:pPr algn="ctr"/>
            <a:r>
              <a:rPr lang="es-US" i="1" dirty="0" smtClean="0"/>
              <a:t>Desarrollo Local</a:t>
            </a:r>
            <a:endParaRPr lang="es-US" i="1" dirty="0"/>
          </a:p>
        </p:txBody>
      </p:sp>
      <p:pic>
        <p:nvPicPr>
          <p:cNvPr id="1026" name="Picture 2" descr="100+] Github Logo Png Images | Wallpapers.c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28200" y="3509755"/>
            <a:ext cx="1587656" cy="576727"/>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64531" y="3518912"/>
            <a:ext cx="1749669" cy="562612"/>
          </a:xfrm>
          <a:prstGeom prst="rect">
            <a:avLst/>
          </a:prstGeom>
        </p:spPr>
      </p:pic>
      <p:sp>
        <p:nvSpPr>
          <p:cNvPr id="14" name="Flecha derecha 13"/>
          <p:cNvSpPr/>
          <p:nvPr/>
        </p:nvSpPr>
        <p:spPr>
          <a:xfrm>
            <a:off x="5541078" y="3665660"/>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9" name="Rectángulo redondeado 18"/>
          <p:cNvSpPr/>
          <p:nvPr/>
        </p:nvSpPr>
        <p:spPr>
          <a:xfrm>
            <a:off x="8880231" y="1046285"/>
            <a:ext cx="3024554" cy="5363307"/>
          </a:xfrm>
          <a:prstGeom prst="roundRect">
            <a:avLst>
              <a:gd name="adj" fmla="val 10272"/>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21" name="CuadroTexto 20"/>
          <p:cNvSpPr txBox="1"/>
          <p:nvPr/>
        </p:nvSpPr>
        <p:spPr>
          <a:xfrm>
            <a:off x="9521457" y="1096451"/>
            <a:ext cx="1688123" cy="646331"/>
          </a:xfrm>
          <a:prstGeom prst="rect">
            <a:avLst/>
          </a:prstGeom>
          <a:noFill/>
        </p:spPr>
        <p:txBody>
          <a:bodyPr wrap="square" rtlCol="0">
            <a:spAutoFit/>
          </a:bodyPr>
          <a:lstStyle/>
          <a:p>
            <a:pPr algn="ctr"/>
            <a:r>
              <a:rPr lang="es-US" dirty="0" smtClean="0"/>
              <a:t>Despliegue en servidor</a:t>
            </a:r>
            <a:endParaRPr lang="es-US" dirty="0"/>
          </a:p>
        </p:txBody>
      </p:sp>
      <p:sp>
        <p:nvSpPr>
          <p:cNvPr id="26" name="Flecha derecha 25"/>
          <p:cNvSpPr/>
          <p:nvPr/>
        </p:nvSpPr>
        <p:spPr>
          <a:xfrm>
            <a:off x="8303569" y="3672361"/>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20" name="Disco magnético 3"/>
          <p:cNvSpPr/>
          <p:nvPr/>
        </p:nvSpPr>
        <p:spPr>
          <a:xfrm>
            <a:off x="9937931" y="5114794"/>
            <a:ext cx="1011115" cy="1058679"/>
          </a:xfrm>
          <a:custGeom>
            <a:avLst/>
            <a:gdLst>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00 w 10000"/>
              <a:gd name="connsiteY1" fmla="*/ 333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637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030 h 9363"/>
              <a:gd name="connsiteX1" fmla="*/ 4900 w 10000"/>
              <a:gd name="connsiteY1" fmla="*/ 43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10000 w 10000"/>
              <a:gd name="connsiteY0" fmla="*/ 1030 h 9363"/>
              <a:gd name="connsiteX1" fmla="*/ 5050 w 10000"/>
              <a:gd name="connsiteY1" fmla="*/ 2017 h 9363"/>
              <a:gd name="connsiteX2" fmla="*/ 0 w 10000"/>
              <a:gd name="connsiteY2" fmla="*/ 1030 h 9363"/>
              <a:gd name="connsiteX0" fmla="*/ 0 w 10000"/>
              <a:gd name="connsiteY0" fmla="*/ 1030 h 9363"/>
              <a:gd name="connsiteX1" fmla="*/ 5000 w 10000"/>
              <a:gd name="connsiteY1" fmla="*/ 0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0 w 10000"/>
              <a:gd name="connsiteY0" fmla="*/ 1100 h 10000"/>
              <a:gd name="connsiteX1" fmla="*/ 4900 w 10000"/>
              <a:gd name="connsiteY1" fmla="*/ 46 h 10000"/>
              <a:gd name="connsiteX2" fmla="*/ 10000 w 10000"/>
              <a:gd name="connsiteY2" fmla="*/ 1100 h 10000"/>
              <a:gd name="connsiteX3" fmla="*/ 10000 w 10000"/>
              <a:gd name="connsiteY3" fmla="*/ 8220 h 10000"/>
              <a:gd name="connsiteX4" fmla="*/ 5000 w 10000"/>
              <a:gd name="connsiteY4" fmla="*/ 10000 h 10000"/>
              <a:gd name="connsiteX5" fmla="*/ 0 w 10000"/>
              <a:gd name="connsiteY5" fmla="*/ 8220 h 10000"/>
              <a:gd name="connsiteX6" fmla="*/ 0 w 10000"/>
              <a:gd name="connsiteY6" fmla="*/ 1100 h 10000"/>
              <a:gd name="connsiteX0" fmla="*/ 10000 w 10000"/>
              <a:gd name="connsiteY0" fmla="*/ 1100 h 10000"/>
              <a:gd name="connsiteX1" fmla="*/ 5050 w 10000"/>
              <a:gd name="connsiteY1" fmla="*/ 2154 h 10000"/>
              <a:gd name="connsiteX2" fmla="*/ 0 w 10000"/>
              <a:gd name="connsiteY2" fmla="*/ 1100 h 10000"/>
              <a:gd name="connsiteX0" fmla="*/ 0 w 10000"/>
              <a:gd name="connsiteY0" fmla="*/ 1100 h 10000"/>
              <a:gd name="connsiteX1" fmla="*/ 5000 w 10000"/>
              <a:gd name="connsiteY1" fmla="*/ 0 h 10000"/>
              <a:gd name="connsiteX2" fmla="*/ 10000 w 10000"/>
              <a:gd name="connsiteY2" fmla="*/ 1100 h 10000"/>
              <a:gd name="connsiteX3" fmla="*/ 10000 w 10000"/>
              <a:gd name="connsiteY3" fmla="*/ 8220 h 10000"/>
              <a:gd name="connsiteX4" fmla="*/ 5000 w 10000"/>
              <a:gd name="connsiteY4" fmla="*/ 9410 h 10000"/>
              <a:gd name="connsiteX5" fmla="*/ 0 w 10000"/>
              <a:gd name="connsiteY5" fmla="*/ 8220 h 10000"/>
              <a:gd name="connsiteX6" fmla="*/ 0 w 10000"/>
              <a:gd name="connsiteY6" fmla="*/ 1100 h 10000"/>
              <a:gd name="connsiteX0" fmla="*/ 0 w 10000"/>
              <a:gd name="connsiteY0" fmla="*/ 1100 h 9456"/>
              <a:gd name="connsiteX1" fmla="*/ 4900 w 10000"/>
              <a:gd name="connsiteY1" fmla="*/ 46 h 9456"/>
              <a:gd name="connsiteX2" fmla="*/ 10000 w 10000"/>
              <a:gd name="connsiteY2" fmla="*/ 1100 h 9456"/>
              <a:gd name="connsiteX3" fmla="*/ 10000 w 10000"/>
              <a:gd name="connsiteY3" fmla="*/ 8220 h 9456"/>
              <a:gd name="connsiteX4" fmla="*/ 4950 w 10000"/>
              <a:gd name="connsiteY4" fmla="*/ 9456 h 9456"/>
              <a:gd name="connsiteX5" fmla="*/ 0 w 10000"/>
              <a:gd name="connsiteY5" fmla="*/ 8220 h 9456"/>
              <a:gd name="connsiteX6" fmla="*/ 0 w 10000"/>
              <a:gd name="connsiteY6" fmla="*/ 1100 h 9456"/>
              <a:gd name="connsiteX0" fmla="*/ 10000 w 10000"/>
              <a:gd name="connsiteY0" fmla="*/ 1100 h 9456"/>
              <a:gd name="connsiteX1" fmla="*/ 5050 w 10000"/>
              <a:gd name="connsiteY1" fmla="*/ 2154 h 9456"/>
              <a:gd name="connsiteX2" fmla="*/ 0 w 10000"/>
              <a:gd name="connsiteY2" fmla="*/ 1100 h 9456"/>
              <a:gd name="connsiteX0" fmla="*/ 0 w 10000"/>
              <a:gd name="connsiteY0" fmla="*/ 1100 h 9456"/>
              <a:gd name="connsiteX1" fmla="*/ 5000 w 10000"/>
              <a:gd name="connsiteY1" fmla="*/ 0 h 9456"/>
              <a:gd name="connsiteX2" fmla="*/ 10000 w 10000"/>
              <a:gd name="connsiteY2" fmla="*/ 1100 h 9456"/>
              <a:gd name="connsiteX3" fmla="*/ 10000 w 10000"/>
              <a:gd name="connsiteY3" fmla="*/ 8220 h 9456"/>
              <a:gd name="connsiteX4" fmla="*/ 5000 w 10000"/>
              <a:gd name="connsiteY4" fmla="*/ 9410 h 9456"/>
              <a:gd name="connsiteX5" fmla="*/ 0 w 10000"/>
              <a:gd name="connsiteY5" fmla="*/ 8220 h 9456"/>
              <a:gd name="connsiteX6" fmla="*/ 0 w 10000"/>
              <a:gd name="connsiteY6" fmla="*/ 1100 h 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9456" stroke="0" extrusionOk="0">
                <a:moveTo>
                  <a:pt x="0" y="1100"/>
                </a:moveTo>
                <a:cubicBezTo>
                  <a:pt x="0" y="116"/>
                  <a:pt x="2139" y="46"/>
                  <a:pt x="4900" y="46"/>
                </a:cubicBezTo>
                <a:cubicBezTo>
                  <a:pt x="7661" y="46"/>
                  <a:pt x="10000" y="116"/>
                  <a:pt x="10000" y="1100"/>
                </a:cubicBezTo>
                <a:lnTo>
                  <a:pt x="10000" y="8220"/>
                </a:lnTo>
                <a:cubicBezTo>
                  <a:pt x="10000" y="9203"/>
                  <a:pt x="7711" y="9456"/>
                  <a:pt x="4950" y="9456"/>
                </a:cubicBezTo>
                <a:cubicBezTo>
                  <a:pt x="2189" y="9456"/>
                  <a:pt x="0" y="9203"/>
                  <a:pt x="0" y="8220"/>
                </a:cubicBezTo>
                <a:lnTo>
                  <a:pt x="0" y="1100"/>
                </a:lnTo>
                <a:close/>
              </a:path>
              <a:path w="10000" h="9456" fill="none" extrusionOk="0">
                <a:moveTo>
                  <a:pt x="10000" y="1100"/>
                </a:moveTo>
                <a:cubicBezTo>
                  <a:pt x="10000" y="2084"/>
                  <a:pt x="7811" y="2154"/>
                  <a:pt x="5050" y="2154"/>
                </a:cubicBezTo>
                <a:cubicBezTo>
                  <a:pt x="2289" y="2154"/>
                  <a:pt x="0" y="2084"/>
                  <a:pt x="0" y="1100"/>
                </a:cubicBezTo>
              </a:path>
              <a:path w="10000" h="9456" fill="none">
                <a:moveTo>
                  <a:pt x="0" y="1100"/>
                </a:moveTo>
                <a:cubicBezTo>
                  <a:pt x="0" y="116"/>
                  <a:pt x="2239" y="0"/>
                  <a:pt x="5000" y="0"/>
                </a:cubicBezTo>
                <a:cubicBezTo>
                  <a:pt x="7761" y="0"/>
                  <a:pt x="10000" y="116"/>
                  <a:pt x="10000" y="1100"/>
                </a:cubicBezTo>
                <a:lnTo>
                  <a:pt x="10000" y="8220"/>
                </a:lnTo>
                <a:cubicBezTo>
                  <a:pt x="10000" y="9203"/>
                  <a:pt x="7761" y="9410"/>
                  <a:pt x="5000" y="9410"/>
                </a:cubicBezTo>
                <a:cubicBezTo>
                  <a:pt x="2239" y="9410"/>
                  <a:pt x="0" y="9203"/>
                  <a:pt x="0" y="8220"/>
                </a:cubicBezTo>
                <a:lnTo>
                  <a:pt x="0" y="1100"/>
                </a:lnTo>
                <a:close/>
              </a:path>
            </a:pathLst>
          </a:custGeom>
          <a:solidFill>
            <a:schemeClr val="accent1">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s-US"/>
          </a:p>
        </p:txBody>
      </p:sp>
      <p:sp>
        <p:nvSpPr>
          <p:cNvPr id="22" name="Rectángulo redondeado 21"/>
          <p:cNvSpPr/>
          <p:nvPr/>
        </p:nvSpPr>
        <p:spPr>
          <a:xfrm>
            <a:off x="9177396" y="4018717"/>
            <a:ext cx="2532184" cy="73855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US"/>
          </a:p>
        </p:txBody>
      </p:sp>
      <p:sp>
        <p:nvSpPr>
          <p:cNvPr id="23" name="Rectángulo redondeado 22"/>
          <p:cNvSpPr/>
          <p:nvPr/>
        </p:nvSpPr>
        <p:spPr>
          <a:xfrm>
            <a:off x="9177396" y="2998809"/>
            <a:ext cx="2532184" cy="73855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24" name="Rectángulo redondeado 23"/>
          <p:cNvSpPr/>
          <p:nvPr/>
        </p:nvSpPr>
        <p:spPr>
          <a:xfrm>
            <a:off x="9177396" y="1978901"/>
            <a:ext cx="2532184" cy="73855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a:p>
        </p:txBody>
      </p:sp>
      <p:cxnSp>
        <p:nvCxnSpPr>
          <p:cNvPr id="25" name="Conector recto de flecha 24"/>
          <p:cNvCxnSpPr/>
          <p:nvPr/>
        </p:nvCxnSpPr>
        <p:spPr>
          <a:xfrm flipV="1">
            <a:off x="10777499" y="2717455"/>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Conector recto de flecha 26"/>
          <p:cNvCxnSpPr/>
          <p:nvPr/>
        </p:nvCxnSpPr>
        <p:spPr>
          <a:xfrm flipH="1">
            <a:off x="10071379" y="2717455"/>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Conector recto de flecha 27"/>
          <p:cNvCxnSpPr/>
          <p:nvPr/>
        </p:nvCxnSpPr>
        <p:spPr>
          <a:xfrm flipV="1">
            <a:off x="10777499" y="3737363"/>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Conector recto de flecha 28"/>
          <p:cNvCxnSpPr/>
          <p:nvPr/>
        </p:nvCxnSpPr>
        <p:spPr>
          <a:xfrm flipH="1">
            <a:off x="10071379" y="3737363"/>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Conector recto de flecha 29"/>
          <p:cNvCxnSpPr/>
          <p:nvPr/>
        </p:nvCxnSpPr>
        <p:spPr>
          <a:xfrm flipV="1">
            <a:off x="10590711" y="4757271"/>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Conector recto de flecha 30"/>
          <p:cNvCxnSpPr/>
          <p:nvPr/>
        </p:nvCxnSpPr>
        <p:spPr>
          <a:xfrm flipH="1">
            <a:off x="10264322" y="4757271"/>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Rectángulo 31"/>
          <p:cNvSpPr/>
          <p:nvPr/>
        </p:nvSpPr>
        <p:spPr>
          <a:xfrm>
            <a:off x="9367263" y="4228217"/>
            <a:ext cx="2152449"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Capa de Acceso a Datos</a:t>
            </a:r>
            <a:endParaRPr lang="es-ES" sz="1600" dirty="0">
              <a:ln w="0"/>
              <a:effectLst>
                <a:outerShdw blurRad="50800" dist="38100" dir="5400000" algn="t" rotWithShape="0">
                  <a:prstClr val="black">
                    <a:alpha val="40000"/>
                  </a:prstClr>
                </a:outerShdw>
              </a:effectLst>
            </a:endParaRPr>
          </a:p>
        </p:txBody>
      </p:sp>
      <p:sp>
        <p:nvSpPr>
          <p:cNvPr id="33" name="Rectángulo 32"/>
          <p:cNvSpPr/>
          <p:nvPr/>
        </p:nvSpPr>
        <p:spPr>
          <a:xfrm>
            <a:off x="9160895" y="3185206"/>
            <a:ext cx="2565189"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Capa de Lógica de Negocios</a:t>
            </a:r>
            <a:endParaRPr lang="es-ES" sz="1600" dirty="0">
              <a:ln w="0"/>
              <a:effectLst>
                <a:outerShdw blurRad="50800" dist="38100" dir="5400000" algn="t" rotWithShape="0">
                  <a:prstClr val="black">
                    <a:alpha val="40000"/>
                  </a:prstClr>
                </a:outerShdw>
              </a:effectLst>
            </a:endParaRPr>
          </a:p>
        </p:txBody>
      </p:sp>
      <p:sp>
        <p:nvSpPr>
          <p:cNvPr id="34" name="Rectángulo 33"/>
          <p:cNvSpPr/>
          <p:nvPr/>
        </p:nvSpPr>
        <p:spPr>
          <a:xfrm>
            <a:off x="9453831" y="2175260"/>
            <a:ext cx="1979324"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Capa de Presentación</a:t>
            </a:r>
            <a:endParaRPr lang="es-ES" sz="1600" dirty="0">
              <a:ln w="0"/>
              <a:effectLst>
                <a:outerShdw blurRad="50800" dist="38100" dir="5400000" algn="t" rotWithShape="0">
                  <a:prstClr val="black">
                    <a:alpha val="40000"/>
                  </a:prstClr>
                </a:outerShdw>
              </a:effectLst>
            </a:endParaRPr>
          </a:p>
        </p:txBody>
      </p:sp>
      <p:sp>
        <p:nvSpPr>
          <p:cNvPr id="35" name="Rectángulo 34"/>
          <p:cNvSpPr/>
          <p:nvPr/>
        </p:nvSpPr>
        <p:spPr>
          <a:xfrm>
            <a:off x="10071379" y="5307717"/>
            <a:ext cx="797786" cy="830997"/>
          </a:xfrm>
          <a:prstGeom prst="rect">
            <a:avLst/>
          </a:prstGeom>
          <a:noFill/>
        </p:spPr>
        <p:txBody>
          <a:bodyPr wrap="squar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Base de Datos</a:t>
            </a:r>
            <a:endParaRPr lang="es-ES" sz="1600" dirty="0">
              <a:ln w="0"/>
              <a:effectLst>
                <a:outerShdw blurRad="50800" dist="38100" dir="5400000" algn="t" rotWithShape="0">
                  <a:prstClr val="black">
                    <a:alpha val="40000"/>
                  </a:prstClr>
                </a:outerShdw>
              </a:effectLst>
            </a:endParaRPr>
          </a:p>
        </p:txBody>
      </p:sp>
    </p:spTree>
    <p:extLst>
      <p:ext uri="{BB962C8B-B14F-4D97-AF65-F5344CB8AC3E}">
        <p14:creationId xmlns:p14="http://schemas.microsoft.com/office/powerpoint/2010/main" val="19732601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ángulo redondeado 61"/>
          <p:cNvSpPr/>
          <p:nvPr/>
        </p:nvSpPr>
        <p:spPr>
          <a:xfrm>
            <a:off x="685800" y="837966"/>
            <a:ext cx="3376246" cy="16336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5" name="Rectángulo 4"/>
          <p:cNvSpPr/>
          <p:nvPr/>
        </p:nvSpPr>
        <p:spPr>
          <a:xfrm>
            <a:off x="5400167" y="938862"/>
            <a:ext cx="6753877" cy="3970318"/>
          </a:xfrm>
          <a:prstGeom prst="rect">
            <a:avLst/>
          </a:prstGeom>
        </p:spPr>
        <p:txBody>
          <a:bodyPr wrap="square">
            <a:spAutoFit/>
          </a:bodyPr>
          <a:lstStyle/>
          <a:p>
            <a:pPr marL="285750" indent="-285750">
              <a:buFont typeface="Arial" panose="020B0604020202020204" pitchFamily="34" charset="0"/>
              <a:buChar char="•"/>
            </a:pPr>
            <a:r>
              <a:rPr lang="es-US" b="1" dirty="0"/>
              <a:t>Servicios independientes: </a:t>
            </a:r>
            <a:r>
              <a:rPr lang="es-US" dirty="0"/>
              <a:t>La funcionalidad se divide en unidades distintas, o servicios, que pueden ser distribuidos a través de una red.</a:t>
            </a:r>
          </a:p>
          <a:p>
            <a:pPr marL="285750" indent="-285750">
              <a:buFont typeface="Arial" panose="020B0604020202020204" pitchFamily="34" charset="0"/>
              <a:buChar char="•"/>
            </a:pPr>
            <a:r>
              <a:rPr lang="es-US" b="1" dirty="0"/>
              <a:t>Interoperabilidad:</a:t>
            </a:r>
            <a:r>
              <a:rPr lang="es-US" dirty="0"/>
              <a:t> Los servicios se comunican entre sí mediante protocolos estándar, independientemente de la plataforma o lenguaje de programación utilizado.</a:t>
            </a:r>
          </a:p>
          <a:p>
            <a:pPr marL="285750" indent="-285750">
              <a:buFont typeface="Arial" panose="020B0604020202020204" pitchFamily="34" charset="0"/>
              <a:buChar char="•"/>
            </a:pPr>
            <a:r>
              <a:rPr lang="es-US" b="1" dirty="0"/>
              <a:t>Acoplamiento débil:</a:t>
            </a:r>
            <a:r>
              <a:rPr lang="es-US" dirty="0"/>
              <a:t> Los servicios son autónomos y pueden funcionar independientemente de otros servicios.</a:t>
            </a:r>
          </a:p>
          <a:p>
            <a:pPr marL="285750" indent="-285750">
              <a:buFont typeface="Arial" panose="020B0604020202020204" pitchFamily="34" charset="0"/>
              <a:buChar char="•"/>
            </a:pPr>
            <a:r>
              <a:rPr lang="es-US" b="1" dirty="0"/>
              <a:t>Reutilización:</a:t>
            </a:r>
            <a:r>
              <a:rPr lang="es-US" dirty="0"/>
              <a:t> Los servicios pueden ser reutilizados en diferentes aplicaciones o procesos de negocio.</a:t>
            </a:r>
          </a:p>
          <a:p>
            <a:pPr marL="285750" indent="-285750">
              <a:buFont typeface="Arial" panose="020B0604020202020204" pitchFamily="34" charset="0"/>
              <a:buChar char="•"/>
            </a:pPr>
            <a:r>
              <a:rPr lang="es-US" b="1" dirty="0"/>
              <a:t>Abstracción:</a:t>
            </a:r>
            <a:r>
              <a:rPr lang="es-US" dirty="0"/>
              <a:t> Los servicios ocultan la lógica subyacente del mundo exterior.</a:t>
            </a:r>
          </a:p>
          <a:p>
            <a:pPr marL="285750" indent="-285750">
              <a:buFont typeface="Arial" panose="020B0604020202020204" pitchFamily="34" charset="0"/>
              <a:buChar char="•"/>
            </a:pPr>
            <a:r>
              <a:rPr lang="es-US" b="1" dirty="0"/>
              <a:t>Descubrimiento:</a:t>
            </a:r>
            <a:r>
              <a:rPr lang="es-US" dirty="0"/>
              <a:t> Los servicios pueden ser descubiertos y utilizados dinámicamente.</a:t>
            </a:r>
          </a:p>
        </p:txBody>
      </p:sp>
      <p:sp>
        <p:nvSpPr>
          <p:cNvPr id="3" name="CuadroTexto 2"/>
          <p:cNvSpPr txBox="1"/>
          <p:nvPr/>
        </p:nvSpPr>
        <p:spPr>
          <a:xfrm>
            <a:off x="2872982" y="29953"/>
            <a:ext cx="6471003" cy="584775"/>
          </a:xfrm>
          <a:prstGeom prst="rect">
            <a:avLst/>
          </a:prstGeom>
          <a:noFill/>
        </p:spPr>
        <p:txBody>
          <a:bodyPr wrap="none" rtlCol="0">
            <a:spAutoFit/>
          </a:bodyPr>
          <a:lstStyle/>
          <a:p>
            <a:pPr algn="ctr"/>
            <a:r>
              <a:rPr lang="es-US" sz="3200" dirty="0" smtClean="0"/>
              <a:t>Características de la Arquitectura SOA</a:t>
            </a:r>
            <a:endParaRPr lang="es-US" sz="3200" dirty="0"/>
          </a:p>
        </p:txBody>
      </p:sp>
      <p:sp>
        <p:nvSpPr>
          <p:cNvPr id="31" name="Rectángulo redondeado 30"/>
          <p:cNvSpPr/>
          <p:nvPr/>
        </p:nvSpPr>
        <p:spPr>
          <a:xfrm>
            <a:off x="483577" y="3346291"/>
            <a:ext cx="3851030" cy="17243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2" name="Disco magnético 3"/>
          <p:cNvSpPr/>
          <p:nvPr/>
        </p:nvSpPr>
        <p:spPr>
          <a:xfrm>
            <a:off x="1903542" y="5423999"/>
            <a:ext cx="1011115" cy="696106"/>
          </a:xfrm>
          <a:custGeom>
            <a:avLst/>
            <a:gdLst>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00 w 10000"/>
              <a:gd name="connsiteY1" fmla="*/ 333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637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030 h 9363"/>
              <a:gd name="connsiteX1" fmla="*/ 4900 w 10000"/>
              <a:gd name="connsiteY1" fmla="*/ 43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10000 w 10000"/>
              <a:gd name="connsiteY0" fmla="*/ 1030 h 9363"/>
              <a:gd name="connsiteX1" fmla="*/ 5050 w 10000"/>
              <a:gd name="connsiteY1" fmla="*/ 2017 h 9363"/>
              <a:gd name="connsiteX2" fmla="*/ 0 w 10000"/>
              <a:gd name="connsiteY2" fmla="*/ 1030 h 9363"/>
              <a:gd name="connsiteX0" fmla="*/ 0 w 10000"/>
              <a:gd name="connsiteY0" fmla="*/ 1030 h 9363"/>
              <a:gd name="connsiteX1" fmla="*/ 5000 w 10000"/>
              <a:gd name="connsiteY1" fmla="*/ 0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0 w 10000"/>
              <a:gd name="connsiteY0" fmla="*/ 1100 h 10000"/>
              <a:gd name="connsiteX1" fmla="*/ 4900 w 10000"/>
              <a:gd name="connsiteY1" fmla="*/ 46 h 10000"/>
              <a:gd name="connsiteX2" fmla="*/ 10000 w 10000"/>
              <a:gd name="connsiteY2" fmla="*/ 1100 h 10000"/>
              <a:gd name="connsiteX3" fmla="*/ 10000 w 10000"/>
              <a:gd name="connsiteY3" fmla="*/ 8220 h 10000"/>
              <a:gd name="connsiteX4" fmla="*/ 5000 w 10000"/>
              <a:gd name="connsiteY4" fmla="*/ 10000 h 10000"/>
              <a:gd name="connsiteX5" fmla="*/ 0 w 10000"/>
              <a:gd name="connsiteY5" fmla="*/ 8220 h 10000"/>
              <a:gd name="connsiteX6" fmla="*/ 0 w 10000"/>
              <a:gd name="connsiteY6" fmla="*/ 1100 h 10000"/>
              <a:gd name="connsiteX0" fmla="*/ 10000 w 10000"/>
              <a:gd name="connsiteY0" fmla="*/ 1100 h 10000"/>
              <a:gd name="connsiteX1" fmla="*/ 5050 w 10000"/>
              <a:gd name="connsiteY1" fmla="*/ 2154 h 10000"/>
              <a:gd name="connsiteX2" fmla="*/ 0 w 10000"/>
              <a:gd name="connsiteY2" fmla="*/ 1100 h 10000"/>
              <a:gd name="connsiteX0" fmla="*/ 0 w 10000"/>
              <a:gd name="connsiteY0" fmla="*/ 1100 h 10000"/>
              <a:gd name="connsiteX1" fmla="*/ 5000 w 10000"/>
              <a:gd name="connsiteY1" fmla="*/ 0 h 10000"/>
              <a:gd name="connsiteX2" fmla="*/ 10000 w 10000"/>
              <a:gd name="connsiteY2" fmla="*/ 1100 h 10000"/>
              <a:gd name="connsiteX3" fmla="*/ 10000 w 10000"/>
              <a:gd name="connsiteY3" fmla="*/ 8220 h 10000"/>
              <a:gd name="connsiteX4" fmla="*/ 5000 w 10000"/>
              <a:gd name="connsiteY4" fmla="*/ 9410 h 10000"/>
              <a:gd name="connsiteX5" fmla="*/ 0 w 10000"/>
              <a:gd name="connsiteY5" fmla="*/ 8220 h 10000"/>
              <a:gd name="connsiteX6" fmla="*/ 0 w 10000"/>
              <a:gd name="connsiteY6" fmla="*/ 1100 h 10000"/>
              <a:gd name="connsiteX0" fmla="*/ 0 w 10000"/>
              <a:gd name="connsiteY0" fmla="*/ 1100 h 9456"/>
              <a:gd name="connsiteX1" fmla="*/ 4900 w 10000"/>
              <a:gd name="connsiteY1" fmla="*/ 46 h 9456"/>
              <a:gd name="connsiteX2" fmla="*/ 10000 w 10000"/>
              <a:gd name="connsiteY2" fmla="*/ 1100 h 9456"/>
              <a:gd name="connsiteX3" fmla="*/ 10000 w 10000"/>
              <a:gd name="connsiteY3" fmla="*/ 8220 h 9456"/>
              <a:gd name="connsiteX4" fmla="*/ 4950 w 10000"/>
              <a:gd name="connsiteY4" fmla="*/ 9456 h 9456"/>
              <a:gd name="connsiteX5" fmla="*/ 0 w 10000"/>
              <a:gd name="connsiteY5" fmla="*/ 8220 h 9456"/>
              <a:gd name="connsiteX6" fmla="*/ 0 w 10000"/>
              <a:gd name="connsiteY6" fmla="*/ 1100 h 9456"/>
              <a:gd name="connsiteX0" fmla="*/ 10000 w 10000"/>
              <a:gd name="connsiteY0" fmla="*/ 1100 h 9456"/>
              <a:gd name="connsiteX1" fmla="*/ 5050 w 10000"/>
              <a:gd name="connsiteY1" fmla="*/ 2154 h 9456"/>
              <a:gd name="connsiteX2" fmla="*/ 0 w 10000"/>
              <a:gd name="connsiteY2" fmla="*/ 1100 h 9456"/>
              <a:gd name="connsiteX0" fmla="*/ 0 w 10000"/>
              <a:gd name="connsiteY0" fmla="*/ 1100 h 9456"/>
              <a:gd name="connsiteX1" fmla="*/ 5000 w 10000"/>
              <a:gd name="connsiteY1" fmla="*/ 0 h 9456"/>
              <a:gd name="connsiteX2" fmla="*/ 10000 w 10000"/>
              <a:gd name="connsiteY2" fmla="*/ 1100 h 9456"/>
              <a:gd name="connsiteX3" fmla="*/ 10000 w 10000"/>
              <a:gd name="connsiteY3" fmla="*/ 8220 h 9456"/>
              <a:gd name="connsiteX4" fmla="*/ 5000 w 10000"/>
              <a:gd name="connsiteY4" fmla="*/ 9410 h 9456"/>
              <a:gd name="connsiteX5" fmla="*/ 0 w 10000"/>
              <a:gd name="connsiteY5" fmla="*/ 8220 h 9456"/>
              <a:gd name="connsiteX6" fmla="*/ 0 w 10000"/>
              <a:gd name="connsiteY6" fmla="*/ 1100 h 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9456" stroke="0" extrusionOk="0">
                <a:moveTo>
                  <a:pt x="0" y="1100"/>
                </a:moveTo>
                <a:cubicBezTo>
                  <a:pt x="0" y="116"/>
                  <a:pt x="2139" y="46"/>
                  <a:pt x="4900" y="46"/>
                </a:cubicBezTo>
                <a:cubicBezTo>
                  <a:pt x="7661" y="46"/>
                  <a:pt x="10000" y="116"/>
                  <a:pt x="10000" y="1100"/>
                </a:cubicBezTo>
                <a:lnTo>
                  <a:pt x="10000" y="8220"/>
                </a:lnTo>
                <a:cubicBezTo>
                  <a:pt x="10000" y="9203"/>
                  <a:pt x="7711" y="9456"/>
                  <a:pt x="4950" y="9456"/>
                </a:cubicBezTo>
                <a:cubicBezTo>
                  <a:pt x="2189" y="9456"/>
                  <a:pt x="0" y="9203"/>
                  <a:pt x="0" y="8220"/>
                </a:cubicBezTo>
                <a:lnTo>
                  <a:pt x="0" y="1100"/>
                </a:lnTo>
                <a:close/>
              </a:path>
              <a:path w="10000" h="9456" fill="none" extrusionOk="0">
                <a:moveTo>
                  <a:pt x="10000" y="1100"/>
                </a:moveTo>
                <a:cubicBezTo>
                  <a:pt x="10000" y="2084"/>
                  <a:pt x="7811" y="2154"/>
                  <a:pt x="5050" y="2154"/>
                </a:cubicBezTo>
                <a:cubicBezTo>
                  <a:pt x="2289" y="2154"/>
                  <a:pt x="0" y="2084"/>
                  <a:pt x="0" y="1100"/>
                </a:cubicBezTo>
              </a:path>
              <a:path w="10000" h="9456" fill="none">
                <a:moveTo>
                  <a:pt x="0" y="1100"/>
                </a:moveTo>
                <a:cubicBezTo>
                  <a:pt x="0" y="116"/>
                  <a:pt x="2239" y="0"/>
                  <a:pt x="5000" y="0"/>
                </a:cubicBezTo>
                <a:cubicBezTo>
                  <a:pt x="7761" y="0"/>
                  <a:pt x="10000" y="116"/>
                  <a:pt x="10000" y="1100"/>
                </a:cubicBezTo>
                <a:lnTo>
                  <a:pt x="10000" y="8220"/>
                </a:lnTo>
                <a:cubicBezTo>
                  <a:pt x="10000" y="9203"/>
                  <a:pt x="7761" y="9410"/>
                  <a:pt x="5000" y="9410"/>
                </a:cubicBezTo>
                <a:cubicBezTo>
                  <a:pt x="2239" y="9410"/>
                  <a:pt x="0" y="9203"/>
                  <a:pt x="0" y="8220"/>
                </a:cubicBezTo>
                <a:lnTo>
                  <a:pt x="0" y="1100"/>
                </a:lnTo>
                <a:close/>
              </a:path>
            </a:pathLst>
          </a:custGeom>
          <a:solidFill>
            <a:schemeClr val="accent1">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s-US"/>
          </a:p>
        </p:txBody>
      </p:sp>
      <p:cxnSp>
        <p:nvCxnSpPr>
          <p:cNvPr id="33" name="Conector recto de flecha 32"/>
          <p:cNvCxnSpPr/>
          <p:nvPr/>
        </p:nvCxnSpPr>
        <p:spPr>
          <a:xfrm flipV="1">
            <a:off x="2569092" y="5070657"/>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Conector recto de flecha 33"/>
          <p:cNvCxnSpPr/>
          <p:nvPr/>
        </p:nvCxnSpPr>
        <p:spPr>
          <a:xfrm flipH="1">
            <a:off x="2249333" y="5070657"/>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Rectángulo 34"/>
          <p:cNvSpPr/>
          <p:nvPr/>
        </p:nvSpPr>
        <p:spPr>
          <a:xfrm>
            <a:off x="2034627" y="5534678"/>
            <a:ext cx="797786" cy="523220"/>
          </a:xfrm>
          <a:prstGeom prst="rect">
            <a:avLst/>
          </a:prstGeom>
          <a:noFill/>
        </p:spPr>
        <p:txBody>
          <a:bodyPr wrap="square" lIns="91440" tIns="45720" rIns="91440" bIns="45720">
            <a:spAutoFit/>
          </a:bodyPr>
          <a:lstStyle/>
          <a:p>
            <a:pPr algn="ctr"/>
            <a:r>
              <a:rPr lang="es-ES" sz="1400" dirty="0" smtClean="0">
                <a:ln w="0"/>
                <a:effectLst>
                  <a:outerShdw blurRad="50800" dist="38100" dir="5400000" algn="t" rotWithShape="0">
                    <a:prstClr val="black">
                      <a:alpha val="40000"/>
                    </a:prstClr>
                  </a:outerShdw>
                </a:effectLst>
              </a:rPr>
              <a:t>Base de Datos</a:t>
            </a:r>
            <a:endParaRPr lang="es-ES" sz="1400" dirty="0">
              <a:ln w="0"/>
              <a:effectLst>
                <a:outerShdw blurRad="50800" dist="38100" dir="5400000" algn="t" rotWithShape="0">
                  <a:prstClr val="black">
                    <a:alpha val="40000"/>
                  </a:prstClr>
                </a:outerShdw>
              </a:effectLst>
            </a:endParaRPr>
          </a:p>
        </p:txBody>
      </p:sp>
      <p:sp>
        <p:nvSpPr>
          <p:cNvPr id="36" name="Rectángulo redondeado 35"/>
          <p:cNvSpPr/>
          <p:nvPr/>
        </p:nvSpPr>
        <p:spPr>
          <a:xfrm>
            <a:off x="685800" y="2630525"/>
            <a:ext cx="3376246" cy="5370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US"/>
          </a:p>
        </p:txBody>
      </p:sp>
      <p:sp>
        <p:nvSpPr>
          <p:cNvPr id="37" name="Rectángulo redondeado 36"/>
          <p:cNvSpPr/>
          <p:nvPr/>
        </p:nvSpPr>
        <p:spPr>
          <a:xfrm>
            <a:off x="1743508" y="1968163"/>
            <a:ext cx="1230924" cy="358725"/>
          </a:xfrm>
          <a:prstGeom prst="round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38" name="Rectángulo redondeado 37"/>
          <p:cNvSpPr/>
          <p:nvPr/>
        </p:nvSpPr>
        <p:spPr>
          <a:xfrm>
            <a:off x="1121016" y="1214094"/>
            <a:ext cx="2532184" cy="49925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a:p>
        </p:txBody>
      </p:sp>
      <p:cxnSp>
        <p:nvCxnSpPr>
          <p:cNvPr id="39" name="Conector recto de flecha 38"/>
          <p:cNvCxnSpPr/>
          <p:nvPr/>
        </p:nvCxnSpPr>
        <p:spPr>
          <a:xfrm flipV="1">
            <a:off x="2583082" y="1700412"/>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Conector recto de flecha 39"/>
          <p:cNvCxnSpPr/>
          <p:nvPr/>
        </p:nvCxnSpPr>
        <p:spPr>
          <a:xfrm flipH="1">
            <a:off x="2087970" y="1700412"/>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Conector recto de flecha 40"/>
          <p:cNvCxnSpPr/>
          <p:nvPr/>
        </p:nvCxnSpPr>
        <p:spPr>
          <a:xfrm flipV="1">
            <a:off x="2582644" y="2349171"/>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Conector recto de flecha 41"/>
          <p:cNvCxnSpPr/>
          <p:nvPr/>
        </p:nvCxnSpPr>
        <p:spPr>
          <a:xfrm flipH="1">
            <a:off x="2096329" y="2349171"/>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Conector recto de flecha 42"/>
          <p:cNvCxnSpPr/>
          <p:nvPr/>
        </p:nvCxnSpPr>
        <p:spPr>
          <a:xfrm flipV="1">
            <a:off x="1398911" y="3171900"/>
            <a:ext cx="0" cy="472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Conector recto de flecha 43"/>
          <p:cNvCxnSpPr/>
          <p:nvPr/>
        </p:nvCxnSpPr>
        <p:spPr>
          <a:xfrm flipH="1">
            <a:off x="1195611" y="3171899"/>
            <a:ext cx="1" cy="4796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Rectángulo 44"/>
          <p:cNvSpPr/>
          <p:nvPr/>
        </p:nvSpPr>
        <p:spPr>
          <a:xfrm>
            <a:off x="1231791" y="2726461"/>
            <a:ext cx="2310633"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ENTERPRISE SERVICE BUS</a:t>
            </a:r>
            <a:endParaRPr lang="es-ES" sz="1600" dirty="0">
              <a:ln w="0"/>
              <a:effectLst>
                <a:outerShdw blurRad="50800" dist="38100" dir="5400000" algn="t" rotWithShape="0">
                  <a:prstClr val="black">
                    <a:alpha val="40000"/>
                  </a:prstClr>
                </a:outerShdw>
              </a:effectLst>
            </a:endParaRPr>
          </a:p>
        </p:txBody>
      </p:sp>
      <p:sp>
        <p:nvSpPr>
          <p:cNvPr id="46" name="Rectángulo 45"/>
          <p:cNvSpPr/>
          <p:nvPr/>
        </p:nvSpPr>
        <p:spPr>
          <a:xfrm>
            <a:off x="1938629" y="2026360"/>
            <a:ext cx="840679" cy="276999"/>
          </a:xfrm>
          <a:prstGeom prst="rect">
            <a:avLst/>
          </a:prstGeom>
          <a:noFill/>
        </p:spPr>
        <p:txBody>
          <a:bodyPr wrap="none" lIns="91440" tIns="45720" rIns="91440" bIns="45720">
            <a:spAutoFit/>
          </a:bodyPr>
          <a:lstStyle/>
          <a:p>
            <a:pPr algn="ctr"/>
            <a:r>
              <a:rPr lang="es-ES" sz="1200" dirty="0" smtClean="0">
                <a:ln w="0"/>
                <a:effectLst>
                  <a:outerShdw blurRad="50800" dist="38100" dir="5400000" algn="t" rotWithShape="0">
                    <a:prstClr val="black">
                      <a:alpha val="40000"/>
                    </a:prstClr>
                  </a:outerShdw>
                </a:effectLst>
              </a:rPr>
              <a:t>HTTP/XML</a:t>
            </a:r>
            <a:endParaRPr lang="es-ES" sz="1200" dirty="0">
              <a:ln w="0"/>
              <a:effectLst>
                <a:outerShdw blurRad="50800" dist="38100" dir="5400000" algn="t" rotWithShape="0">
                  <a:prstClr val="black">
                    <a:alpha val="40000"/>
                  </a:prstClr>
                </a:outerShdw>
              </a:effectLst>
            </a:endParaRPr>
          </a:p>
        </p:txBody>
      </p:sp>
      <p:sp>
        <p:nvSpPr>
          <p:cNvPr id="47" name="Rectángulo 46"/>
          <p:cNvSpPr/>
          <p:nvPr/>
        </p:nvSpPr>
        <p:spPr>
          <a:xfrm>
            <a:off x="1653382" y="1268938"/>
            <a:ext cx="1467453"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Aplicación Web</a:t>
            </a:r>
            <a:endParaRPr lang="es-ES" sz="1600" dirty="0">
              <a:ln w="0"/>
              <a:effectLst>
                <a:outerShdw blurRad="50800" dist="38100" dir="5400000" algn="t" rotWithShape="0">
                  <a:prstClr val="black">
                    <a:alpha val="40000"/>
                  </a:prstClr>
                </a:outerShdw>
              </a:effectLst>
            </a:endParaRPr>
          </a:p>
        </p:txBody>
      </p:sp>
      <p:sp>
        <p:nvSpPr>
          <p:cNvPr id="48" name="Rectángulo redondeado 47"/>
          <p:cNvSpPr/>
          <p:nvPr/>
        </p:nvSpPr>
        <p:spPr>
          <a:xfrm>
            <a:off x="665321" y="4430761"/>
            <a:ext cx="1436235" cy="45482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dirty="0"/>
          </a:p>
        </p:txBody>
      </p:sp>
      <p:sp>
        <p:nvSpPr>
          <p:cNvPr id="49" name="Rectángulo redondeado 48"/>
          <p:cNvSpPr/>
          <p:nvPr/>
        </p:nvSpPr>
        <p:spPr>
          <a:xfrm>
            <a:off x="798617" y="3643992"/>
            <a:ext cx="1082710" cy="442878"/>
          </a:xfrm>
          <a:prstGeom prst="round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50" name="Rectángulo 49"/>
          <p:cNvSpPr/>
          <p:nvPr/>
        </p:nvSpPr>
        <p:spPr>
          <a:xfrm>
            <a:off x="884921" y="3713098"/>
            <a:ext cx="879343" cy="276999"/>
          </a:xfrm>
          <a:prstGeom prst="rect">
            <a:avLst/>
          </a:prstGeom>
          <a:noFill/>
        </p:spPr>
        <p:txBody>
          <a:bodyPr wrap="none" lIns="91440" tIns="45720" rIns="91440" bIns="45720">
            <a:spAutoFit/>
          </a:bodyPr>
          <a:lstStyle/>
          <a:p>
            <a:pPr algn="ctr"/>
            <a:r>
              <a:rPr lang="es-ES" sz="1200" dirty="0" smtClean="0">
                <a:ln w="0"/>
                <a:effectLst>
                  <a:outerShdw blurRad="50800" dist="38100" dir="5400000" algn="t" rotWithShape="0">
                    <a:prstClr val="black">
                      <a:alpha val="40000"/>
                    </a:prstClr>
                  </a:outerShdw>
                </a:effectLst>
              </a:rPr>
              <a:t>REST/SOAP</a:t>
            </a:r>
            <a:endParaRPr lang="es-ES" sz="1200" dirty="0">
              <a:ln w="0"/>
              <a:effectLst>
                <a:outerShdw blurRad="50800" dist="38100" dir="5400000" algn="t" rotWithShape="0">
                  <a:prstClr val="black">
                    <a:alpha val="40000"/>
                  </a:prstClr>
                </a:outerShdw>
              </a:effectLst>
            </a:endParaRPr>
          </a:p>
        </p:txBody>
      </p:sp>
      <p:sp>
        <p:nvSpPr>
          <p:cNvPr id="51" name="Rectángulo 50"/>
          <p:cNvSpPr/>
          <p:nvPr/>
        </p:nvSpPr>
        <p:spPr>
          <a:xfrm>
            <a:off x="718216" y="4499613"/>
            <a:ext cx="1402115" cy="307777"/>
          </a:xfrm>
          <a:prstGeom prst="rect">
            <a:avLst/>
          </a:prstGeom>
          <a:noFill/>
        </p:spPr>
        <p:txBody>
          <a:bodyPr wrap="none" lIns="91440" tIns="45720" rIns="91440" bIns="45720">
            <a:spAutoFit/>
          </a:bodyPr>
          <a:lstStyle/>
          <a:p>
            <a:pPr algn="ctr"/>
            <a:r>
              <a:rPr lang="es-ES" sz="1400" dirty="0" smtClean="0">
                <a:ln w="0"/>
                <a:effectLst>
                  <a:outerShdw blurRad="50800" dist="38100" dir="5400000" algn="t" rotWithShape="0">
                    <a:prstClr val="black">
                      <a:alpha val="40000"/>
                    </a:prstClr>
                  </a:outerShdw>
                </a:effectLst>
              </a:rPr>
              <a:t>Servicio Créditos</a:t>
            </a:r>
            <a:endParaRPr lang="es-ES" sz="1400" dirty="0">
              <a:ln w="0"/>
              <a:effectLst>
                <a:outerShdw blurRad="50800" dist="38100" dir="5400000" algn="t" rotWithShape="0">
                  <a:prstClr val="black">
                    <a:alpha val="40000"/>
                  </a:prstClr>
                </a:outerShdw>
              </a:effectLst>
            </a:endParaRPr>
          </a:p>
        </p:txBody>
      </p:sp>
      <p:cxnSp>
        <p:nvCxnSpPr>
          <p:cNvPr id="52" name="Conector recto de flecha 51"/>
          <p:cNvCxnSpPr/>
          <p:nvPr/>
        </p:nvCxnSpPr>
        <p:spPr>
          <a:xfrm flipV="1">
            <a:off x="1507817" y="4086870"/>
            <a:ext cx="0" cy="3451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Conector recto de flecha 52"/>
          <p:cNvCxnSpPr/>
          <p:nvPr/>
        </p:nvCxnSpPr>
        <p:spPr>
          <a:xfrm>
            <a:off x="1181428" y="4086870"/>
            <a:ext cx="1" cy="3451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Conector recto de flecha 53"/>
          <p:cNvCxnSpPr/>
          <p:nvPr/>
        </p:nvCxnSpPr>
        <p:spPr>
          <a:xfrm flipV="1">
            <a:off x="3494197" y="3167600"/>
            <a:ext cx="0" cy="5030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Conector recto de flecha 54"/>
          <p:cNvCxnSpPr/>
          <p:nvPr/>
        </p:nvCxnSpPr>
        <p:spPr>
          <a:xfrm>
            <a:off x="3300575" y="3167600"/>
            <a:ext cx="1" cy="4884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Rectángulo redondeado 55"/>
          <p:cNvSpPr/>
          <p:nvPr/>
        </p:nvSpPr>
        <p:spPr>
          <a:xfrm>
            <a:off x="2725646" y="4430761"/>
            <a:ext cx="1362375" cy="45827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dirty="0"/>
          </a:p>
        </p:txBody>
      </p:sp>
      <p:sp>
        <p:nvSpPr>
          <p:cNvPr id="57" name="Rectángulo redondeado 56"/>
          <p:cNvSpPr/>
          <p:nvPr/>
        </p:nvSpPr>
        <p:spPr>
          <a:xfrm>
            <a:off x="2846124" y="3670697"/>
            <a:ext cx="1064699" cy="406346"/>
          </a:xfrm>
          <a:prstGeom prst="round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58" name="Rectángulo 57"/>
          <p:cNvSpPr/>
          <p:nvPr/>
        </p:nvSpPr>
        <p:spPr>
          <a:xfrm>
            <a:off x="2957890" y="3729953"/>
            <a:ext cx="879344" cy="276999"/>
          </a:xfrm>
          <a:prstGeom prst="rect">
            <a:avLst/>
          </a:prstGeom>
          <a:noFill/>
        </p:spPr>
        <p:txBody>
          <a:bodyPr wrap="none" lIns="91440" tIns="45720" rIns="91440" bIns="45720">
            <a:spAutoFit/>
          </a:bodyPr>
          <a:lstStyle/>
          <a:p>
            <a:pPr algn="ctr"/>
            <a:r>
              <a:rPr lang="es-ES" sz="1200" dirty="0" smtClean="0">
                <a:ln w="0"/>
                <a:effectLst>
                  <a:outerShdw blurRad="50800" dist="38100" dir="5400000" algn="t" rotWithShape="0">
                    <a:prstClr val="black">
                      <a:alpha val="40000"/>
                    </a:prstClr>
                  </a:outerShdw>
                </a:effectLst>
              </a:rPr>
              <a:t>REST/SOAP</a:t>
            </a:r>
            <a:endParaRPr lang="es-ES" sz="1200" dirty="0">
              <a:ln w="0"/>
              <a:effectLst>
                <a:outerShdw blurRad="50800" dist="38100" dir="5400000" algn="t" rotWithShape="0">
                  <a:prstClr val="black">
                    <a:alpha val="40000"/>
                  </a:prstClr>
                </a:outerShdw>
              </a:effectLst>
            </a:endParaRPr>
          </a:p>
        </p:txBody>
      </p:sp>
      <p:sp>
        <p:nvSpPr>
          <p:cNvPr id="59" name="Rectángulo 58"/>
          <p:cNvSpPr/>
          <p:nvPr/>
        </p:nvSpPr>
        <p:spPr>
          <a:xfrm>
            <a:off x="2774791" y="4498472"/>
            <a:ext cx="1287660" cy="307777"/>
          </a:xfrm>
          <a:prstGeom prst="rect">
            <a:avLst/>
          </a:prstGeom>
          <a:noFill/>
        </p:spPr>
        <p:txBody>
          <a:bodyPr wrap="none" lIns="91440" tIns="45720" rIns="91440" bIns="45720">
            <a:spAutoFit/>
          </a:bodyPr>
          <a:lstStyle/>
          <a:p>
            <a:pPr algn="ctr"/>
            <a:r>
              <a:rPr lang="es-ES" sz="1400" dirty="0" smtClean="0">
                <a:ln w="0"/>
                <a:effectLst>
                  <a:outerShdw blurRad="50800" dist="38100" dir="5400000" algn="t" rotWithShape="0">
                    <a:prstClr val="black">
                      <a:alpha val="40000"/>
                    </a:prstClr>
                  </a:outerShdw>
                </a:effectLst>
              </a:rPr>
              <a:t>Servicio Ventas</a:t>
            </a:r>
            <a:endParaRPr lang="es-ES" sz="1400" dirty="0">
              <a:ln w="0"/>
              <a:effectLst>
                <a:outerShdw blurRad="50800" dist="38100" dir="5400000" algn="t" rotWithShape="0">
                  <a:prstClr val="black">
                    <a:alpha val="40000"/>
                  </a:prstClr>
                </a:outerShdw>
              </a:effectLst>
            </a:endParaRPr>
          </a:p>
        </p:txBody>
      </p:sp>
      <p:cxnSp>
        <p:nvCxnSpPr>
          <p:cNvPr id="60" name="Conector recto de flecha 59"/>
          <p:cNvCxnSpPr/>
          <p:nvPr/>
        </p:nvCxnSpPr>
        <p:spPr>
          <a:xfrm flipV="1">
            <a:off x="3521390" y="4078926"/>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Conector recto de flecha 60"/>
          <p:cNvCxnSpPr/>
          <p:nvPr/>
        </p:nvCxnSpPr>
        <p:spPr>
          <a:xfrm flipH="1">
            <a:off x="3195001" y="4078926"/>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CuadroTexto 1"/>
          <p:cNvSpPr txBox="1"/>
          <p:nvPr/>
        </p:nvSpPr>
        <p:spPr>
          <a:xfrm>
            <a:off x="1769061" y="800168"/>
            <a:ext cx="1152175" cy="307777"/>
          </a:xfrm>
          <a:prstGeom prst="rect">
            <a:avLst/>
          </a:prstGeom>
          <a:noFill/>
        </p:spPr>
        <p:txBody>
          <a:bodyPr wrap="none" rtlCol="0">
            <a:spAutoFit/>
          </a:bodyPr>
          <a:lstStyle/>
          <a:p>
            <a:r>
              <a:rPr lang="es-US" sz="1400" i="1" dirty="0" smtClean="0"/>
              <a:t>Servidor Web</a:t>
            </a:r>
            <a:endParaRPr lang="es-US" sz="1400" i="1" dirty="0"/>
          </a:p>
        </p:txBody>
      </p:sp>
      <p:sp>
        <p:nvSpPr>
          <p:cNvPr id="63" name="CuadroTexto 62"/>
          <p:cNvSpPr txBox="1"/>
          <p:nvPr/>
        </p:nvSpPr>
        <p:spPr>
          <a:xfrm>
            <a:off x="1516444" y="3287667"/>
            <a:ext cx="1714444" cy="307777"/>
          </a:xfrm>
          <a:prstGeom prst="rect">
            <a:avLst/>
          </a:prstGeom>
          <a:noFill/>
        </p:spPr>
        <p:txBody>
          <a:bodyPr wrap="none" rtlCol="0">
            <a:spAutoFit/>
          </a:bodyPr>
          <a:lstStyle/>
          <a:p>
            <a:r>
              <a:rPr lang="es-US" sz="1400" i="1" dirty="0" smtClean="0"/>
              <a:t>Servidor aplicaciones</a:t>
            </a:r>
            <a:endParaRPr lang="es-US" sz="1400" i="1" dirty="0"/>
          </a:p>
        </p:txBody>
      </p:sp>
    </p:spTree>
    <p:extLst>
      <p:ext uri="{BB962C8B-B14F-4D97-AF65-F5344CB8AC3E}">
        <p14:creationId xmlns:p14="http://schemas.microsoft.com/office/powerpoint/2010/main" val="42103509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redondeado 18"/>
          <p:cNvSpPr/>
          <p:nvPr/>
        </p:nvSpPr>
        <p:spPr>
          <a:xfrm>
            <a:off x="8449408" y="958362"/>
            <a:ext cx="3683950" cy="5758961"/>
          </a:xfrm>
          <a:prstGeom prst="roundRect">
            <a:avLst>
              <a:gd name="adj" fmla="val 10272"/>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Rectángulo redondeado 9"/>
          <p:cNvSpPr/>
          <p:nvPr/>
        </p:nvSpPr>
        <p:spPr>
          <a:xfrm>
            <a:off x="8634046" y="3926583"/>
            <a:ext cx="3376246" cy="15885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2" name="Rectángulo redondeado 1"/>
          <p:cNvSpPr/>
          <p:nvPr/>
        </p:nvSpPr>
        <p:spPr>
          <a:xfrm>
            <a:off x="923808" y="1048048"/>
            <a:ext cx="1688123" cy="1952523"/>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 name="CuadroTexto 3"/>
          <p:cNvSpPr txBox="1"/>
          <p:nvPr/>
        </p:nvSpPr>
        <p:spPr>
          <a:xfrm>
            <a:off x="2395579" y="150937"/>
            <a:ext cx="7333033" cy="584775"/>
          </a:xfrm>
          <a:prstGeom prst="rect">
            <a:avLst/>
          </a:prstGeom>
          <a:noFill/>
        </p:spPr>
        <p:txBody>
          <a:bodyPr wrap="none" rtlCol="0">
            <a:spAutoFit/>
          </a:bodyPr>
          <a:lstStyle/>
          <a:p>
            <a:pPr algn="ctr"/>
            <a:r>
              <a:rPr lang="es-US" sz="3200" dirty="0" smtClean="0"/>
              <a:t>Despliegue en una Arquitectura Monolítica</a:t>
            </a:r>
            <a:endParaRPr lang="es-US" sz="3200" dirty="0"/>
          </a:p>
        </p:txBody>
      </p:sp>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06818" y="1494888"/>
            <a:ext cx="828370" cy="828370"/>
          </a:xfrm>
          <a:prstGeom prst="rect">
            <a:avLst/>
          </a:prstGeom>
        </p:spPr>
      </p:pic>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0618" y="1647288"/>
            <a:ext cx="828370" cy="828370"/>
          </a:xfrm>
          <a:prstGeom prst="rect">
            <a:avLst/>
          </a:prstGeom>
        </p:spPr>
      </p:pic>
      <p:pic>
        <p:nvPicPr>
          <p:cNvPr id="7" name="Imagen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6793" y="1828263"/>
            <a:ext cx="828370" cy="828370"/>
          </a:xfrm>
          <a:prstGeom prst="rect">
            <a:avLst/>
          </a:prstGeom>
        </p:spPr>
      </p:pic>
      <p:pic>
        <p:nvPicPr>
          <p:cNvPr id="8" name="Imagen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0593" y="1980663"/>
            <a:ext cx="828370" cy="828370"/>
          </a:xfrm>
          <a:prstGeom prst="rect">
            <a:avLst/>
          </a:prstGeom>
        </p:spPr>
      </p:pic>
      <p:sp>
        <p:nvSpPr>
          <p:cNvPr id="9" name="Flecha derecha 8"/>
          <p:cNvSpPr/>
          <p:nvPr/>
        </p:nvSpPr>
        <p:spPr>
          <a:xfrm>
            <a:off x="2847504" y="1728734"/>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CuadroTexto 2"/>
          <p:cNvSpPr txBox="1"/>
          <p:nvPr/>
        </p:nvSpPr>
        <p:spPr>
          <a:xfrm>
            <a:off x="923808" y="1050617"/>
            <a:ext cx="1688123" cy="369332"/>
          </a:xfrm>
          <a:prstGeom prst="rect">
            <a:avLst/>
          </a:prstGeom>
          <a:noFill/>
        </p:spPr>
        <p:txBody>
          <a:bodyPr wrap="square" rtlCol="0">
            <a:spAutoFit/>
          </a:bodyPr>
          <a:lstStyle/>
          <a:p>
            <a:pPr algn="ctr"/>
            <a:r>
              <a:rPr lang="es-US" dirty="0" smtClean="0">
                <a:effectLst>
                  <a:outerShdw blurRad="38100" dist="38100" dir="2700000" algn="tl">
                    <a:srgbClr val="000000">
                      <a:alpha val="43137"/>
                    </a:srgbClr>
                  </a:outerShdw>
                </a:effectLst>
              </a:rPr>
              <a:t>Desarrollo Web</a:t>
            </a:r>
            <a:endParaRPr lang="es-US" dirty="0">
              <a:effectLst>
                <a:outerShdw blurRad="38100" dist="38100" dir="2700000" algn="tl">
                  <a:srgbClr val="000000">
                    <a:alpha val="43137"/>
                  </a:srgbClr>
                </a:outerShdw>
              </a:effectLst>
            </a:endParaRPr>
          </a:p>
        </p:txBody>
      </p:sp>
      <p:pic>
        <p:nvPicPr>
          <p:cNvPr id="1026" name="Picture 2" descr="100+] Github Logo Png Images | Wallpapers.c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6058" y="1599472"/>
            <a:ext cx="1587656" cy="576727"/>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05998" y="1606529"/>
            <a:ext cx="1749669" cy="562612"/>
          </a:xfrm>
          <a:prstGeom prst="rect">
            <a:avLst/>
          </a:prstGeom>
        </p:spPr>
      </p:pic>
      <p:sp>
        <p:nvSpPr>
          <p:cNvPr id="14" name="Flecha derecha 13"/>
          <p:cNvSpPr/>
          <p:nvPr/>
        </p:nvSpPr>
        <p:spPr>
          <a:xfrm>
            <a:off x="5191180" y="1728734"/>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21" name="CuadroTexto 20"/>
          <p:cNvSpPr txBox="1"/>
          <p:nvPr/>
        </p:nvSpPr>
        <p:spPr>
          <a:xfrm>
            <a:off x="8767504" y="1001592"/>
            <a:ext cx="3030973" cy="369332"/>
          </a:xfrm>
          <a:prstGeom prst="rect">
            <a:avLst/>
          </a:prstGeom>
          <a:noFill/>
        </p:spPr>
        <p:txBody>
          <a:bodyPr wrap="square" rtlCol="0">
            <a:spAutoFit/>
          </a:bodyPr>
          <a:lstStyle/>
          <a:p>
            <a:pPr algn="ctr"/>
            <a:r>
              <a:rPr lang="es-US" dirty="0" smtClean="0">
                <a:effectLst>
                  <a:outerShdw blurRad="38100" dist="38100" dir="2700000" algn="tl">
                    <a:srgbClr val="000000">
                      <a:alpha val="43137"/>
                    </a:srgbClr>
                  </a:outerShdw>
                </a:effectLst>
              </a:rPr>
              <a:t>Despliegue en servidores</a:t>
            </a:r>
            <a:endParaRPr lang="es-US" dirty="0">
              <a:effectLst>
                <a:outerShdw blurRad="38100" dist="38100" dir="2700000" algn="tl">
                  <a:srgbClr val="000000">
                    <a:alpha val="43137"/>
                  </a:srgbClr>
                </a:outerShdw>
              </a:effectLst>
            </a:endParaRPr>
          </a:p>
        </p:txBody>
      </p:sp>
      <p:sp>
        <p:nvSpPr>
          <p:cNvPr id="26" name="Flecha derecha 25"/>
          <p:cNvSpPr/>
          <p:nvPr/>
        </p:nvSpPr>
        <p:spPr>
          <a:xfrm>
            <a:off x="7680029" y="1728734"/>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20" name="Disco magnético 3"/>
          <p:cNvSpPr/>
          <p:nvPr/>
        </p:nvSpPr>
        <p:spPr>
          <a:xfrm>
            <a:off x="9820966" y="5876878"/>
            <a:ext cx="1011115" cy="696106"/>
          </a:xfrm>
          <a:custGeom>
            <a:avLst/>
            <a:gdLst>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00 w 10000"/>
              <a:gd name="connsiteY1" fmla="*/ 333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667 h 10000"/>
              <a:gd name="connsiteX1" fmla="*/ 5000 w 10000"/>
              <a:gd name="connsiteY1" fmla="*/ 0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10000 w 10000"/>
              <a:gd name="connsiteY0" fmla="*/ 1667 h 10000"/>
              <a:gd name="connsiteX1" fmla="*/ 5050 w 10000"/>
              <a:gd name="connsiteY1" fmla="*/ 2654 h 10000"/>
              <a:gd name="connsiteX2" fmla="*/ 0 w 10000"/>
              <a:gd name="connsiteY2" fmla="*/ 1667 h 10000"/>
              <a:gd name="connsiteX0" fmla="*/ 0 w 10000"/>
              <a:gd name="connsiteY0" fmla="*/ 1667 h 10000"/>
              <a:gd name="connsiteX1" fmla="*/ 5000 w 10000"/>
              <a:gd name="connsiteY1" fmla="*/ 637 h 10000"/>
              <a:gd name="connsiteX2" fmla="*/ 10000 w 10000"/>
              <a:gd name="connsiteY2" fmla="*/ 1667 h 10000"/>
              <a:gd name="connsiteX3" fmla="*/ 10000 w 10000"/>
              <a:gd name="connsiteY3" fmla="*/ 8333 h 10000"/>
              <a:gd name="connsiteX4" fmla="*/ 5000 w 10000"/>
              <a:gd name="connsiteY4" fmla="*/ 10000 h 10000"/>
              <a:gd name="connsiteX5" fmla="*/ 0 w 10000"/>
              <a:gd name="connsiteY5" fmla="*/ 8333 h 10000"/>
              <a:gd name="connsiteX6" fmla="*/ 0 w 10000"/>
              <a:gd name="connsiteY6" fmla="*/ 1667 h 10000"/>
              <a:gd name="connsiteX0" fmla="*/ 0 w 10000"/>
              <a:gd name="connsiteY0" fmla="*/ 1030 h 9363"/>
              <a:gd name="connsiteX1" fmla="*/ 4900 w 10000"/>
              <a:gd name="connsiteY1" fmla="*/ 43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10000 w 10000"/>
              <a:gd name="connsiteY0" fmla="*/ 1030 h 9363"/>
              <a:gd name="connsiteX1" fmla="*/ 5050 w 10000"/>
              <a:gd name="connsiteY1" fmla="*/ 2017 h 9363"/>
              <a:gd name="connsiteX2" fmla="*/ 0 w 10000"/>
              <a:gd name="connsiteY2" fmla="*/ 1030 h 9363"/>
              <a:gd name="connsiteX0" fmla="*/ 0 w 10000"/>
              <a:gd name="connsiteY0" fmla="*/ 1030 h 9363"/>
              <a:gd name="connsiteX1" fmla="*/ 5000 w 10000"/>
              <a:gd name="connsiteY1" fmla="*/ 0 h 9363"/>
              <a:gd name="connsiteX2" fmla="*/ 10000 w 10000"/>
              <a:gd name="connsiteY2" fmla="*/ 1030 h 9363"/>
              <a:gd name="connsiteX3" fmla="*/ 10000 w 10000"/>
              <a:gd name="connsiteY3" fmla="*/ 7696 h 9363"/>
              <a:gd name="connsiteX4" fmla="*/ 5000 w 10000"/>
              <a:gd name="connsiteY4" fmla="*/ 9363 h 9363"/>
              <a:gd name="connsiteX5" fmla="*/ 0 w 10000"/>
              <a:gd name="connsiteY5" fmla="*/ 7696 h 9363"/>
              <a:gd name="connsiteX6" fmla="*/ 0 w 10000"/>
              <a:gd name="connsiteY6" fmla="*/ 1030 h 9363"/>
              <a:gd name="connsiteX0" fmla="*/ 0 w 10000"/>
              <a:gd name="connsiteY0" fmla="*/ 1100 h 10000"/>
              <a:gd name="connsiteX1" fmla="*/ 4900 w 10000"/>
              <a:gd name="connsiteY1" fmla="*/ 46 h 10000"/>
              <a:gd name="connsiteX2" fmla="*/ 10000 w 10000"/>
              <a:gd name="connsiteY2" fmla="*/ 1100 h 10000"/>
              <a:gd name="connsiteX3" fmla="*/ 10000 w 10000"/>
              <a:gd name="connsiteY3" fmla="*/ 8220 h 10000"/>
              <a:gd name="connsiteX4" fmla="*/ 5000 w 10000"/>
              <a:gd name="connsiteY4" fmla="*/ 10000 h 10000"/>
              <a:gd name="connsiteX5" fmla="*/ 0 w 10000"/>
              <a:gd name="connsiteY5" fmla="*/ 8220 h 10000"/>
              <a:gd name="connsiteX6" fmla="*/ 0 w 10000"/>
              <a:gd name="connsiteY6" fmla="*/ 1100 h 10000"/>
              <a:gd name="connsiteX0" fmla="*/ 10000 w 10000"/>
              <a:gd name="connsiteY0" fmla="*/ 1100 h 10000"/>
              <a:gd name="connsiteX1" fmla="*/ 5050 w 10000"/>
              <a:gd name="connsiteY1" fmla="*/ 2154 h 10000"/>
              <a:gd name="connsiteX2" fmla="*/ 0 w 10000"/>
              <a:gd name="connsiteY2" fmla="*/ 1100 h 10000"/>
              <a:gd name="connsiteX0" fmla="*/ 0 w 10000"/>
              <a:gd name="connsiteY0" fmla="*/ 1100 h 10000"/>
              <a:gd name="connsiteX1" fmla="*/ 5000 w 10000"/>
              <a:gd name="connsiteY1" fmla="*/ 0 h 10000"/>
              <a:gd name="connsiteX2" fmla="*/ 10000 w 10000"/>
              <a:gd name="connsiteY2" fmla="*/ 1100 h 10000"/>
              <a:gd name="connsiteX3" fmla="*/ 10000 w 10000"/>
              <a:gd name="connsiteY3" fmla="*/ 8220 h 10000"/>
              <a:gd name="connsiteX4" fmla="*/ 5000 w 10000"/>
              <a:gd name="connsiteY4" fmla="*/ 9410 h 10000"/>
              <a:gd name="connsiteX5" fmla="*/ 0 w 10000"/>
              <a:gd name="connsiteY5" fmla="*/ 8220 h 10000"/>
              <a:gd name="connsiteX6" fmla="*/ 0 w 10000"/>
              <a:gd name="connsiteY6" fmla="*/ 1100 h 10000"/>
              <a:gd name="connsiteX0" fmla="*/ 0 w 10000"/>
              <a:gd name="connsiteY0" fmla="*/ 1100 h 9456"/>
              <a:gd name="connsiteX1" fmla="*/ 4900 w 10000"/>
              <a:gd name="connsiteY1" fmla="*/ 46 h 9456"/>
              <a:gd name="connsiteX2" fmla="*/ 10000 w 10000"/>
              <a:gd name="connsiteY2" fmla="*/ 1100 h 9456"/>
              <a:gd name="connsiteX3" fmla="*/ 10000 w 10000"/>
              <a:gd name="connsiteY3" fmla="*/ 8220 h 9456"/>
              <a:gd name="connsiteX4" fmla="*/ 4950 w 10000"/>
              <a:gd name="connsiteY4" fmla="*/ 9456 h 9456"/>
              <a:gd name="connsiteX5" fmla="*/ 0 w 10000"/>
              <a:gd name="connsiteY5" fmla="*/ 8220 h 9456"/>
              <a:gd name="connsiteX6" fmla="*/ 0 w 10000"/>
              <a:gd name="connsiteY6" fmla="*/ 1100 h 9456"/>
              <a:gd name="connsiteX0" fmla="*/ 10000 w 10000"/>
              <a:gd name="connsiteY0" fmla="*/ 1100 h 9456"/>
              <a:gd name="connsiteX1" fmla="*/ 5050 w 10000"/>
              <a:gd name="connsiteY1" fmla="*/ 2154 h 9456"/>
              <a:gd name="connsiteX2" fmla="*/ 0 w 10000"/>
              <a:gd name="connsiteY2" fmla="*/ 1100 h 9456"/>
              <a:gd name="connsiteX0" fmla="*/ 0 w 10000"/>
              <a:gd name="connsiteY0" fmla="*/ 1100 h 9456"/>
              <a:gd name="connsiteX1" fmla="*/ 5000 w 10000"/>
              <a:gd name="connsiteY1" fmla="*/ 0 h 9456"/>
              <a:gd name="connsiteX2" fmla="*/ 10000 w 10000"/>
              <a:gd name="connsiteY2" fmla="*/ 1100 h 9456"/>
              <a:gd name="connsiteX3" fmla="*/ 10000 w 10000"/>
              <a:gd name="connsiteY3" fmla="*/ 8220 h 9456"/>
              <a:gd name="connsiteX4" fmla="*/ 5000 w 10000"/>
              <a:gd name="connsiteY4" fmla="*/ 9410 h 9456"/>
              <a:gd name="connsiteX5" fmla="*/ 0 w 10000"/>
              <a:gd name="connsiteY5" fmla="*/ 8220 h 9456"/>
              <a:gd name="connsiteX6" fmla="*/ 0 w 10000"/>
              <a:gd name="connsiteY6" fmla="*/ 1100 h 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9456" stroke="0" extrusionOk="0">
                <a:moveTo>
                  <a:pt x="0" y="1100"/>
                </a:moveTo>
                <a:cubicBezTo>
                  <a:pt x="0" y="116"/>
                  <a:pt x="2139" y="46"/>
                  <a:pt x="4900" y="46"/>
                </a:cubicBezTo>
                <a:cubicBezTo>
                  <a:pt x="7661" y="46"/>
                  <a:pt x="10000" y="116"/>
                  <a:pt x="10000" y="1100"/>
                </a:cubicBezTo>
                <a:lnTo>
                  <a:pt x="10000" y="8220"/>
                </a:lnTo>
                <a:cubicBezTo>
                  <a:pt x="10000" y="9203"/>
                  <a:pt x="7711" y="9456"/>
                  <a:pt x="4950" y="9456"/>
                </a:cubicBezTo>
                <a:cubicBezTo>
                  <a:pt x="2189" y="9456"/>
                  <a:pt x="0" y="9203"/>
                  <a:pt x="0" y="8220"/>
                </a:cubicBezTo>
                <a:lnTo>
                  <a:pt x="0" y="1100"/>
                </a:lnTo>
                <a:close/>
              </a:path>
              <a:path w="10000" h="9456" fill="none" extrusionOk="0">
                <a:moveTo>
                  <a:pt x="10000" y="1100"/>
                </a:moveTo>
                <a:cubicBezTo>
                  <a:pt x="10000" y="2084"/>
                  <a:pt x="7811" y="2154"/>
                  <a:pt x="5050" y="2154"/>
                </a:cubicBezTo>
                <a:cubicBezTo>
                  <a:pt x="2289" y="2154"/>
                  <a:pt x="0" y="2084"/>
                  <a:pt x="0" y="1100"/>
                </a:cubicBezTo>
              </a:path>
              <a:path w="10000" h="9456" fill="none">
                <a:moveTo>
                  <a:pt x="0" y="1100"/>
                </a:moveTo>
                <a:cubicBezTo>
                  <a:pt x="0" y="116"/>
                  <a:pt x="2239" y="0"/>
                  <a:pt x="5000" y="0"/>
                </a:cubicBezTo>
                <a:cubicBezTo>
                  <a:pt x="7761" y="0"/>
                  <a:pt x="10000" y="116"/>
                  <a:pt x="10000" y="1100"/>
                </a:cubicBezTo>
                <a:lnTo>
                  <a:pt x="10000" y="8220"/>
                </a:lnTo>
                <a:cubicBezTo>
                  <a:pt x="10000" y="9203"/>
                  <a:pt x="7761" y="9410"/>
                  <a:pt x="5000" y="9410"/>
                </a:cubicBezTo>
                <a:cubicBezTo>
                  <a:pt x="2239" y="9410"/>
                  <a:pt x="0" y="9203"/>
                  <a:pt x="0" y="8220"/>
                </a:cubicBezTo>
                <a:lnTo>
                  <a:pt x="0" y="1100"/>
                </a:lnTo>
                <a:close/>
              </a:path>
            </a:pathLst>
          </a:custGeom>
          <a:solidFill>
            <a:schemeClr val="accent1">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s-US"/>
          </a:p>
        </p:txBody>
      </p:sp>
      <p:cxnSp>
        <p:nvCxnSpPr>
          <p:cNvPr id="30" name="Conector recto de flecha 29"/>
          <p:cNvCxnSpPr/>
          <p:nvPr/>
        </p:nvCxnSpPr>
        <p:spPr>
          <a:xfrm flipV="1">
            <a:off x="10486516" y="5523536"/>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Conector recto de flecha 30"/>
          <p:cNvCxnSpPr/>
          <p:nvPr/>
        </p:nvCxnSpPr>
        <p:spPr>
          <a:xfrm flipH="1">
            <a:off x="10131589" y="5523536"/>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Rectángulo 34"/>
          <p:cNvSpPr/>
          <p:nvPr/>
        </p:nvSpPr>
        <p:spPr>
          <a:xfrm>
            <a:off x="9952051" y="5987557"/>
            <a:ext cx="797786" cy="523220"/>
          </a:xfrm>
          <a:prstGeom prst="rect">
            <a:avLst/>
          </a:prstGeom>
          <a:noFill/>
        </p:spPr>
        <p:txBody>
          <a:bodyPr wrap="square" lIns="91440" tIns="45720" rIns="91440" bIns="45720">
            <a:spAutoFit/>
          </a:bodyPr>
          <a:lstStyle/>
          <a:p>
            <a:pPr algn="ctr"/>
            <a:r>
              <a:rPr lang="es-ES" sz="1400" dirty="0" smtClean="0">
                <a:ln w="0"/>
                <a:effectLst>
                  <a:outerShdw blurRad="50800" dist="38100" dir="5400000" algn="t" rotWithShape="0">
                    <a:prstClr val="black">
                      <a:alpha val="40000"/>
                    </a:prstClr>
                  </a:outerShdw>
                </a:effectLst>
              </a:rPr>
              <a:t>Base de Datos</a:t>
            </a:r>
            <a:endParaRPr lang="es-ES" sz="1400" dirty="0">
              <a:ln w="0"/>
              <a:effectLst>
                <a:outerShdw blurRad="50800" dist="38100" dir="5400000" algn="t" rotWithShape="0">
                  <a:prstClr val="black">
                    <a:alpha val="40000"/>
                  </a:prstClr>
                </a:outerShdw>
              </a:effectLst>
            </a:endParaRPr>
          </a:p>
        </p:txBody>
      </p:sp>
      <p:sp>
        <p:nvSpPr>
          <p:cNvPr id="36" name="Rectángulo redondeado 35"/>
          <p:cNvSpPr/>
          <p:nvPr/>
        </p:nvSpPr>
        <p:spPr>
          <a:xfrm>
            <a:off x="906282" y="3694501"/>
            <a:ext cx="1688123" cy="1952523"/>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pic>
        <p:nvPicPr>
          <p:cNvPr id="37" name="Imagen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9292" y="4141341"/>
            <a:ext cx="828370" cy="828370"/>
          </a:xfrm>
          <a:prstGeom prst="rect">
            <a:avLst/>
          </a:prstGeom>
        </p:spPr>
      </p:pic>
      <p:pic>
        <p:nvPicPr>
          <p:cNvPr id="38" name="Imagen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13092" y="4293741"/>
            <a:ext cx="828370" cy="828370"/>
          </a:xfrm>
          <a:prstGeom prst="rect">
            <a:avLst/>
          </a:prstGeom>
        </p:spPr>
      </p:pic>
      <p:pic>
        <p:nvPicPr>
          <p:cNvPr id="39" name="Imagen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9267" y="4474716"/>
            <a:ext cx="828370" cy="828370"/>
          </a:xfrm>
          <a:prstGeom prst="rect">
            <a:avLst/>
          </a:prstGeom>
        </p:spPr>
      </p:pic>
      <p:pic>
        <p:nvPicPr>
          <p:cNvPr id="40" name="Imagen 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3067" y="4627116"/>
            <a:ext cx="828370" cy="828370"/>
          </a:xfrm>
          <a:prstGeom prst="rect">
            <a:avLst/>
          </a:prstGeom>
        </p:spPr>
      </p:pic>
      <p:sp>
        <p:nvSpPr>
          <p:cNvPr id="41" name="Flecha derecha 40"/>
          <p:cNvSpPr/>
          <p:nvPr/>
        </p:nvSpPr>
        <p:spPr>
          <a:xfrm>
            <a:off x="2847504" y="4438266"/>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2" name="CuadroTexto 41"/>
          <p:cNvSpPr txBox="1"/>
          <p:nvPr/>
        </p:nvSpPr>
        <p:spPr>
          <a:xfrm>
            <a:off x="906282" y="3697070"/>
            <a:ext cx="1688123" cy="369332"/>
          </a:xfrm>
          <a:prstGeom prst="rect">
            <a:avLst/>
          </a:prstGeom>
          <a:noFill/>
        </p:spPr>
        <p:txBody>
          <a:bodyPr wrap="square" rtlCol="0">
            <a:spAutoFit/>
          </a:bodyPr>
          <a:lstStyle/>
          <a:p>
            <a:pPr algn="ctr"/>
            <a:r>
              <a:rPr lang="es-US" dirty="0" smtClean="0">
                <a:effectLst>
                  <a:outerShdw blurRad="38100" dist="38100" dir="2700000" algn="tl">
                    <a:srgbClr val="000000">
                      <a:alpha val="43137"/>
                    </a:srgbClr>
                  </a:outerShdw>
                </a:effectLst>
              </a:rPr>
              <a:t>Desarrollo Web</a:t>
            </a:r>
            <a:endParaRPr lang="es-US" dirty="0">
              <a:effectLst>
                <a:outerShdw blurRad="38100" dist="38100" dir="2700000" algn="tl">
                  <a:srgbClr val="000000">
                    <a:alpha val="43137"/>
                  </a:srgbClr>
                </a:outerShdw>
              </a:effectLst>
            </a:endParaRPr>
          </a:p>
        </p:txBody>
      </p:sp>
      <p:pic>
        <p:nvPicPr>
          <p:cNvPr id="43" name="Picture 2" descr="100+] Github Logo Png Images | Wallpapers.c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6058" y="4309004"/>
            <a:ext cx="1587656" cy="576727"/>
          </a:xfrm>
          <a:prstGeom prst="rect">
            <a:avLst/>
          </a:prstGeom>
          <a:noFill/>
          <a:extLst>
            <a:ext uri="{909E8E84-426E-40DD-AFC4-6F175D3DCCD1}">
              <a14:hiddenFill xmlns:a14="http://schemas.microsoft.com/office/drawing/2010/main">
                <a:solidFill>
                  <a:srgbClr val="FFFFFF"/>
                </a:solidFill>
              </a14:hiddenFill>
            </a:ext>
          </a:extLst>
        </p:spPr>
      </p:pic>
      <p:pic>
        <p:nvPicPr>
          <p:cNvPr id="44" name="Imagen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05998" y="4316061"/>
            <a:ext cx="1749669" cy="562612"/>
          </a:xfrm>
          <a:prstGeom prst="rect">
            <a:avLst/>
          </a:prstGeom>
        </p:spPr>
      </p:pic>
      <p:sp>
        <p:nvSpPr>
          <p:cNvPr id="45" name="Flecha derecha 44"/>
          <p:cNvSpPr/>
          <p:nvPr/>
        </p:nvSpPr>
        <p:spPr>
          <a:xfrm>
            <a:off x="5191180" y="4438266"/>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6" name="Flecha derecha 45"/>
          <p:cNvSpPr/>
          <p:nvPr/>
        </p:nvSpPr>
        <p:spPr>
          <a:xfrm>
            <a:off x="7680029" y="4438266"/>
            <a:ext cx="498231" cy="31820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7" name="Rectángulo redondeado 46"/>
          <p:cNvSpPr/>
          <p:nvPr/>
        </p:nvSpPr>
        <p:spPr>
          <a:xfrm>
            <a:off x="8634046" y="3210817"/>
            <a:ext cx="3290522" cy="5370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US"/>
          </a:p>
        </p:txBody>
      </p:sp>
      <p:sp>
        <p:nvSpPr>
          <p:cNvPr id="48" name="Rectángulo redondeado 47"/>
          <p:cNvSpPr/>
          <p:nvPr/>
        </p:nvSpPr>
        <p:spPr>
          <a:xfrm>
            <a:off x="9691754" y="2442951"/>
            <a:ext cx="1230924" cy="481354"/>
          </a:xfrm>
          <a:prstGeom prst="round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49" name="Rectángulo redondeado 48"/>
          <p:cNvSpPr/>
          <p:nvPr/>
        </p:nvSpPr>
        <p:spPr>
          <a:xfrm>
            <a:off x="9069262" y="1688882"/>
            <a:ext cx="2532184" cy="49925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a:p>
        </p:txBody>
      </p:sp>
      <p:cxnSp>
        <p:nvCxnSpPr>
          <p:cNvPr id="50" name="Conector recto de flecha 49"/>
          <p:cNvCxnSpPr/>
          <p:nvPr/>
        </p:nvCxnSpPr>
        <p:spPr>
          <a:xfrm flipV="1">
            <a:off x="10592872" y="2175200"/>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Conector recto de flecha 50"/>
          <p:cNvCxnSpPr/>
          <p:nvPr/>
        </p:nvCxnSpPr>
        <p:spPr>
          <a:xfrm flipH="1">
            <a:off x="9965880" y="2175200"/>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Conector recto de flecha 51"/>
          <p:cNvCxnSpPr/>
          <p:nvPr/>
        </p:nvCxnSpPr>
        <p:spPr>
          <a:xfrm flipV="1">
            <a:off x="10592434" y="2929463"/>
            <a:ext cx="0"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Conector recto de flecha 52"/>
          <p:cNvCxnSpPr/>
          <p:nvPr/>
        </p:nvCxnSpPr>
        <p:spPr>
          <a:xfrm flipH="1">
            <a:off x="9974239" y="2929463"/>
            <a:ext cx="1" cy="281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Conector recto de flecha 53"/>
          <p:cNvCxnSpPr/>
          <p:nvPr/>
        </p:nvCxnSpPr>
        <p:spPr>
          <a:xfrm flipV="1">
            <a:off x="9575762" y="3752191"/>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Conector recto de flecha 54"/>
          <p:cNvCxnSpPr/>
          <p:nvPr/>
        </p:nvCxnSpPr>
        <p:spPr>
          <a:xfrm flipH="1">
            <a:off x="9249373" y="3752191"/>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Rectángulo 55"/>
          <p:cNvSpPr/>
          <p:nvPr/>
        </p:nvSpPr>
        <p:spPr>
          <a:xfrm>
            <a:off x="9268789" y="3305308"/>
            <a:ext cx="2310633"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ENTERPRISE SERVICE BUS</a:t>
            </a:r>
            <a:endParaRPr lang="es-ES" sz="1600" dirty="0">
              <a:ln w="0"/>
              <a:effectLst>
                <a:outerShdw blurRad="50800" dist="38100" dir="5400000" algn="t" rotWithShape="0">
                  <a:prstClr val="black">
                    <a:alpha val="40000"/>
                  </a:prstClr>
                </a:outerShdw>
              </a:effectLst>
            </a:endParaRPr>
          </a:p>
        </p:txBody>
      </p:sp>
      <p:sp>
        <p:nvSpPr>
          <p:cNvPr id="57" name="Rectángulo 56"/>
          <p:cNvSpPr/>
          <p:nvPr/>
        </p:nvSpPr>
        <p:spPr>
          <a:xfrm>
            <a:off x="9779667" y="2501148"/>
            <a:ext cx="1055097"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HTTP/XML</a:t>
            </a:r>
            <a:endParaRPr lang="es-ES" sz="1600" dirty="0">
              <a:ln w="0"/>
              <a:effectLst>
                <a:outerShdw blurRad="50800" dist="38100" dir="5400000" algn="t" rotWithShape="0">
                  <a:prstClr val="black">
                    <a:alpha val="40000"/>
                  </a:prstClr>
                </a:outerShdw>
              </a:effectLst>
            </a:endParaRPr>
          </a:p>
        </p:txBody>
      </p:sp>
      <p:sp>
        <p:nvSpPr>
          <p:cNvPr id="58" name="Rectángulo 57"/>
          <p:cNvSpPr/>
          <p:nvPr/>
        </p:nvSpPr>
        <p:spPr>
          <a:xfrm>
            <a:off x="9601628" y="1743726"/>
            <a:ext cx="1467453" cy="338554"/>
          </a:xfrm>
          <a:prstGeom prst="rect">
            <a:avLst/>
          </a:prstGeom>
          <a:noFill/>
        </p:spPr>
        <p:txBody>
          <a:bodyPr wrap="none" lIns="91440" tIns="45720" rIns="91440" bIns="45720">
            <a:spAutoFit/>
          </a:bodyPr>
          <a:lstStyle/>
          <a:p>
            <a:pPr algn="ctr"/>
            <a:r>
              <a:rPr lang="es-ES" sz="1600" dirty="0" smtClean="0">
                <a:ln w="0"/>
                <a:effectLst>
                  <a:outerShdw blurRad="50800" dist="38100" dir="5400000" algn="t" rotWithShape="0">
                    <a:prstClr val="black">
                      <a:alpha val="40000"/>
                    </a:prstClr>
                  </a:outerShdw>
                </a:effectLst>
              </a:rPr>
              <a:t>Aplicación Web</a:t>
            </a:r>
            <a:endParaRPr lang="es-ES" sz="1600" dirty="0">
              <a:ln w="0"/>
              <a:effectLst>
                <a:outerShdw blurRad="50800" dist="38100" dir="5400000" algn="t" rotWithShape="0">
                  <a:prstClr val="black">
                    <a:alpha val="40000"/>
                  </a:prstClr>
                </a:outerShdw>
              </a:effectLst>
            </a:endParaRPr>
          </a:p>
        </p:txBody>
      </p:sp>
      <p:sp>
        <p:nvSpPr>
          <p:cNvPr id="59" name="Rectángulo redondeado 58"/>
          <p:cNvSpPr/>
          <p:nvPr/>
        </p:nvSpPr>
        <p:spPr>
          <a:xfrm>
            <a:off x="8767504" y="4915572"/>
            <a:ext cx="1436235" cy="45482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dirty="0"/>
          </a:p>
        </p:txBody>
      </p:sp>
      <p:sp>
        <p:nvSpPr>
          <p:cNvPr id="60" name="Rectángulo redondeado 59"/>
          <p:cNvSpPr/>
          <p:nvPr/>
        </p:nvSpPr>
        <p:spPr>
          <a:xfrm>
            <a:off x="8913922" y="4127572"/>
            <a:ext cx="1082710" cy="442878"/>
          </a:xfrm>
          <a:prstGeom prst="round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61" name="Rectángulo 60"/>
          <p:cNvSpPr/>
          <p:nvPr/>
        </p:nvSpPr>
        <p:spPr>
          <a:xfrm>
            <a:off x="9000226" y="4196678"/>
            <a:ext cx="879343" cy="276999"/>
          </a:xfrm>
          <a:prstGeom prst="rect">
            <a:avLst/>
          </a:prstGeom>
          <a:noFill/>
        </p:spPr>
        <p:txBody>
          <a:bodyPr wrap="none" lIns="91440" tIns="45720" rIns="91440" bIns="45720">
            <a:spAutoFit/>
          </a:bodyPr>
          <a:lstStyle/>
          <a:p>
            <a:pPr algn="ctr"/>
            <a:r>
              <a:rPr lang="es-ES" sz="1200" dirty="0" smtClean="0">
                <a:ln w="0"/>
                <a:effectLst>
                  <a:outerShdw blurRad="50800" dist="38100" dir="5400000" algn="t" rotWithShape="0">
                    <a:prstClr val="black">
                      <a:alpha val="40000"/>
                    </a:prstClr>
                  </a:outerShdw>
                </a:effectLst>
              </a:rPr>
              <a:t>REST/SOAP</a:t>
            </a:r>
            <a:endParaRPr lang="es-ES" sz="1200" dirty="0">
              <a:ln w="0"/>
              <a:effectLst>
                <a:outerShdw blurRad="50800" dist="38100" dir="5400000" algn="t" rotWithShape="0">
                  <a:prstClr val="black">
                    <a:alpha val="40000"/>
                  </a:prstClr>
                </a:outerShdw>
              </a:effectLst>
            </a:endParaRPr>
          </a:p>
        </p:txBody>
      </p:sp>
      <p:sp>
        <p:nvSpPr>
          <p:cNvPr id="62" name="Rectángulo 61"/>
          <p:cNvSpPr/>
          <p:nvPr/>
        </p:nvSpPr>
        <p:spPr>
          <a:xfrm>
            <a:off x="8820399" y="4984424"/>
            <a:ext cx="1402115" cy="307777"/>
          </a:xfrm>
          <a:prstGeom prst="rect">
            <a:avLst/>
          </a:prstGeom>
          <a:noFill/>
        </p:spPr>
        <p:txBody>
          <a:bodyPr wrap="none" lIns="91440" tIns="45720" rIns="91440" bIns="45720">
            <a:spAutoFit/>
          </a:bodyPr>
          <a:lstStyle/>
          <a:p>
            <a:pPr algn="ctr"/>
            <a:r>
              <a:rPr lang="es-ES" sz="1400" dirty="0" smtClean="0">
                <a:ln w="0"/>
                <a:effectLst>
                  <a:outerShdw blurRad="50800" dist="38100" dir="5400000" algn="t" rotWithShape="0">
                    <a:prstClr val="black">
                      <a:alpha val="40000"/>
                    </a:prstClr>
                  </a:outerShdw>
                </a:effectLst>
              </a:rPr>
              <a:t>Servicio Créditos</a:t>
            </a:r>
            <a:endParaRPr lang="es-ES" sz="1400" dirty="0">
              <a:ln w="0"/>
              <a:effectLst>
                <a:outerShdw blurRad="50800" dist="38100" dir="5400000" algn="t" rotWithShape="0">
                  <a:prstClr val="black">
                    <a:alpha val="40000"/>
                  </a:prstClr>
                </a:outerShdw>
              </a:effectLst>
            </a:endParaRPr>
          </a:p>
        </p:txBody>
      </p:sp>
      <p:cxnSp>
        <p:nvCxnSpPr>
          <p:cNvPr id="63" name="Conector recto de flecha 62"/>
          <p:cNvCxnSpPr/>
          <p:nvPr/>
        </p:nvCxnSpPr>
        <p:spPr>
          <a:xfrm flipV="1">
            <a:off x="9623122" y="4558049"/>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4" name="Conector recto de flecha 63"/>
          <p:cNvCxnSpPr/>
          <p:nvPr/>
        </p:nvCxnSpPr>
        <p:spPr>
          <a:xfrm flipH="1">
            <a:off x="9296733" y="4558049"/>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Conector recto de flecha 64"/>
          <p:cNvCxnSpPr/>
          <p:nvPr/>
        </p:nvCxnSpPr>
        <p:spPr>
          <a:xfrm flipV="1">
            <a:off x="11361924" y="3765857"/>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Conector recto de flecha 65"/>
          <p:cNvCxnSpPr/>
          <p:nvPr/>
        </p:nvCxnSpPr>
        <p:spPr>
          <a:xfrm flipH="1">
            <a:off x="11035535" y="3765857"/>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Rectángulo redondeado 66"/>
          <p:cNvSpPr/>
          <p:nvPr/>
        </p:nvSpPr>
        <p:spPr>
          <a:xfrm>
            <a:off x="10530126" y="4912123"/>
            <a:ext cx="1362375" cy="45827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US" dirty="0"/>
          </a:p>
        </p:txBody>
      </p:sp>
      <p:sp>
        <p:nvSpPr>
          <p:cNvPr id="68" name="Rectángulo redondeado 67"/>
          <p:cNvSpPr/>
          <p:nvPr/>
        </p:nvSpPr>
        <p:spPr>
          <a:xfrm>
            <a:off x="10733779" y="4149820"/>
            <a:ext cx="1064699" cy="406346"/>
          </a:xfrm>
          <a:prstGeom prst="round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s-US"/>
          </a:p>
        </p:txBody>
      </p:sp>
      <p:sp>
        <p:nvSpPr>
          <p:cNvPr id="69" name="Rectángulo 68"/>
          <p:cNvSpPr/>
          <p:nvPr/>
        </p:nvSpPr>
        <p:spPr>
          <a:xfrm>
            <a:off x="10845545" y="4209076"/>
            <a:ext cx="879344" cy="276999"/>
          </a:xfrm>
          <a:prstGeom prst="rect">
            <a:avLst/>
          </a:prstGeom>
          <a:noFill/>
        </p:spPr>
        <p:txBody>
          <a:bodyPr wrap="none" lIns="91440" tIns="45720" rIns="91440" bIns="45720">
            <a:spAutoFit/>
          </a:bodyPr>
          <a:lstStyle/>
          <a:p>
            <a:pPr algn="ctr"/>
            <a:r>
              <a:rPr lang="es-ES" sz="1200" dirty="0" smtClean="0">
                <a:ln w="0"/>
                <a:effectLst>
                  <a:outerShdw blurRad="50800" dist="38100" dir="5400000" algn="t" rotWithShape="0">
                    <a:prstClr val="black">
                      <a:alpha val="40000"/>
                    </a:prstClr>
                  </a:outerShdw>
                </a:effectLst>
              </a:rPr>
              <a:t>REST/SOAP</a:t>
            </a:r>
            <a:endParaRPr lang="es-ES" sz="1200" dirty="0">
              <a:ln w="0"/>
              <a:effectLst>
                <a:outerShdw blurRad="50800" dist="38100" dir="5400000" algn="t" rotWithShape="0">
                  <a:prstClr val="black">
                    <a:alpha val="40000"/>
                  </a:prstClr>
                </a:outerShdw>
              </a:effectLst>
            </a:endParaRPr>
          </a:p>
        </p:txBody>
      </p:sp>
      <p:sp>
        <p:nvSpPr>
          <p:cNvPr id="70" name="Rectángulo 69"/>
          <p:cNvSpPr/>
          <p:nvPr/>
        </p:nvSpPr>
        <p:spPr>
          <a:xfrm>
            <a:off x="10579271" y="4979834"/>
            <a:ext cx="1287660" cy="307777"/>
          </a:xfrm>
          <a:prstGeom prst="rect">
            <a:avLst/>
          </a:prstGeom>
          <a:noFill/>
        </p:spPr>
        <p:txBody>
          <a:bodyPr wrap="none" lIns="91440" tIns="45720" rIns="91440" bIns="45720">
            <a:spAutoFit/>
          </a:bodyPr>
          <a:lstStyle/>
          <a:p>
            <a:pPr algn="ctr"/>
            <a:r>
              <a:rPr lang="es-ES" sz="1400" dirty="0" smtClean="0">
                <a:ln w="0"/>
                <a:effectLst>
                  <a:outerShdw blurRad="50800" dist="38100" dir="5400000" algn="t" rotWithShape="0">
                    <a:prstClr val="black">
                      <a:alpha val="40000"/>
                    </a:prstClr>
                  </a:outerShdw>
                </a:effectLst>
              </a:rPr>
              <a:t>Servicio Ventas</a:t>
            </a:r>
            <a:endParaRPr lang="es-ES" sz="1400" dirty="0">
              <a:ln w="0"/>
              <a:effectLst>
                <a:outerShdw blurRad="50800" dist="38100" dir="5400000" algn="t" rotWithShape="0">
                  <a:prstClr val="black">
                    <a:alpha val="40000"/>
                  </a:prstClr>
                </a:outerShdw>
              </a:effectLst>
            </a:endParaRPr>
          </a:p>
        </p:txBody>
      </p:sp>
      <p:cxnSp>
        <p:nvCxnSpPr>
          <p:cNvPr id="71" name="Conector recto de flecha 70"/>
          <p:cNvCxnSpPr/>
          <p:nvPr/>
        </p:nvCxnSpPr>
        <p:spPr>
          <a:xfrm flipV="1">
            <a:off x="11409045" y="4558049"/>
            <a:ext cx="0"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2" name="Conector recto de flecha 71"/>
          <p:cNvCxnSpPr/>
          <p:nvPr/>
        </p:nvCxnSpPr>
        <p:spPr>
          <a:xfrm flipH="1">
            <a:off x="11082656" y="4558049"/>
            <a:ext cx="1" cy="357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057280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¿Qué es </a:t>
            </a:r>
            <a:r>
              <a:rPr lang="es-US" dirty="0" err="1" smtClean="0"/>
              <a:t>DevOps</a:t>
            </a:r>
            <a:r>
              <a:rPr lang="es-US" dirty="0" smtClean="0"/>
              <a:t>?</a:t>
            </a:r>
            <a:endParaRPr lang="es-US" dirty="0"/>
          </a:p>
        </p:txBody>
      </p:sp>
      <p:sp>
        <p:nvSpPr>
          <p:cNvPr id="3" name="Marcador de contenido 2"/>
          <p:cNvSpPr>
            <a:spLocks noGrp="1"/>
          </p:cNvSpPr>
          <p:nvPr>
            <p:ph idx="1"/>
          </p:nvPr>
        </p:nvSpPr>
        <p:spPr>
          <a:xfrm>
            <a:off x="838200" y="1825625"/>
            <a:ext cx="10515600" cy="2266084"/>
          </a:xfrm>
        </p:spPr>
        <p:txBody>
          <a:bodyPr/>
          <a:lstStyle/>
          <a:p>
            <a:pPr marL="0" indent="0">
              <a:buNone/>
            </a:pPr>
            <a:r>
              <a:rPr lang="es-US" sz="3600" b="1" dirty="0" smtClean="0"/>
              <a:t>Definición formal</a:t>
            </a:r>
          </a:p>
          <a:p>
            <a:pPr marL="0" indent="0">
              <a:buNone/>
            </a:pPr>
            <a:r>
              <a:rPr lang="es-US" dirty="0" err="1" smtClean="0"/>
              <a:t>DevOps</a:t>
            </a:r>
            <a:r>
              <a:rPr lang="es-US" dirty="0" smtClean="0"/>
              <a:t> (</a:t>
            </a:r>
            <a:r>
              <a:rPr lang="es-US" dirty="0" err="1" smtClean="0"/>
              <a:t>Development</a:t>
            </a:r>
            <a:r>
              <a:rPr lang="es-US" dirty="0" smtClean="0"/>
              <a:t> </a:t>
            </a:r>
            <a:r>
              <a:rPr lang="es-US" dirty="0" err="1" smtClean="0"/>
              <a:t>Operations</a:t>
            </a:r>
            <a:r>
              <a:rPr lang="es-US" dirty="0" smtClean="0"/>
              <a:t>). Es un práctica de ingeniería de software que tiene como objetivo unificar el desarrollo de software (</a:t>
            </a:r>
            <a:r>
              <a:rPr lang="es-US" dirty="0" err="1"/>
              <a:t>D</a:t>
            </a:r>
            <a:r>
              <a:rPr lang="es-US" dirty="0" err="1" smtClean="0"/>
              <a:t>ev</a:t>
            </a:r>
            <a:r>
              <a:rPr lang="es-US" dirty="0" smtClean="0"/>
              <a:t>) y la operación del software en la infraestructura que la contiene (</a:t>
            </a:r>
            <a:r>
              <a:rPr lang="es-US" dirty="0" err="1" smtClean="0"/>
              <a:t>Ops</a:t>
            </a:r>
            <a:r>
              <a:rPr lang="es-US" dirty="0" smtClean="0"/>
              <a:t>)</a:t>
            </a:r>
            <a:endParaRPr lang="es-US" dirty="0"/>
          </a:p>
        </p:txBody>
      </p:sp>
      <p:pic>
        <p:nvPicPr>
          <p:cNvPr id="4" name="Imagen 3"/>
          <p:cNvPicPr>
            <a:picLocks noChangeAspect="1"/>
          </p:cNvPicPr>
          <p:nvPr/>
        </p:nvPicPr>
        <p:blipFill>
          <a:blip r:embed="rId2"/>
          <a:stretch>
            <a:fillRect/>
          </a:stretch>
        </p:blipFill>
        <p:spPr>
          <a:xfrm>
            <a:off x="3307333" y="3875664"/>
            <a:ext cx="4996158" cy="2631428"/>
          </a:xfrm>
          <a:prstGeom prst="rect">
            <a:avLst/>
          </a:prstGeom>
        </p:spPr>
      </p:pic>
    </p:spTree>
    <p:extLst>
      <p:ext uri="{BB962C8B-B14F-4D97-AF65-F5344CB8AC3E}">
        <p14:creationId xmlns:p14="http://schemas.microsoft.com/office/powerpoint/2010/main" val="33540888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817130"/>
          </a:xfrm>
        </p:spPr>
        <p:txBody>
          <a:bodyPr/>
          <a:lstStyle/>
          <a:p>
            <a:r>
              <a:rPr lang="es-US" dirty="0" err="1" smtClean="0"/>
              <a:t>DevOps</a:t>
            </a:r>
            <a:endParaRPr lang="es-US" dirty="0"/>
          </a:p>
        </p:txBody>
      </p:sp>
      <p:sp>
        <p:nvSpPr>
          <p:cNvPr id="5" name="Elipse 4"/>
          <p:cNvSpPr/>
          <p:nvPr/>
        </p:nvSpPr>
        <p:spPr>
          <a:xfrm>
            <a:off x="4239022" y="1390430"/>
            <a:ext cx="2419927" cy="1662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Creencias</a:t>
            </a:r>
            <a:endParaRPr lang="es-US" dirty="0"/>
          </a:p>
        </p:txBody>
      </p:sp>
      <p:sp>
        <p:nvSpPr>
          <p:cNvPr id="6" name="Elipse 5"/>
          <p:cNvSpPr/>
          <p:nvPr/>
        </p:nvSpPr>
        <p:spPr>
          <a:xfrm>
            <a:off x="7541928" y="3088555"/>
            <a:ext cx="2517843" cy="15697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Herramientas</a:t>
            </a:r>
            <a:endParaRPr lang="es-US" dirty="0"/>
          </a:p>
        </p:txBody>
      </p:sp>
      <p:sp>
        <p:nvSpPr>
          <p:cNvPr id="7" name="Elipse 6"/>
          <p:cNvSpPr/>
          <p:nvPr/>
        </p:nvSpPr>
        <p:spPr>
          <a:xfrm>
            <a:off x="1145309" y="3070841"/>
            <a:ext cx="2249053" cy="15697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Conocimientos</a:t>
            </a:r>
            <a:endParaRPr lang="es-US" dirty="0"/>
          </a:p>
        </p:txBody>
      </p:sp>
      <p:sp>
        <p:nvSpPr>
          <p:cNvPr id="8" name="Elipse 7"/>
          <p:cNvSpPr/>
          <p:nvPr/>
        </p:nvSpPr>
        <p:spPr>
          <a:xfrm>
            <a:off x="4284734" y="4806085"/>
            <a:ext cx="2309091" cy="15762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Procedimientos</a:t>
            </a:r>
            <a:endParaRPr lang="es-US" dirty="0"/>
          </a:p>
        </p:txBody>
      </p:sp>
      <p:sp>
        <p:nvSpPr>
          <p:cNvPr id="9" name="Rectángulo 8"/>
          <p:cNvSpPr/>
          <p:nvPr/>
        </p:nvSpPr>
        <p:spPr>
          <a:xfrm>
            <a:off x="4106487" y="3394051"/>
            <a:ext cx="2798138" cy="923330"/>
          </a:xfrm>
          <a:prstGeom prst="rect">
            <a:avLst/>
          </a:prstGeom>
          <a:noFill/>
        </p:spPr>
        <p:txBody>
          <a:bodyPr wrap="none" lIns="91440" tIns="45720" rIns="91440" bIns="45720">
            <a:spAutoFit/>
          </a:bodyPr>
          <a:lstStyle/>
          <a:p>
            <a:pPr algn="ctr"/>
            <a:r>
              <a:rPr lang="es-ES" sz="5400" b="0" cap="none" spc="0" dirty="0" smtClean="0">
                <a:ln w="0"/>
                <a:solidFill>
                  <a:schemeClr val="tx1"/>
                </a:solidFill>
                <a:effectLst>
                  <a:outerShdw blurRad="38100" dist="19050" dir="2700000" algn="tl" rotWithShape="0">
                    <a:schemeClr val="dk1">
                      <a:alpha val="40000"/>
                    </a:schemeClr>
                  </a:outerShdw>
                </a:effectLst>
              </a:rPr>
              <a:t>CULTURA</a:t>
            </a:r>
            <a:endParaRPr lang="es-E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49850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¿Por qué necesitamos </a:t>
            </a:r>
            <a:r>
              <a:rPr lang="es-US" dirty="0" err="1" smtClean="0"/>
              <a:t>DevOps</a:t>
            </a:r>
            <a:r>
              <a:rPr lang="es-US" dirty="0" smtClean="0"/>
              <a:t>?</a:t>
            </a:r>
            <a:endParaRPr lang="es-US" dirty="0"/>
          </a:p>
        </p:txBody>
      </p:sp>
      <p:sp>
        <p:nvSpPr>
          <p:cNvPr id="3" name="Marcador de contenido 2"/>
          <p:cNvSpPr>
            <a:spLocks noGrp="1"/>
          </p:cNvSpPr>
          <p:nvPr>
            <p:ph idx="1"/>
          </p:nvPr>
        </p:nvSpPr>
        <p:spPr>
          <a:xfrm>
            <a:off x="838200" y="1825625"/>
            <a:ext cx="10515600" cy="3993284"/>
          </a:xfrm>
        </p:spPr>
        <p:txBody>
          <a:bodyPr>
            <a:normAutofit fontScale="92500" lnSpcReduction="10000"/>
          </a:bodyPr>
          <a:lstStyle/>
          <a:p>
            <a:r>
              <a:rPr lang="es-US" sz="3600" dirty="0" smtClean="0"/>
              <a:t>Software de Calidad</a:t>
            </a:r>
          </a:p>
          <a:p>
            <a:r>
              <a:rPr lang="es-US" sz="3600" dirty="0" smtClean="0"/>
              <a:t>Superar las expectativas del cliente</a:t>
            </a:r>
          </a:p>
          <a:p>
            <a:r>
              <a:rPr lang="es-US" sz="3600" dirty="0" smtClean="0"/>
              <a:t>Software que sea usable</a:t>
            </a:r>
          </a:p>
          <a:p>
            <a:r>
              <a:rPr lang="es-US" sz="3600" dirty="0" smtClean="0"/>
              <a:t>Que se entregue a tiempo</a:t>
            </a:r>
          </a:p>
          <a:p>
            <a:r>
              <a:rPr lang="es-US" sz="3600" dirty="0" smtClean="0"/>
              <a:t>Es una disciplina que toca a todos: Desarrolladores, Arquitectos de Sistemas, </a:t>
            </a:r>
            <a:r>
              <a:rPr lang="es-US" sz="3600" dirty="0" err="1" smtClean="0"/>
              <a:t>Testers</a:t>
            </a:r>
            <a:r>
              <a:rPr lang="es-US" sz="3600" dirty="0" smtClean="0"/>
              <a:t>/QA, </a:t>
            </a:r>
            <a:r>
              <a:rPr lang="es-US" sz="3600" dirty="0" err="1" smtClean="0"/>
              <a:t>Ingenierios</a:t>
            </a:r>
            <a:r>
              <a:rPr lang="es-US" sz="3600" dirty="0" smtClean="0"/>
              <a:t> de Operaciones, Analistas de Seguridad, UX, Analistas de Negocio.</a:t>
            </a:r>
          </a:p>
          <a:p>
            <a:endParaRPr lang="es-US" sz="3600" dirty="0" smtClean="0"/>
          </a:p>
        </p:txBody>
      </p:sp>
    </p:spTree>
    <p:extLst>
      <p:ext uri="{BB962C8B-B14F-4D97-AF65-F5344CB8AC3E}">
        <p14:creationId xmlns:p14="http://schemas.microsoft.com/office/powerpoint/2010/main" val="6469584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lipse 4"/>
          <p:cNvSpPr/>
          <p:nvPr/>
        </p:nvSpPr>
        <p:spPr>
          <a:xfrm>
            <a:off x="888650" y="1435234"/>
            <a:ext cx="2292556" cy="1286092"/>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Estabilidad</a:t>
            </a:r>
            <a:endParaRPr lang="es-US" dirty="0"/>
          </a:p>
        </p:txBody>
      </p:sp>
      <p:sp>
        <p:nvSpPr>
          <p:cNvPr id="6" name="Elipse 5"/>
          <p:cNvSpPr/>
          <p:nvPr/>
        </p:nvSpPr>
        <p:spPr>
          <a:xfrm>
            <a:off x="8014801" y="1471469"/>
            <a:ext cx="2209862" cy="1213623"/>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Disponibilidad</a:t>
            </a:r>
            <a:endParaRPr lang="es-US" dirty="0"/>
          </a:p>
        </p:txBody>
      </p:sp>
      <p:sp>
        <p:nvSpPr>
          <p:cNvPr id="7" name="Elipse 6"/>
          <p:cNvSpPr/>
          <p:nvPr/>
        </p:nvSpPr>
        <p:spPr>
          <a:xfrm>
            <a:off x="1193572" y="4823600"/>
            <a:ext cx="1987635" cy="123133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Fiabilidad</a:t>
            </a:r>
            <a:endParaRPr lang="es-US" dirty="0"/>
          </a:p>
        </p:txBody>
      </p:sp>
      <p:sp>
        <p:nvSpPr>
          <p:cNvPr id="8" name="Elipse 7"/>
          <p:cNvSpPr/>
          <p:nvPr/>
        </p:nvSpPr>
        <p:spPr>
          <a:xfrm>
            <a:off x="8014801" y="4849965"/>
            <a:ext cx="2201707" cy="1204971"/>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dirty="0" smtClean="0"/>
              <a:t>Seguridad</a:t>
            </a:r>
            <a:endParaRPr lang="es-US" dirty="0"/>
          </a:p>
        </p:txBody>
      </p:sp>
      <p:pic>
        <p:nvPicPr>
          <p:cNvPr id="13314" name="Picture 2" descr="El futuro de DevOps: Continuous Delivery vs. Site Reliability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0939" y="2685092"/>
            <a:ext cx="4194129" cy="2376674"/>
          </a:xfrm>
          <a:prstGeom prst="rect">
            <a:avLst/>
          </a:prstGeom>
          <a:noFill/>
          <a:extLst>
            <a:ext uri="{909E8E84-426E-40DD-AFC4-6F175D3DCCD1}">
              <a14:hiddenFill xmlns:a14="http://schemas.microsoft.com/office/drawing/2010/main">
                <a:solidFill>
                  <a:srgbClr val="FFFFFF"/>
                </a:solidFill>
              </a14:hiddenFill>
            </a:ext>
          </a:extLst>
        </p:spPr>
      </p:pic>
      <p:sp>
        <p:nvSpPr>
          <p:cNvPr id="10" name="Título 1"/>
          <p:cNvSpPr txBox="1">
            <a:spLocks/>
          </p:cNvSpPr>
          <p:nvPr/>
        </p:nvSpPr>
        <p:spPr>
          <a:xfrm>
            <a:off x="888650" y="27709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US" dirty="0" smtClean="0"/>
              <a:t>¿Por qué necesitamos </a:t>
            </a:r>
            <a:r>
              <a:rPr lang="es-US" dirty="0" err="1" smtClean="0"/>
              <a:t>DevOps</a:t>
            </a:r>
            <a:r>
              <a:rPr lang="es-US" dirty="0" smtClean="0"/>
              <a:t>?</a:t>
            </a:r>
            <a:endParaRPr lang="es-US" dirty="0"/>
          </a:p>
        </p:txBody>
      </p:sp>
    </p:spTree>
    <p:extLst>
      <p:ext uri="{BB962C8B-B14F-4D97-AF65-F5344CB8AC3E}">
        <p14:creationId xmlns:p14="http://schemas.microsoft.com/office/powerpoint/2010/main" val="32738257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Principios de </a:t>
            </a:r>
            <a:r>
              <a:rPr lang="es-US" dirty="0" err="1" smtClean="0"/>
              <a:t>DevOps</a:t>
            </a:r>
            <a:endParaRPr lang="es-US" dirty="0"/>
          </a:p>
        </p:txBody>
      </p:sp>
      <p:sp>
        <p:nvSpPr>
          <p:cNvPr id="6" name="Datos 5"/>
          <p:cNvSpPr/>
          <p:nvPr/>
        </p:nvSpPr>
        <p:spPr>
          <a:xfrm>
            <a:off x="3927423" y="2263515"/>
            <a:ext cx="4337154" cy="959370"/>
          </a:xfrm>
          <a:prstGeom prst="flowChartInputOutput">
            <a:avLst/>
          </a:prstGeom>
          <a:solidFill>
            <a:schemeClr val="accent5">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sz="2400" dirty="0" smtClean="0">
                <a:solidFill>
                  <a:sysClr val="windowText" lastClr="000000"/>
                </a:solidFill>
              </a:rPr>
              <a:t>Retroalimentación</a:t>
            </a:r>
            <a:endParaRPr lang="es-US" sz="1100" dirty="0">
              <a:solidFill>
                <a:sysClr val="windowText" lastClr="000000"/>
              </a:solidFill>
            </a:endParaRPr>
          </a:p>
        </p:txBody>
      </p:sp>
      <p:sp>
        <p:nvSpPr>
          <p:cNvPr id="7" name="Datos 6"/>
          <p:cNvSpPr/>
          <p:nvPr/>
        </p:nvSpPr>
        <p:spPr>
          <a:xfrm>
            <a:off x="7854846" y="2263515"/>
            <a:ext cx="4337154" cy="959370"/>
          </a:xfrm>
          <a:prstGeom prst="flowChartInputOutput">
            <a:avLst/>
          </a:prstGeom>
          <a:solidFill>
            <a:schemeClr val="accent5">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sz="2400" dirty="0" smtClean="0">
                <a:solidFill>
                  <a:sysClr val="windowText" lastClr="000000"/>
                </a:solidFill>
              </a:rPr>
              <a:t>Mejora continua</a:t>
            </a:r>
            <a:endParaRPr lang="es-US" sz="1100" dirty="0">
              <a:solidFill>
                <a:sysClr val="windowText" lastClr="000000"/>
              </a:solidFill>
            </a:endParaRPr>
          </a:p>
        </p:txBody>
      </p:sp>
      <p:sp>
        <p:nvSpPr>
          <p:cNvPr id="8" name="Datos 7"/>
          <p:cNvSpPr/>
          <p:nvPr/>
        </p:nvSpPr>
        <p:spPr>
          <a:xfrm>
            <a:off x="0" y="2263515"/>
            <a:ext cx="4337154" cy="959370"/>
          </a:xfrm>
          <a:prstGeom prst="flowChartInputOutput">
            <a:avLst/>
          </a:prstGeom>
          <a:solidFill>
            <a:schemeClr val="accent5">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US" sz="2400" dirty="0" smtClean="0">
                <a:solidFill>
                  <a:sysClr val="windowText" lastClr="000000"/>
                </a:solidFill>
              </a:rPr>
              <a:t>Flujo</a:t>
            </a:r>
            <a:endParaRPr lang="es-US" sz="1100" dirty="0">
              <a:solidFill>
                <a:sysClr val="windowText" lastClr="000000"/>
              </a:solidFill>
            </a:endParaRPr>
          </a:p>
        </p:txBody>
      </p:sp>
      <p:sp>
        <p:nvSpPr>
          <p:cNvPr id="9" name="CuadroTexto 8"/>
          <p:cNvSpPr txBox="1"/>
          <p:nvPr/>
        </p:nvSpPr>
        <p:spPr>
          <a:xfrm>
            <a:off x="134911" y="3552669"/>
            <a:ext cx="3507699" cy="1477328"/>
          </a:xfrm>
          <a:prstGeom prst="rect">
            <a:avLst/>
          </a:prstGeom>
          <a:noFill/>
        </p:spPr>
        <p:txBody>
          <a:bodyPr wrap="square" rtlCol="0">
            <a:spAutoFit/>
          </a:bodyPr>
          <a:lstStyle/>
          <a:p>
            <a:r>
              <a:rPr lang="es-US" dirty="0" smtClean="0"/>
              <a:t>Crear productos con rapidez y de calidad</a:t>
            </a:r>
          </a:p>
          <a:p>
            <a:pPr marL="285750" indent="-285750">
              <a:buFont typeface="Arial" panose="020B0604020202020204" pitchFamily="34" charset="0"/>
              <a:buChar char="•"/>
            </a:pPr>
            <a:r>
              <a:rPr lang="es-US" dirty="0" smtClean="0"/>
              <a:t>Integración Continua</a:t>
            </a:r>
          </a:p>
          <a:p>
            <a:pPr marL="285750" indent="-285750">
              <a:buFont typeface="Arial" panose="020B0604020202020204" pitchFamily="34" charset="0"/>
              <a:buChar char="•"/>
            </a:pPr>
            <a:r>
              <a:rPr lang="es-US" dirty="0" smtClean="0"/>
              <a:t>Entrega Continua</a:t>
            </a:r>
          </a:p>
          <a:p>
            <a:pPr marL="285750" indent="-285750">
              <a:buFont typeface="Arial" panose="020B0604020202020204" pitchFamily="34" charset="0"/>
              <a:buChar char="•"/>
            </a:pPr>
            <a:r>
              <a:rPr lang="es-US" dirty="0" smtClean="0"/>
              <a:t>Despliegue Continuo</a:t>
            </a:r>
            <a:endParaRPr lang="es-US" dirty="0"/>
          </a:p>
        </p:txBody>
      </p:sp>
      <p:sp>
        <p:nvSpPr>
          <p:cNvPr id="10" name="CuadroTexto 9"/>
          <p:cNvSpPr txBox="1"/>
          <p:nvPr/>
        </p:nvSpPr>
        <p:spPr>
          <a:xfrm>
            <a:off x="4139783" y="3552669"/>
            <a:ext cx="3507699" cy="923330"/>
          </a:xfrm>
          <a:prstGeom prst="rect">
            <a:avLst/>
          </a:prstGeom>
          <a:noFill/>
        </p:spPr>
        <p:txBody>
          <a:bodyPr wrap="square" rtlCol="0">
            <a:spAutoFit/>
          </a:bodyPr>
          <a:lstStyle/>
          <a:p>
            <a:pPr marL="285750" indent="-285750">
              <a:buFont typeface="Arial" panose="020B0604020202020204" pitchFamily="34" charset="0"/>
              <a:buChar char="•"/>
            </a:pPr>
            <a:r>
              <a:rPr lang="es-US" dirty="0" smtClean="0"/>
              <a:t>Medir el negocio, la infraestructura, el rendimiento y la seguridad</a:t>
            </a:r>
            <a:endParaRPr lang="es-US" dirty="0"/>
          </a:p>
        </p:txBody>
      </p:sp>
      <p:sp>
        <p:nvSpPr>
          <p:cNvPr id="11" name="CuadroTexto 10"/>
          <p:cNvSpPr txBox="1"/>
          <p:nvPr/>
        </p:nvSpPr>
        <p:spPr>
          <a:xfrm>
            <a:off x="8269573" y="3552669"/>
            <a:ext cx="3507699" cy="1477328"/>
          </a:xfrm>
          <a:prstGeom prst="rect">
            <a:avLst/>
          </a:prstGeom>
          <a:noFill/>
        </p:spPr>
        <p:txBody>
          <a:bodyPr wrap="square" rtlCol="0">
            <a:spAutoFit/>
          </a:bodyPr>
          <a:lstStyle/>
          <a:p>
            <a:pPr marL="285750" indent="-285750">
              <a:buFont typeface="Arial" panose="020B0604020202020204" pitchFamily="34" charset="0"/>
              <a:buChar char="•"/>
            </a:pPr>
            <a:r>
              <a:rPr lang="es-US" dirty="0" smtClean="0"/>
              <a:t>Incentivar la curiosidad y aprendizaje</a:t>
            </a:r>
          </a:p>
          <a:p>
            <a:pPr marL="285750" indent="-285750">
              <a:buFont typeface="Arial" panose="020B0604020202020204" pitchFamily="34" charset="0"/>
              <a:buChar char="•"/>
            </a:pPr>
            <a:r>
              <a:rPr lang="es-US" dirty="0" smtClean="0"/>
              <a:t>Promover experimentación honestidad, respeto y resiliencia</a:t>
            </a:r>
          </a:p>
          <a:p>
            <a:pPr marL="285750" indent="-285750">
              <a:buFont typeface="Arial" panose="020B0604020202020204" pitchFamily="34" charset="0"/>
              <a:buChar char="•"/>
            </a:pPr>
            <a:r>
              <a:rPr lang="es-US" dirty="0" smtClean="0"/>
              <a:t>Incentivar autocrítica</a:t>
            </a:r>
            <a:endParaRPr lang="es-US" dirty="0"/>
          </a:p>
        </p:txBody>
      </p:sp>
    </p:spTree>
    <p:extLst>
      <p:ext uri="{BB962C8B-B14F-4D97-AF65-F5344CB8AC3E}">
        <p14:creationId xmlns:p14="http://schemas.microsoft.com/office/powerpoint/2010/main" val="28331336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Referencias</a:t>
            </a:r>
            <a:endParaRPr lang="es-US" dirty="0"/>
          </a:p>
        </p:txBody>
      </p:sp>
      <p:sp>
        <p:nvSpPr>
          <p:cNvPr id="3" name="Marcador de contenido 2"/>
          <p:cNvSpPr>
            <a:spLocks noGrp="1"/>
          </p:cNvSpPr>
          <p:nvPr>
            <p:ph idx="1"/>
          </p:nvPr>
        </p:nvSpPr>
        <p:spPr>
          <a:xfrm>
            <a:off x="838200" y="1825625"/>
            <a:ext cx="10515600" cy="3993284"/>
          </a:xfrm>
        </p:spPr>
        <p:txBody>
          <a:bodyPr>
            <a:normAutofit fontScale="77500" lnSpcReduction="20000"/>
          </a:bodyPr>
          <a:lstStyle/>
          <a:p>
            <a:pPr marL="0" indent="0">
              <a:buNone/>
            </a:pPr>
            <a:r>
              <a:rPr lang="es-US" sz="3600" dirty="0" smtClean="0"/>
              <a:t>Personas que contribuyeron a consolidar </a:t>
            </a:r>
            <a:r>
              <a:rPr lang="es-US" sz="3600" dirty="0" err="1" smtClean="0"/>
              <a:t>DevOps</a:t>
            </a:r>
            <a:endParaRPr lang="es-US" sz="3600" dirty="0" smtClean="0"/>
          </a:p>
          <a:p>
            <a:r>
              <a:rPr lang="es-US" sz="3600" dirty="0" smtClean="0"/>
              <a:t>Patrick </a:t>
            </a:r>
            <a:r>
              <a:rPr lang="es-US" sz="3600" dirty="0" err="1" smtClean="0"/>
              <a:t>Debois</a:t>
            </a:r>
            <a:endParaRPr lang="es-US" sz="3600" dirty="0" smtClean="0"/>
          </a:p>
          <a:p>
            <a:r>
              <a:rPr lang="es-US" sz="3600" dirty="0" smtClean="0"/>
              <a:t>John Willis</a:t>
            </a:r>
          </a:p>
          <a:p>
            <a:r>
              <a:rPr lang="es-US" sz="3600" dirty="0" smtClean="0"/>
              <a:t>Gene Kim</a:t>
            </a:r>
          </a:p>
          <a:p>
            <a:r>
              <a:rPr lang="es-US" sz="3600" dirty="0" smtClean="0"/>
              <a:t>Damon  Edwards</a:t>
            </a:r>
          </a:p>
          <a:p>
            <a:r>
              <a:rPr lang="es-US" sz="3600" dirty="0" err="1" smtClean="0"/>
              <a:t>Been</a:t>
            </a:r>
            <a:r>
              <a:rPr lang="es-US" sz="3600" dirty="0" smtClean="0"/>
              <a:t> </a:t>
            </a:r>
            <a:r>
              <a:rPr lang="es-US" sz="3600" dirty="0" err="1"/>
              <a:t>Rockwood</a:t>
            </a:r>
            <a:endParaRPr lang="es-US" sz="3600" dirty="0"/>
          </a:p>
          <a:p>
            <a:r>
              <a:rPr lang="es-US" sz="3600" dirty="0" smtClean="0"/>
              <a:t> </a:t>
            </a:r>
            <a:r>
              <a:rPr lang="es-US" sz="3600" dirty="0" err="1" smtClean="0"/>
              <a:t>Jez</a:t>
            </a:r>
            <a:r>
              <a:rPr lang="es-US" sz="3600" dirty="0" smtClean="0"/>
              <a:t> </a:t>
            </a:r>
            <a:r>
              <a:rPr lang="es-US" sz="3600" dirty="0" err="1" smtClean="0"/>
              <a:t>Humble</a:t>
            </a:r>
            <a:endParaRPr lang="es-US" sz="3600" dirty="0" smtClean="0"/>
          </a:p>
          <a:p>
            <a:r>
              <a:rPr lang="es-US" sz="3600" dirty="0" smtClean="0"/>
              <a:t>John </a:t>
            </a:r>
            <a:r>
              <a:rPr lang="es-US" sz="3600" dirty="0" err="1" smtClean="0"/>
              <a:t>Allspaw</a:t>
            </a:r>
            <a:endParaRPr lang="es-US" sz="3600" dirty="0" smtClean="0"/>
          </a:p>
          <a:p>
            <a:r>
              <a:rPr lang="es-US" sz="3600" dirty="0" err="1" smtClean="0"/>
              <a:t>Adrian</a:t>
            </a:r>
            <a:r>
              <a:rPr lang="es-US" sz="3600" dirty="0" smtClean="0"/>
              <a:t> </a:t>
            </a:r>
            <a:r>
              <a:rPr lang="es-US" sz="3600" dirty="0" err="1" smtClean="0"/>
              <a:t>Cockcroft</a:t>
            </a:r>
            <a:endParaRPr lang="es-US" sz="3600" dirty="0" smtClean="0"/>
          </a:p>
          <a:p>
            <a:endParaRPr lang="es-US" sz="3600" dirty="0" smtClean="0"/>
          </a:p>
        </p:txBody>
      </p:sp>
    </p:spTree>
    <p:extLst>
      <p:ext uri="{BB962C8B-B14F-4D97-AF65-F5344CB8AC3E}">
        <p14:creationId xmlns:p14="http://schemas.microsoft.com/office/powerpoint/2010/main" val="18244886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Referencias</a:t>
            </a:r>
            <a:endParaRPr lang="es-US" dirty="0"/>
          </a:p>
        </p:txBody>
      </p:sp>
      <p:sp>
        <p:nvSpPr>
          <p:cNvPr id="3" name="Marcador de contenido 2"/>
          <p:cNvSpPr>
            <a:spLocks noGrp="1"/>
          </p:cNvSpPr>
          <p:nvPr>
            <p:ph idx="1"/>
          </p:nvPr>
        </p:nvSpPr>
        <p:spPr>
          <a:xfrm>
            <a:off x="838200" y="1825625"/>
            <a:ext cx="10515600" cy="3993284"/>
          </a:xfrm>
        </p:spPr>
        <p:txBody>
          <a:bodyPr>
            <a:normAutofit lnSpcReduction="10000"/>
          </a:bodyPr>
          <a:lstStyle/>
          <a:p>
            <a:pPr marL="0" indent="0">
              <a:buNone/>
            </a:pPr>
            <a:r>
              <a:rPr lang="es-US" sz="3600" dirty="0" smtClean="0"/>
              <a:t>Libros que explican la cultura </a:t>
            </a:r>
            <a:r>
              <a:rPr lang="es-US" sz="3600" dirty="0" err="1" smtClean="0"/>
              <a:t>DevOps</a:t>
            </a:r>
            <a:r>
              <a:rPr lang="es-US" sz="3600" dirty="0" smtClean="0"/>
              <a:t>:</a:t>
            </a:r>
          </a:p>
          <a:p>
            <a:r>
              <a:rPr lang="es-US" sz="3600" dirty="0" err="1" smtClean="0"/>
              <a:t>DevOps</a:t>
            </a:r>
            <a:r>
              <a:rPr lang="es-US" sz="3600" dirty="0" smtClean="0"/>
              <a:t> </a:t>
            </a:r>
            <a:r>
              <a:rPr lang="es-US" sz="3600" dirty="0" err="1" smtClean="0"/>
              <a:t>Handbook</a:t>
            </a:r>
            <a:endParaRPr lang="es-US" sz="3600" dirty="0" smtClean="0"/>
          </a:p>
          <a:p>
            <a:r>
              <a:rPr lang="es-US" sz="3600" dirty="0" err="1" smtClean="0"/>
              <a:t>The</a:t>
            </a:r>
            <a:r>
              <a:rPr lang="es-US" sz="3600" dirty="0" smtClean="0"/>
              <a:t> Phoenix Project</a:t>
            </a:r>
          </a:p>
          <a:p>
            <a:r>
              <a:rPr lang="es-US" sz="3600" dirty="0" err="1" smtClean="0"/>
              <a:t>Site</a:t>
            </a:r>
            <a:r>
              <a:rPr lang="es-US" sz="3600" dirty="0" smtClean="0"/>
              <a:t> </a:t>
            </a:r>
            <a:r>
              <a:rPr lang="es-US" sz="3600" dirty="0" err="1" smtClean="0"/>
              <a:t>Reliability</a:t>
            </a:r>
            <a:r>
              <a:rPr lang="es-US" sz="3600" dirty="0" smtClean="0"/>
              <a:t> </a:t>
            </a:r>
            <a:r>
              <a:rPr lang="es-US" sz="3600" dirty="0" err="1" smtClean="0"/>
              <a:t>Engineering</a:t>
            </a:r>
            <a:endParaRPr lang="es-US" sz="3600" dirty="0" smtClean="0"/>
          </a:p>
          <a:p>
            <a:r>
              <a:rPr lang="es-US" sz="3600" dirty="0" smtClean="0"/>
              <a:t>High Performance Browser </a:t>
            </a:r>
            <a:r>
              <a:rPr lang="es-US" sz="3600" dirty="0" err="1" smtClean="0"/>
              <a:t>Networking</a:t>
            </a:r>
            <a:endParaRPr lang="es-US" sz="3600" dirty="0" smtClean="0"/>
          </a:p>
          <a:p>
            <a:r>
              <a:rPr lang="es-US" sz="3600" dirty="0" err="1" smtClean="0"/>
              <a:t>Building</a:t>
            </a:r>
            <a:r>
              <a:rPr lang="es-US" sz="3600" dirty="0" smtClean="0"/>
              <a:t> </a:t>
            </a:r>
            <a:r>
              <a:rPr lang="es-US" sz="3600" dirty="0" err="1" smtClean="0"/>
              <a:t>Secure</a:t>
            </a:r>
            <a:r>
              <a:rPr lang="es-US" sz="3600" dirty="0" smtClean="0"/>
              <a:t> &amp; </a:t>
            </a:r>
            <a:r>
              <a:rPr lang="es-US" sz="3600" dirty="0" err="1" smtClean="0"/>
              <a:t>Reliable</a:t>
            </a:r>
            <a:r>
              <a:rPr lang="es-US" sz="3600" dirty="0" smtClean="0"/>
              <a:t> </a:t>
            </a:r>
            <a:r>
              <a:rPr lang="es-US" sz="3600" dirty="0" err="1" smtClean="0"/>
              <a:t>Systems</a:t>
            </a:r>
            <a:endParaRPr lang="es-US" sz="3600" dirty="0" smtClean="0"/>
          </a:p>
          <a:p>
            <a:r>
              <a:rPr lang="es-US" sz="3600" dirty="0" err="1" smtClean="0"/>
              <a:t>The</a:t>
            </a:r>
            <a:r>
              <a:rPr lang="es-US" sz="3600" dirty="0" smtClean="0"/>
              <a:t> </a:t>
            </a:r>
            <a:r>
              <a:rPr lang="es-US" sz="3600" dirty="0" err="1" smtClean="0"/>
              <a:t>Site</a:t>
            </a:r>
            <a:r>
              <a:rPr lang="es-US" sz="3600" dirty="0" smtClean="0"/>
              <a:t> </a:t>
            </a:r>
            <a:r>
              <a:rPr lang="es-US" sz="3600" dirty="0" err="1" smtClean="0"/>
              <a:t>Reliabilityy</a:t>
            </a:r>
            <a:r>
              <a:rPr lang="es-US" sz="3600" dirty="0" smtClean="0"/>
              <a:t> </a:t>
            </a:r>
            <a:r>
              <a:rPr lang="es-US" sz="3600" dirty="0" err="1" smtClean="0"/>
              <a:t>Workbook</a:t>
            </a:r>
            <a:endParaRPr lang="es-US" sz="3600" dirty="0" smtClean="0"/>
          </a:p>
          <a:p>
            <a:endParaRPr lang="es-US" sz="3600" dirty="0" smtClean="0"/>
          </a:p>
        </p:txBody>
      </p:sp>
    </p:spTree>
    <p:extLst>
      <p:ext uri="{BB962C8B-B14F-4D97-AF65-F5344CB8AC3E}">
        <p14:creationId xmlns:p14="http://schemas.microsoft.com/office/powerpoint/2010/main" val="34027680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err="1" smtClean="0"/>
              <a:t>DevOps</a:t>
            </a:r>
            <a:r>
              <a:rPr lang="es-US" dirty="0" smtClean="0"/>
              <a:t> en la Práctica</a:t>
            </a:r>
            <a:endParaRPr lang="es-US" dirty="0"/>
          </a:p>
        </p:txBody>
      </p:sp>
      <p:sp>
        <p:nvSpPr>
          <p:cNvPr id="3" name="Marcador de contenido 2"/>
          <p:cNvSpPr>
            <a:spLocks noGrp="1"/>
          </p:cNvSpPr>
          <p:nvPr>
            <p:ph idx="1"/>
          </p:nvPr>
        </p:nvSpPr>
        <p:spPr>
          <a:xfrm>
            <a:off x="838200" y="1825625"/>
            <a:ext cx="10515600" cy="3993284"/>
          </a:xfrm>
        </p:spPr>
        <p:txBody>
          <a:bodyPr>
            <a:normAutofit fontScale="85000" lnSpcReduction="20000"/>
          </a:bodyPr>
          <a:lstStyle/>
          <a:p>
            <a:pPr marL="0" indent="0">
              <a:buNone/>
            </a:pPr>
            <a:r>
              <a:rPr lang="es-US" sz="3600" dirty="0" err="1" smtClean="0"/>
              <a:t>DevOps</a:t>
            </a:r>
            <a:r>
              <a:rPr lang="es-US" sz="3600" dirty="0" smtClean="0"/>
              <a:t> es una cultura que necesita tiempo y depende de la madurez de la empresa</a:t>
            </a:r>
          </a:p>
          <a:p>
            <a:pPr marL="0" indent="0">
              <a:buNone/>
            </a:pPr>
            <a:r>
              <a:rPr lang="es-US" sz="3600" dirty="0" smtClean="0"/>
              <a:t>Colaborar con las áreas de desarrollo, despliegue y negocio</a:t>
            </a:r>
          </a:p>
          <a:p>
            <a:pPr marL="0" indent="0">
              <a:buNone/>
            </a:pPr>
            <a:r>
              <a:rPr lang="es-US" sz="3600" dirty="0" smtClean="0"/>
              <a:t>Automatizar la entrega continua para responder rápidamente a requerimientos del mercado</a:t>
            </a:r>
          </a:p>
          <a:p>
            <a:pPr marL="0" indent="0">
              <a:buNone/>
            </a:pPr>
            <a:r>
              <a:rPr lang="es-US" sz="3600" dirty="0" smtClean="0"/>
              <a:t>Ayudar al desarrollador a concentrarse en el código</a:t>
            </a:r>
          </a:p>
          <a:p>
            <a:pPr marL="0" indent="0">
              <a:buNone/>
            </a:pPr>
            <a:r>
              <a:rPr lang="es-US" sz="3600" dirty="0" smtClean="0"/>
              <a:t>Colaborar en la reducción de defectos en el código</a:t>
            </a:r>
          </a:p>
          <a:p>
            <a:pPr marL="0" indent="0">
              <a:buNone/>
            </a:pPr>
            <a:r>
              <a:rPr lang="es-US" sz="3600" dirty="0" smtClean="0"/>
              <a:t>Conseguir plataformas de sistemas estables y escalables</a:t>
            </a:r>
          </a:p>
          <a:p>
            <a:pPr marL="0" indent="0">
              <a:buNone/>
            </a:pPr>
            <a:r>
              <a:rPr lang="es-US" sz="3600" dirty="0" smtClean="0"/>
              <a:t>Ayudar a monitorear para detectar problemas a tiempo</a:t>
            </a:r>
          </a:p>
          <a:p>
            <a:pPr marL="0" indent="0">
              <a:buNone/>
            </a:pPr>
            <a:endParaRPr lang="es-US" sz="3600" dirty="0" smtClean="0"/>
          </a:p>
        </p:txBody>
      </p:sp>
    </p:spTree>
    <p:extLst>
      <p:ext uri="{BB962C8B-B14F-4D97-AF65-F5344CB8AC3E}">
        <p14:creationId xmlns:p14="http://schemas.microsoft.com/office/powerpoint/2010/main" val="15537075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Objetivos del curso</a:t>
            </a:r>
            <a:endParaRPr lang="es-US" dirty="0"/>
          </a:p>
        </p:txBody>
      </p:sp>
      <p:pic>
        <p:nvPicPr>
          <p:cNvPr id="5" name="Imagen 4"/>
          <p:cNvPicPr>
            <a:picLocks noChangeAspect="1"/>
          </p:cNvPicPr>
          <p:nvPr/>
        </p:nvPicPr>
        <p:blipFill>
          <a:blip r:embed="rId2"/>
          <a:stretch>
            <a:fillRect/>
          </a:stretch>
        </p:blipFill>
        <p:spPr>
          <a:xfrm>
            <a:off x="3116322" y="1451524"/>
            <a:ext cx="5959356" cy="4854361"/>
          </a:xfrm>
          <a:prstGeom prst="rect">
            <a:avLst/>
          </a:prstGeom>
        </p:spPr>
      </p:pic>
    </p:spTree>
    <p:extLst>
      <p:ext uri="{BB962C8B-B14F-4D97-AF65-F5344CB8AC3E}">
        <p14:creationId xmlns:p14="http://schemas.microsoft.com/office/powerpoint/2010/main" val="6946094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Pilares del curso</a:t>
            </a:r>
            <a:endParaRPr lang="es-US" dirty="0"/>
          </a:p>
        </p:txBody>
      </p:sp>
      <p:sp>
        <p:nvSpPr>
          <p:cNvPr id="3" name="CuadroTexto 2"/>
          <p:cNvSpPr txBox="1"/>
          <p:nvPr/>
        </p:nvSpPr>
        <p:spPr>
          <a:xfrm>
            <a:off x="838200" y="2128604"/>
            <a:ext cx="3269105" cy="3416320"/>
          </a:xfrm>
          <a:prstGeom prst="rect">
            <a:avLst/>
          </a:prstGeom>
          <a:noFill/>
        </p:spPr>
        <p:txBody>
          <a:bodyPr wrap="square" rtlCol="0">
            <a:spAutoFit/>
          </a:bodyPr>
          <a:lstStyle/>
          <a:p>
            <a:r>
              <a:rPr lang="es-US" sz="2400" b="1" dirty="0" smtClean="0"/>
              <a:t>Humana</a:t>
            </a:r>
          </a:p>
          <a:p>
            <a:pPr marL="360363"/>
            <a:r>
              <a:rPr lang="es-US" sz="2400" dirty="0" smtClean="0"/>
              <a:t>Aprender a aprender</a:t>
            </a:r>
          </a:p>
          <a:p>
            <a:pPr marL="360363"/>
            <a:r>
              <a:rPr lang="es-US" sz="2400" dirty="0" smtClean="0"/>
              <a:t>Construcción de equipos</a:t>
            </a:r>
          </a:p>
          <a:p>
            <a:pPr marL="360363"/>
            <a:r>
              <a:rPr lang="es-US" sz="2400" dirty="0" smtClean="0"/>
              <a:t>Lenguaje</a:t>
            </a:r>
          </a:p>
          <a:p>
            <a:pPr marL="360363"/>
            <a:r>
              <a:rPr lang="es-US" sz="2400" dirty="0" smtClean="0"/>
              <a:t>Inteligencia emocional</a:t>
            </a:r>
          </a:p>
          <a:p>
            <a:pPr marL="360363"/>
            <a:r>
              <a:rPr lang="es-US" sz="2400" dirty="0" err="1" smtClean="0"/>
              <a:t>Feedback</a:t>
            </a:r>
            <a:endParaRPr lang="es-US" sz="2400" dirty="0" smtClean="0"/>
          </a:p>
          <a:p>
            <a:pPr marL="360363"/>
            <a:r>
              <a:rPr lang="es-US" sz="2400" dirty="0" smtClean="0"/>
              <a:t>Mejora continua</a:t>
            </a:r>
          </a:p>
        </p:txBody>
      </p:sp>
      <p:sp>
        <p:nvSpPr>
          <p:cNvPr id="6" name="CuadroTexto 5"/>
          <p:cNvSpPr txBox="1"/>
          <p:nvPr/>
        </p:nvSpPr>
        <p:spPr>
          <a:xfrm>
            <a:off x="4467068" y="2143595"/>
            <a:ext cx="2323476" cy="1938992"/>
          </a:xfrm>
          <a:prstGeom prst="rect">
            <a:avLst/>
          </a:prstGeom>
          <a:noFill/>
        </p:spPr>
        <p:txBody>
          <a:bodyPr wrap="square" rtlCol="0">
            <a:spAutoFit/>
          </a:bodyPr>
          <a:lstStyle/>
          <a:p>
            <a:r>
              <a:rPr lang="es-US" sz="2400" b="1" dirty="0" smtClean="0"/>
              <a:t>Gestión</a:t>
            </a:r>
          </a:p>
          <a:p>
            <a:pPr marL="360363"/>
            <a:r>
              <a:rPr lang="es-US" sz="2400" dirty="0" smtClean="0"/>
              <a:t>Agile</a:t>
            </a:r>
          </a:p>
          <a:p>
            <a:pPr marL="360363"/>
            <a:r>
              <a:rPr lang="es-US" sz="2400" dirty="0" err="1" smtClean="0"/>
              <a:t>Scrum</a:t>
            </a:r>
            <a:endParaRPr lang="es-US" sz="2400" dirty="0" smtClean="0"/>
          </a:p>
          <a:p>
            <a:pPr marL="360363"/>
            <a:r>
              <a:rPr lang="es-US" sz="2400" dirty="0" err="1" smtClean="0"/>
              <a:t>Kanab</a:t>
            </a:r>
            <a:endParaRPr lang="es-US" sz="2400" dirty="0" smtClean="0"/>
          </a:p>
          <a:p>
            <a:pPr marL="360363"/>
            <a:r>
              <a:rPr lang="es-US" sz="2400" dirty="0" smtClean="0"/>
              <a:t>Calidad</a:t>
            </a:r>
          </a:p>
        </p:txBody>
      </p:sp>
      <p:sp>
        <p:nvSpPr>
          <p:cNvPr id="7" name="CuadroTexto 6"/>
          <p:cNvSpPr txBox="1"/>
          <p:nvPr/>
        </p:nvSpPr>
        <p:spPr>
          <a:xfrm>
            <a:off x="7150308" y="2143595"/>
            <a:ext cx="4203492" cy="3046988"/>
          </a:xfrm>
          <a:prstGeom prst="rect">
            <a:avLst/>
          </a:prstGeom>
          <a:noFill/>
        </p:spPr>
        <p:txBody>
          <a:bodyPr wrap="square" rtlCol="0">
            <a:spAutoFit/>
          </a:bodyPr>
          <a:lstStyle/>
          <a:p>
            <a:r>
              <a:rPr lang="es-US" sz="2400" b="1" dirty="0" smtClean="0"/>
              <a:t>Técnica</a:t>
            </a:r>
          </a:p>
          <a:p>
            <a:pPr marL="360363"/>
            <a:r>
              <a:rPr lang="es-US" sz="2400" dirty="0" smtClean="0"/>
              <a:t>Arquitectura del Software</a:t>
            </a:r>
          </a:p>
          <a:p>
            <a:pPr marL="360363"/>
            <a:r>
              <a:rPr lang="es-US" sz="2400" dirty="0" smtClean="0"/>
              <a:t>Calidad</a:t>
            </a:r>
          </a:p>
          <a:p>
            <a:pPr marL="360363"/>
            <a:r>
              <a:rPr lang="es-US" sz="2400" dirty="0" err="1" smtClean="0"/>
              <a:t>Networking</a:t>
            </a:r>
            <a:endParaRPr lang="es-US" sz="2400" dirty="0" smtClean="0"/>
          </a:p>
          <a:p>
            <a:pPr marL="360363"/>
            <a:r>
              <a:rPr lang="es-US" sz="2400" dirty="0" smtClean="0"/>
              <a:t>Infraestructura como código</a:t>
            </a:r>
          </a:p>
          <a:p>
            <a:pPr marL="360363"/>
            <a:r>
              <a:rPr lang="es-US" sz="2400" dirty="0" smtClean="0"/>
              <a:t>Control de versiones</a:t>
            </a:r>
          </a:p>
          <a:p>
            <a:pPr marL="360363"/>
            <a:r>
              <a:rPr lang="es-US" sz="2400" dirty="0" err="1" smtClean="0"/>
              <a:t>Application</a:t>
            </a:r>
            <a:r>
              <a:rPr lang="es-US" sz="2400" dirty="0" smtClean="0"/>
              <a:t> </a:t>
            </a:r>
            <a:r>
              <a:rPr lang="es-US" sz="2400" dirty="0" err="1" smtClean="0"/>
              <a:t>Programming</a:t>
            </a:r>
            <a:r>
              <a:rPr lang="es-US" sz="2400" dirty="0" smtClean="0"/>
              <a:t> Interfaces</a:t>
            </a:r>
          </a:p>
        </p:txBody>
      </p:sp>
    </p:spTree>
    <p:extLst>
      <p:ext uri="{BB962C8B-B14F-4D97-AF65-F5344CB8AC3E}">
        <p14:creationId xmlns:p14="http://schemas.microsoft.com/office/powerpoint/2010/main" val="41633318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819098"/>
          </a:xfrm>
        </p:spPr>
        <p:txBody>
          <a:bodyPr/>
          <a:lstStyle/>
          <a:p>
            <a:r>
              <a:rPr lang="es-US" dirty="0" smtClean="0"/>
              <a:t>Herramientas </a:t>
            </a:r>
            <a:r>
              <a:rPr lang="es-US" dirty="0" err="1" smtClean="0"/>
              <a:t>DevOps</a:t>
            </a:r>
            <a:endParaRPr lang="es-US" dirty="0"/>
          </a:p>
        </p:txBody>
      </p:sp>
      <p:pic>
        <p:nvPicPr>
          <p:cNvPr id="17410" name="Picture 2" descr="https://mms.businesswire.com/media/20180625005768/es/664797/5/p-table-v3-1200x627.jpg?download=1&amp;_gl=1*1lql3y3*_gcl_au*ODk2NjIwMjg0LjE3MjgxMDc3MDg.*_ga*MTI1NDM2MDQyLjE3MjgxMDc3MDk.*_ga_ZQWF70T3FK*MTcyODEwNzcwOC4xLjEuMTcyODEwNzg5OS41Ni4wLj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84224"/>
            <a:ext cx="10716718" cy="5599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60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819098"/>
          </a:xfrm>
        </p:spPr>
        <p:txBody>
          <a:bodyPr/>
          <a:lstStyle/>
          <a:p>
            <a:r>
              <a:rPr lang="es-US" dirty="0" smtClean="0"/>
              <a:t>Recomendaciones</a:t>
            </a:r>
            <a:endParaRPr lang="es-US" dirty="0"/>
          </a:p>
        </p:txBody>
      </p:sp>
      <p:sp>
        <p:nvSpPr>
          <p:cNvPr id="3" name="CuadroTexto 2"/>
          <p:cNvSpPr txBox="1"/>
          <p:nvPr/>
        </p:nvSpPr>
        <p:spPr>
          <a:xfrm>
            <a:off x="838200" y="1663908"/>
            <a:ext cx="10074639" cy="4031873"/>
          </a:xfrm>
          <a:prstGeom prst="rect">
            <a:avLst/>
          </a:prstGeom>
          <a:noFill/>
        </p:spPr>
        <p:txBody>
          <a:bodyPr wrap="square" rtlCol="0">
            <a:spAutoFit/>
          </a:bodyPr>
          <a:lstStyle/>
          <a:p>
            <a:r>
              <a:rPr lang="es-US" sz="3200" b="1" dirty="0" smtClean="0"/>
              <a:t>Paciencia</a:t>
            </a:r>
          </a:p>
          <a:p>
            <a:pPr marL="360363"/>
            <a:r>
              <a:rPr lang="es-US" sz="3200" dirty="0" smtClean="0"/>
              <a:t>Tanto si tienen un nivel inicial o avanzado. Aprender a lidiar con los errores y no frustrarse</a:t>
            </a:r>
          </a:p>
          <a:p>
            <a:r>
              <a:rPr lang="es-US" sz="3200" b="1" dirty="0" smtClean="0"/>
              <a:t>Estudio</a:t>
            </a:r>
          </a:p>
          <a:p>
            <a:pPr marL="360363"/>
            <a:r>
              <a:rPr lang="es-US" sz="3200" dirty="0" smtClean="0"/>
              <a:t>Complementar los contenidos del curso buscando información, pero sin diversificar</a:t>
            </a:r>
          </a:p>
          <a:p>
            <a:r>
              <a:rPr lang="es-US" sz="3200" b="1" dirty="0" smtClean="0"/>
              <a:t>Práctica</a:t>
            </a:r>
          </a:p>
          <a:p>
            <a:pPr marL="360363"/>
            <a:r>
              <a:rPr lang="es-US" sz="3200" dirty="0" smtClean="0"/>
              <a:t>Practicar, practicar y practicar</a:t>
            </a:r>
            <a:endParaRPr lang="es-US" sz="3200" dirty="0"/>
          </a:p>
        </p:txBody>
      </p:sp>
    </p:spTree>
    <p:extLst>
      <p:ext uri="{BB962C8B-B14F-4D97-AF65-F5344CB8AC3E}">
        <p14:creationId xmlns:p14="http://schemas.microsoft.com/office/powerpoint/2010/main" val="26045130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¿Qué es </a:t>
            </a:r>
            <a:r>
              <a:rPr lang="es-US" dirty="0" err="1" smtClean="0"/>
              <a:t>Git</a:t>
            </a:r>
            <a:r>
              <a:rPr lang="es-US" dirty="0" smtClean="0"/>
              <a:t>?</a:t>
            </a:r>
            <a:endParaRPr lang="es-US" dirty="0"/>
          </a:p>
        </p:txBody>
      </p:sp>
      <p:sp>
        <p:nvSpPr>
          <p:cNvPr id="3" name="Marcador de contenido 2"/>
          <p:cNvSpPr>
            <a:spLocks noGrp="1"/>
          </p:cNvSpPr>
          <p:nvPr>
            <p:ph idx="1"/>
          </p:nvPr>
        </p:nvSpPr>
        <p:spPr>
          <a:xfrm>
            <a:off x="838200" y="2010263"/>
            <a:ext cx="10295792" cy="2439817"/>
          </a:xfrm>
        </p:spPr>
        <p:txBody>
          <a:bodyPr>
            <a:normAutofit fontScale="92500" lnSpcReduction="10000"/>
          </a:bodyPr>
          <a:lstStyle/>
          <a:p>
            <a:r>
              <a:rPr lang="es-US" dirty="0" err="1"/>
              <a:t>Git</a:t>
            </a:r>
            <a:r>
              <a:rPr lang="es-US" dirty="0"/>
              <a:t> es una herramienta de código abierto creada por </a:t>
            </a:r>
            <a:r>
              <a:rPr lang="es-US" dirty="0" err="1"/>
              <a:t>Linus</a:t>
            </a:r>
            <a:r>
              <a:rPr lang="es-US" dirty="0"/>
              <a:t> </a:t>
            </a:r>
            <a:r>
              <a:rPr lang="es-US" dirty="0" err="1"/>
              <a:t>Torvalds</a:t>
            </a:r>
            <a:r>
              <a:rPr lang="es-US" dirty="0"/>
              <a:t> en 2005, diseñada para gestionar de manera eficiente y sencilla las versiones del código en proyectos de desarrollo de software. Específicamente, </a:t>
            </a:r>
            <a:r>
              <a:rPr lang="es-US" dirty="0" err="1"/>
              <a:t>Git</a:t>
            </a:r>
            <a:r>
              <a:rPr lang="es-US" dirty="0"/>
              <a:t> es un sistema de control de versiones distribuido, lo que significa que cada usuario tiene una copia completa del historial del proyecto en su máquina local, permitiendo trabajar sin necesidad de una conexión constante con un servidor central.</a:t>
            </a:r>
          </a:p>
        </p:txBody>
      </p:sp>
      <p:pic>
        <p:nvPicPr>
          <p:cNvPr id="1030" name="Picture 6" descr="Git · GitHu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305" y="4933538"/>
            <a:ext cx="129540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it workflow strategy. So recently having to really look at… | by sam raza  | 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1312" y="4304476"/>
            <a:ext cx="5415817" cy="2553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9923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Características de </a:t>
            </a:r>
            <a:r>
              <a:rPr lang="es-US" dirty="0" err="1"/>
              <a:t>G</a:t>
            </a:r>
            <a:r>
              <a:rPr lang="es-US" dirty="0" err="1" smtClean="0"/>
              <a:t>it</a:t>
            </a:r>
            <a:endParaRPr lang="es-US" dirty="0"/>
          </a:p>
        </p:txBody>
      </p:sp>
      <p:sp>
        <p:nvSpPr>
          <p:cNvPr id="3" name="Marcador de contenido 2"/>
          <p:cNvSpPr>
            <a:spLocks noGrp="1"/>
          </p:cNvSpPr>
          <p:nvPr>
            <p:ph idx="1"/>
          </p:nvPr>
        </p:nvSpPr>
        <p:spPr>
          <a:xfrm>
            <a:off x="838200" y="1825625"/>
            <a:ext cx="10515600" cy="1608455"/>
          </a:xfrm>
        </p:spPr>
        <p:txBody>
          <a:bodyPr>
            <a:normAutofit lnSpcReduction="10000"/>
          </a:bodyPr>
          <a:lstStyle/>
          <a:p>
            <a:r>
              <a:rPr lang="en-US" b="1" dirty="0" err="1" smtClean="0"/>
              <a:t>Distribuido</a:t>
            </a:r>
            <a:r>
              <a:rPr lang="en-US" dirty="0" smtClean="0"/>
              <a:t>. </a:t>
            </a:r>
            <a:r>
              <a:rPr lang="es-US" dirty="0" smtClean="0"/>
              <a:t>A </a:t>
            </a:r>
            <a:r>
              <a:rPr lang="es-US" dirty="0"/>
              <a:t>diferencia de los sistemas centralizados, cada clon de un repositorio en </a:t>
            </a:r>
            <a:r>
              <a:rPr lang="es-US" dirty="0" err="1"/>
              <a:t>Git</a:t>
            </a:r>
            <a:r>
              <a:rPr lang="es-US" dirty="0"/>
              <a:t> contiene todo el historial del proyecto, lo que permite a los desarrolladores trabajar sin conexión y sincronizar los cambios más tarde</a:t>
            </a:r>
          </a:p>
        </p:txBody>
      </p:sp>
      <p:pic>
        <p:nvPicPr>
          <p:cNvPr id="5" name="Imagen 4"/>
          <p:cNvPicPr>
            <a:picLocks noChangeAspect="1"/>
          </p:cNvPicPr>
          <p:nvPr/>
        </p:nvPicPr>
        <p:blipFill>
          <a:blip r:embed="rId2"/>
          <a:stretch>
            <a:fillRect/>
          </a:stretch>
        </p:blipFill>
        <p:spPr>
          <a:xfrm>
            <a:off x="838200" y="3569017"/>
            <a:ext cx="10205720" cy="2900459"/>
          </a:xfrm>
          <a:prstGeom prst="rect">
            <a:avLst/>
          </a:prstGeom>
        </p:spPr>
      </p:pic>
    </p:spTree>
    <p:extLst>
      <p:ext uri="{BB962C8B-B14F-4D97-AF65-F5344CB8AC3E}">
        <p14:creationId xmlns:p14="http://schemas.microsoft.com/office/powerpoint/2010/main" val="1287907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Características de </a:t>
            </a:r>
            <a:r>
              <a:rPr lang="es-US" dirty="0" err="1" smtClean="0"/>
              <a:t>Git</a:t>
            </a:r>
            <a:r>
              <a:rPr lang="es-US" dirty="0" smtClean="0"/>
              <a:t> (continuación …)</a:t>
            </a:r>
            <a:endParaRPr lang="es-US" dirty="0"/>
          </a:p>
        </p:txBody>
      </p:sp>
      <p:sp>
        <p:nvSpPr>
          <p:cNvPr id="3" name="Marcador de contenido 2"/>
          <p:cNvSpPr>
            <a:spLocks noGrp="1"/>
          </p:cNvSpPr>
          <p:nvPr>
            <p:ph idx="1"/>
          </p:nvPr>
        </p:nvSpPr>
        <p:spPr>
          <a:xfrm>
            <a:off x="838200" y="1767132"/>
            <a:ext cx="4999890" cy="3749759"/>
          </a:xfrm>
        </p:spPr>
        <p:txBody>
          <a:bodyPr>
            <a:normAutofit fontScale="92500" lnSpcReduction="20000"/>
          </a:bodyPr>
          <a:lstStyle/>
          <a:p>
            <a:r>
              <a:rPr lang="es-US" b="1" dirty="0"/>
              <a:t>Ramas (</a:t>
            </a:r>
            <a:r>
              <a:rPr lang="es-US" b="1" dirty="0" err="1"/>
              <a:t>branches</a:t>
            </a:r>
            <a:r>
              <a:rPr lang="es-US" b="1" dirty="0"/>
              <a:t>)</a:t>
            </a:r>
            <a:r>
              <a:rPr lang="es-US" dirty="0"/>
              <a:t>: </a:t>
            </a:r>
            <a:r>
              <a:rPr lang="es-US" dirty="0" err="1"/>
              <a:t>Git</a:t>
            </a:r>
            <a:r>
              <a:rPr lang="es-US" dirty="0"/>
              <a:t> permite crear, gestionar y trabajar en diferentes ramas de manera sencilla. Cada rama es una línea independiente de desarrollo que se puede fusionar con otras sin afectar el código principal</a:t>
            </a:r>
            <a:r>
              <a:rPr lang="es-US" dirty="0" smtClean="0"/>
              <a:t>. Se recomienda seguir </a:t>
            </a:r>
            <a:r>
              <a:rPr lang="es-US" dirty="0"/>
              <a:t>alguna estrategia para gestionar el desarrollo de software, especialmente en proyectos colaborativos, complejos y de gran tamaño.</a:t>
            </a:r>
          </a:p>
        </p:txBody>
      </p:sp>
      <p:pic>
        <p:nvPicPr>
          <p:cNvPr id="2050" name="Picture 2" descr="git flow vs Trunk-based Development"/>
          <p:cNvPicPr>
            <a:picLocks noChangeAspect="1" noChangeArrowheads="1"/>
          </p:cNvPicPr>
          <p:nvPr/>
        </p:nvPicPr>
        <p:blipFill rotWithShape="1">
          <a:blip r:embed="rId2">
            <a:extLst>
              <a:ext uri="{28A0092B-C50C-407E-A947-70E740481C1C}">
                <a14:useLocalDpi xmlns:a14="http://schemas.microsoft.com/office/drawing/2010/main" val="0"/>
              </a:ext>
            </a:extLst>
          </a:blip>
          <a:srcRect b="16151"/>
          <a:stretch/>
        </p:blipFill>
        <p:spPr bwMode="auto">
          <a:xfrm>
            <a:off x="5961183" y="1690688"/>
            <a:ext cx="5543627" cy="3701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0170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Características de </a:t>
            </a:r>
            <a:r>
              <a:rPr lang="es-US" dirty="0" err="1" smtClean="0"/>
              <a:t>Git</a:t>
            </a:r>
            <a:r>
              <a:rPr lang="es-US" dirty="0" smtClean="0"/>
              <a:t> (continuación …)</a:t>
            </a:r>
            <a:endParaRPr lang="es-US" dirty="0"/>
          </a:p>
        </p:txBody>
      </p:sp>
      <p:sp>
        <p:nvSpPr>
          <p:cNvPr id="3" name="Marcador de contenido 2"/>
          <p:cNvSpPr>
            <a:spLocks noGrp="1"/>
          </p:cNvSpPr>
          <p:nvPr>
            <p:ph idx="1"/>
          </p:nvPr>
        </p:nvSpPr>
        <p:spPr>
          <a:xfrm>
            <a:off x="756139" y="1565031"/>
            <a:ext cx="5064370" cy="4774223"/>
          </a:xfrm>
        </p:spPr>
        <p:txBody>
          <a:bodyPr>
            <a:normAutofit/>
          </a:bodyPr>
          <a:lstStyle/>
          <a:p>
            <a:r>
              <a:rPr lang="es-US" b="1" dirty="0"/>
              <a:t>Historial y seguimiento de cambios: </a:t>
            </a:r>
            <a:r>
              <a:rPr lang="es-PE" dirty="0" err="1"/>
              <a:t>Git</a:t>
            </a:r>
            <a:r>
              <a:rPr lang="es-PE" dirty="0"/>
              <a:t> </a:t>
            </a:r>
            <a:r>
              <a:rPr lang="es-PE" dirty="0" smtClean="0"/>
              <a:t>registra los cambios </a:t>
            </a:r>
            <a:r>
              <a:rPr lang="es-PE" dirty="0"/>
              <a:t>que se </a:t>
            </a:r>
            <a:r>
              <a:rPr lang="es-PE" dirty="0" smtClean="0"/>
              <a:t>realizan </a:t>
            </a:r>
            <a:r>
              <a:rPr lang="es-PE" dirty="0"/>
              <a:t>en </a:t>
            </a:r>
            <a:r>
              <a:rPr lang="es-PE" dirty="0" smtClean="0"/>
              <a:t>los archivos, </a:t>
            </a:r>
            <a:r>
              <a:rPr lang="es-PE" dirty="0"/>
              <a:t>permitiendo ver qué </a:t>
            </a:r>
            <a:r>
              <a:rPr lang="es-PE" dirty="0" smtClean="0"/>
              <a:t>cambió, </a:t>
            </a:r>
            <a:r>
              <a:rPr lang="es-PE" dirty="0"/>
              <a:t>quién lo cambió y </a:t>
            </a:r>
            <a:r>
              <a:rPr lang="es-PE" dirty="0" smtClean="0"/>
              <a:t>cuándo lo hizo. </a:t>
            </a:r>
            <a:r>
              <a:rPr lang="es-PE" dirty="0"/>
              <a:t>También puedes volver a versiones anteriores si es necesario.</a:t>
            </a:r>
            <a:endParaRPr lang="es-US" dirty="0"/>
          </a:p>
        </p:txBody>
      </p:sp>
      <p:pic>
        <p:nvPicPr>
          <p:cNvPr id="4" name="Imagen 3"/>
          <p:cNvPicPr>
            <a:picLocks noChangeAspect="1"/>
          </p:cNvPicPr>
          <p:nvPr/>
        </p:nvPicPr>
        <p:blipFill>
          <a:blip r:embed="rId2"/>
          <a:stretch>
            <a:fillRect/>
          </a:stretch>
        </p:blipFill>
        <p:spPr>
          <a:xfrm>
            <a:off x="5955401" y="1398940"/>
            <a:ext cx="4976291" cy="4816257"/>
          </a:xfrm>
          <a:prstGeom prst="rect">
            <a:avLst/>
          </a:prstGeom>
        </p:spPr>
      </p:pic>
    </p:spTree>
    <p:extLst>
      <p:ext uri="{BB962C8B-B14F-4D97-AF65-F5344CB8AC3E}">
        <p14:creationId xmlns:p14="http://schemas.microsoft.com/office/powerpoint/2010/main" val="22819593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Características de </a:t>
            </a:r>
            <a:r>
              <a:rPr lang="es-US" dirty="0" err="1" smtClean="0"/>
              <a:t>Git</a:t>
            </a:r>
            <a:r>
              <a:rPr lang="es-US" dirty="0" smtClean="0"/>
              <a:t> (continuación …)</a:t>
            </a:r>
            <a:endParaRPr lang="es-US" dirty="0"/>
          </a:p>
        </p:txBody>
      </p:sp>
      <p:sp>
        <p:nvSpPr>
          <p:cNvPr id="3" name="Marcador de contenido 2"/>
          <p:cNvSpPr>
            <a:spLocks noGrp="1"/>
          </p:cNvSpPr>
          <p:nvPr>
            <p:ph idx="1"/>
          </p:nvPr>
        </p:nvSpPr>
        <p:spPr>
          <a:xfrm>
            <a:off x="756139" y="1565031"/>
            <a:ext cx="5064370" cy="4774223"/>
          </a:xfrm>
        </p:spPr>
        <p:txBody>
          <a:bodyPr>
            <a:normAutofit/>
          </a:bodyPr>
          <a:lstStyle/>
          <a:p>
            <a:r>
              <a:rPr lang="es-US" b="1" dirty="0"/>
              <a:t>Fusiones y resoluciones de conflictos: </a:t>
            </a:r>
            <a:r>
              <a:rPr lang="es-PE" dirty="0"/>
              <a:t>Cuando dos desarrolladores trabajan en diferentes ramas y hacen cambios en los mismos archivos, </a:t>
            </a:r>
            <a:r>
              <a:rPr lang="es-PE" dirty="0" err="1"/>
              <a:t>Git</a:t>
            </a:r>
            <a:r>
              <a:rPr lang="es-PE" dirty="0"/>
              <a:t> permite fusionar esas ramas y manejar conflictos si los cambios son incompatibles</a:t>
            </a:r>
            <a:r>
              <a:rPr lang="es-PE" dirty="0" smtClean="0"/>
              <a:t>.</a:t>
            </a:r>
            <a:endParaRPr lang="es-US" dirty="0"/>
          </a:p>
        </p:txBody>
      </p:sp>
      <p:pic>
        <p:nvPicPr>
          <p:cNvPr id="5" name="Imagen 4"/>
          <p:cNvPicPr>
            <a:picLocks noChangeAspect="1"/>
          </p:cNvPicPr>
          <p:nvPr/>
        </p:nvPicPr>
        <p:blipFill rotWithShape="1">
          <a:blip r:embed="rId2"/>
          <a:srcRect r="12021"/>
          <a:stretch/>
        </p:blipFill>
        <p:spPr>
          <a:xfrm>
            <a:off x="5902570" y="1565031"/>
            <a:ext cx="5668970" cy="4968428"/>
          </a:xfrm>
          <a:prstGeom prst="rect">
            <a:avLst/>
          </a:prstGeom>
        </p:spPr>
      </p:pic>
    </p:spTree>
    <p:extLst>
      <p:ext uri="{BB962C8B-B14F-4D97-AF65-F5344CB8AC3E}">
        <p14:creationId xmlns:p14="http://schemas.microsoft.com/office/powerpoint/2010/main" val="41240081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Características de </a:t>
            </a:r>
            <a:r>
              <a:rPr lang="es-US" dirty="0" err="1" smtClean="0"/>
              <a:t>Git</a:t>
            </a:r>
            <a:r>
              <a:rPr lang="es-US" dirty="0" smtClean="0"/>
              <a:t> (continuación …)</a:t>
            </a:r>
            <a:endParaRPr lang="es-US" dirty="0"/>
          </a:p>
        </p:txBody>
      </p:sp>
      <p:sp>
        <p:nvSpPr>
          <p:cNvPr id="3" name="Marcador de contenido 2"/>
          <p:cNvSpPr>
            <a:spLocks noGrp="1"/>
          </p:cNvSpPr>
          <p:nvPr>
            <p:ph idx="1"/>
          </p:nvPr>
        </p:nvSpPr>
        <p:spPr>
          <a:xfrm>
            <a:off x="756139" y="1565031"/>
            <a:ext cx="5064370" cy="4774223"/>
          </a:xfrm>
        </p:spPr>
        <p:txBody>
          <a:bodyPr>
            <a:normAutofit/>
          </a:bodyPr>
          <a:lstStyle/>
          <a:p>
            <a:r>
              <a:rPr lang="es-US" b="1" dirty="0" err="1"/>
              <a:t>Snapshots</a:t>
            </a:r>
            <a:r>
              <a:rPr lang="es-US" b="1" dirty="0"/>
              <a:t> y no diferencias: </a:t>
            </a:r>
            <a:r>
              <a:rPr lang="es-PE" dirty="0"/>
              <a:t>Cuando dos desarrolladores trabajan en diferentes ramas y hacen cambios en los mismos archivos, </a:t>
            </a:r>
            <a:r>
              <a:rPr lang="es-PE" dirty="0" err="1"/>
              <a:t>Git</a:t>
            </a:r>
            <a:r>
              <a:rPr lang="es-PE" dirty="0"/>
              <a:t> permite fusionar esas ramas y manejar conflictos si los cambios son incompatibles</a:t>
            </a:r>
            <a:r>
              <a:rPr lang="es-PE" dirty="0" smtClean="0"/>
              <a:t>.</a:t>
            </a:r>
            <a:endParaRPr lang="es-US" dirty="0"/>
          </a:p>
        </p:txBody>
      </p:sp>
      <p:pic>
        <p:nvPicPr>
          <p:cNvPr id="7" name="Imagen 6"/>
          <p:cNvPicPr>
            <a:picLocks noChangeAspect="1"/>
          </p:cNvPicPr>
          <p:nvPr/>
        </p:nvPicPr>
        <p:blipFill>
          <a:blip r:embed="rId2"/>
          <a:stretch>
            <a:fillRect/>
          </a:stretch>
        </p:blipFill>
        <p:spPr>
          <a:xfrm>
            <a:off x="7572073" y="1565031"/>
            <a:ext cx="3589331" cy="4214225"/>
          </a:xfrm>
          <a:prstGeom prst="rect">
            <a:avLst/>
          </a:prstGeom>
        </p:spPr>
      </p:pic>
    </p:spTree>
    <p:extLst>
      <p:ext uri="{BB962C8B-B14F-4D97-AF65-F5344CB8AC3E}">
        <p14:creationId xmlns:p14="http://schemas.microsoft.com/office/powerpoint/2010/main" val="10470526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Características de </a:t>
            </a:r>
            <a:r>
              <a:rPr lang="es-US" dirty="0" err="1" smtClean="0"/>
              <a:t>Git</a:t>
            </a:r>
            <a:r>
              <a:rPr lang="es-US" dirty="0" smtClean="0"/>
              <a:t> (continuación …)</a:t>
            </a:r>
            <a:endParaRPr lang="es-US" dirty="0"/>
          </a:p>
        </p:txBody>
      </p:sp>
      <p:sp>
        <p:nvSpPr>
          <p:cNvPr id="3" name="Marcador de contenido 2"/>
          <p:cNvSpPr>
            <a:spLocks noGrp="1"/>
          </p:cNvSpPr>
          <p:nvPr>
            <p:ph idx="1"/>
          </p:nvPr>
        </p:nvSpPr>
        <p:spPr>
          <a:xfrm>
            <a:off x="756139" y="1565031"/>
            <a:ext cx="5064370" cy="3508131"/>
          </a:xfrm>
        </p:spPr>
        <p:txBody>
          <a:bodyPr>
            <a:normAutofit/>
          </a:bodyPr>
          <a:lstStyle/>
          <a:p>
            <a:r>
              <a:rPr lang="es-PE" b="1" dirty="0"/>
              <a:t>Alto rendimiento</a:t>
            </a:r>
            <a:r>
              <a:rPr lang="es-US" b="1" dirty="0" smtClean="0"/>
              <a:t>: </a:t>
            </a:r>
            <a:r>
              <a:rPr lang="es-PE" dirty="0" err="1"/>
              <a:t>Git</a:t>
            </a:r>
            <a:r>
              <a:rPr lang="es-PE" dirty="0"/>
              <a:t> está diseñado para manejar proyectos de gran tamaño de manera eficiente. Las operaciones comunes como </a:t>
            </a:r>
            <a:r>
              <a:rPr lang="es-PE" dirty="0" err="1"/>
              <a:t>commits</a:t>
            </a:r>
            <a:r>
              <a:rPr lang="es-PE" dirty="0"/>
              <a:t>, </a:t>
            </a:r>
            <a:r>
              <a:rPr lang="es-PE" dirty="0" err="1"/>
              <a:t>diffs</a:t>
            </a:r>
            <a:r>
              <a:rPr lang="es-PE" dirty="0"/>
              <a:t>, </a:t>
            </a:r>
            <a:r>
              <a:rPr lang="es-PE" dirty="0" err="1"/>
              <a:t>merges</a:t>
            </a:r>
            <a:r>
              <a:rPr lang="es-PE" dirty="0"/>
              <a:t> y </a:t>
            </a:r>
            <a:r>
              <a:rPr lang="es-PE" dirty="0" err="1"/>
              <a:t>branchings</a:t>
            </a:r>
            <a:r>
              <a:rPr lang="es-PE" dirty="0"/>
              <a:t> son extremadamente rápidas</a:t>
            </a:r>
            <a:endParaRPr lang="es-US" dirty="0"/>
          </a:p>
        </p:txBody>
      </p:sp>
      <p:sp>
        <p:nvSpPr>
          <p:cNvPr id="5" name="Marcador de contenido 2"/>
          <p:cNvSpPr txBox="1">
            <a:spLocks/>
          </p:cNvSpPr>
          <p:nvPr/>
        </p:nvSpPr>
        <p:spPr>
          <a:xfrm>
            <a:off x="5902570" y="1558805"/>
            <a:ext cx="5064370" cy="351435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b="1" dirty="0"/>
              <a:t>Descentralización</a:t>
            </a:r>
            <a:r>
              <a:rPr lang="es-US" b="1" dirty="0" smtClean="0"/>
              <a:t>: </a:t>
            </a:r>
            <a:r>
              <a:rPr lang="es-PE" dirty="0"/>
              <a:t>Dado que </a:t>
            </a:r>
            <a:r>
              <a:rPr lang="es-PE" dirty="0" err="1"/>
              <a:t>Git</a:t>
            </a:r>
            <a:r>
              <a:rPr lang="es-PE" dirty="0"/>
              <a:t> es distribuido, cualquier desarrollador puede trabajar localmente y luego sincronizar los cambios con otros desarrolladores cuando esté listo. Esto permite trabajar sin conexión y facilita la colaboración</a:t>
            </a:r>
            <a:endParaRPr lang="es-US" dirty="0"/>
          </a:p>
        </p:txBody>
      </p:sp>
    </p:spTree>
    <p:extLst>
      <p:ext uri="{BB962C8B-B14F-4D97-AF65-F5344CB8AC3E}">
        <p14:creationId xmlns:p14="http://schemas.microsoft.com/office/powerpoint/2010/main" val="40268185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b="1" dirty="0" smtClean="0"/>
              <a:t>Estrategias </a:t>
            </a:r>
            <a:r>
              <a:rPr lang="es-US" b="1" dirty="0" err="1" smtClean="0"/>
              <a:t>Git</a:t>
            </a:r>
            <a:endParaRPr lang="es-US" b="1" dirty="0"/>
          </a:p>
        </p:txBody>
      </p:sp>
      <p:sp>
        <p:nvSpPr>
          <p:cNvPr id="3" name="Marcador de contenido 2"/>
          <p:cNvSpPr>
            <a:spLocks noGrp="1"/>
          </p:cNvSpPr>
          <p:nvPr>
            <p:ph idx="1"/>
          </p:nvPr>
        </p:nvSpPr>
        <p:spPr>
          <a:xfrm>
            <a:off x="838200" y="1548534"/>
            <a:ext cx="10515600" cy="4741430"/>
          </a:xfrm>
        </p:spPr>
        <p:txBody>
          <a:bodyPr>
            <a:normAutofit fontScale="85000" lnSpcReduction="20000"/>
          </a:bodyPr>
          <a:lstStyle/>
          <a:p>
            <a:pPr marL="0" indent="0">
              <a:buNone/>
            </a:pPr>
            <a:r>
              <a:rPr lang="es-PE" dirty="0" smtClean="0"/>
              <a:t>Las estrategias </a:t>
            </a:r>
            <a:r>
              <a:rPr lang="es-PE" dirty="0" err="1" smtClean="0"/>
              <a:t>Git</a:t>
            </a:r>
            <a:r>
              <a:rPr lang="es-PE" dirty="0" smtClean="0"/>
              <a:t>, son </a:t>
            </a:r>
            <a:r>
              <a:rPr lang="es-PE" dirty="0"/>
              <a:t>importantes porque proporcionan una estructura clara y eficiente para gestionar el desarrollo de software, especialmente en proyectos colaborativos, complejos y de gran </a:t>
            </a:r>
            <a:r>
              <a:rPr lang="es-PE" dirty="0" smtClean="0"/>
              <a:t>tamaño.</a:t>
            </a:r>
            <a:r>
              <a:rPr lang="es-PE" dirty="0"/>
              <a:t> Facilitan la colaboración, mejoran la calidad del código, permiten un desarrollo continuo y ágil, y ayudan a mantener un control adecuado de versiones y entregas. Sin una estrategia bien definida, el desarrollo en equipo puede volverse caótico, con más errores y dificultades para mantener la estabilidad y calidad del proyecto.</a:t>
            </a:r>
            <a:endParaRPr lang="en-US" dirty="0"/>
          </a:p>
          <a:p>
            <a:pPr marL="0" indent="0">
              <a:buNone/>
            </a:pPr>
            <a:r>
              <a:rPr lang="es-PE" dirty="0"/>
              <a:t>Existen varias estrategias comunes de ramificación (</a:t>
            </a:r>
            <a:r>
              <a:rPr lang="es-PE" dirty="0" err="1"/>
              <a:t>branching</a:t>
            </a:r>
            <a:r>
              <a:rPr lang="es-PE" dirty="0"/>
              <a:t>) en </a:t>
            </a:r>
            <a:r>
              <a:rPr lang="es-PE" dirty="0" err="1"/>
              <a:t>Git</a:t>
            </a:r>
            <a:endParaRPr lang="en-US" dirty="0"/>
          </a:p>
          <a:p>
            <a:r>
              <a:rPr lang="es-PE" dirty="0" err="1"/>
              <a:t>Git</a:t>
            </a:r>
            <a:r>
              <a:rPr lang="es-PE" dirty="0"/>
              <a:t> </a:t>
            </a:r>
            <a:r>
              <a:rPr lang="es-PE" dirty="0" err="1" smtClean="0"/>
              <a:t>Flow</a:t>
            </a:r>
            <a:endParaRPr lang="es-PE" dirty="0" smtClean="0"/>
          </a:p>
          <a:p>
            <a:r>
              <a:rPr lang="es-PE" dirty="0"/>
              <a:t>GitHub </a:t>
            </a:r>
            <a:r>
              <a:rPr lang="es-PE" dirty="0" err="1" smtClean="0"/>
              <a:t>Flow</a:t>
            </a:r>
            <a:endParaRPr lang="es-PE" dirty="0" smtClean="0"/>
          </a:p>
          <a:p>
            <a:r>
              <a:rPr lang="es-PE" dirty="0" err="1"/>
              <a:t>GitLab</a:t>
            </a:r>
            <a:r>
              <a:rPr lang="es-PE" dirty="0"/>
              <a:t> </a:t>
            </a:r>
            <a:r>
              <a:rPr lang="es-PE" dirty="0" err="1" smtClean="0"/>
              <a:t>Flow</a:t>
            </a:r>
            <a:endParaRPr lang="es-PE" dirty="0" smtClean="0"/>
          </a:p>
          <a:p>
            <a:r>
              <a:rPr lang="es-PE" dirty="0" err="1"/>
              <a:t>Trunk-Based</a:t>
            </a:r>
            <a:r>
              <a:rPr lang="es-PE" dirty="0"/>
              <a:t> </a:t>
            </a:r>
            <a:r>
              <a:rPr lang="es-PE" dirty="0" err="1" smtClean="0"/>
              <a:t>Development</a:t>
            </a:r>
            <a:endParaRPr lang="es-PE" dirty="0" smtClean="0"/>
          </a:p>
          <a:p>
            <a:r>
              <a:rPr lang="es-PE" dirty="0" err="1"/>
              <a:t>Feature</a:t>
            </a:r>
            <a:r>
              <a:rPr lang="es-PE" dirty="0"/>
              <a:t> </a:t>
            </a:r>
            <a:r>
              <a:rPr lang="es-PE" dirty="0" err="1" smtClean="0"/>
              <a:t>Branching</a:t>
            </a:r>
            <a:endParaRPr lang="es-PE" dirty="0" smtClean="0"/>
          </a:p>
          <a:p>
            <a:r>
              <a:rPr lang="es-PE" dirty="0" err="1"/>
              <a:t>Forking</a:t>
            </a:r>
            <a:r>
              <a:rPr lang="es-PE" dirty="0"/>
              <a:t> </a:t>
            </a:r>
            <a:r>
              <a:rPr lang="es-PE" dirty="0" err="1"/>
              <a:t>Workflow</a:t>
            </a:r>
            <a:endParaRPr lang="es-US" dirty="0"/>
          </a:p>
        </p:txBody>
      </p:sp>
    </p:spTree>
    <p:extLst>
      <p:ext uri="{BB962C8B-B14F-4D97-AF65-F5344CB8AC3E}">
        <p14:creationId xmlns:p14="http://schemas.microsoft.com/office/powerpoint/2010/main" val="4687542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1588655"/>
            <a:ext cx="10515600" cy="4588308"/>
          </a:xfrm>
        </p:spPr>
        <p:txBody>
          <a:bodyPr>
            <a:normAutofit fontScale="85000" lnSpcReduction="20000"/>
          </a:bodyPr>
          <a:lstStyle/>
          <a:p>
            <a:pPr marL="0" indent="0">
              <a:buNone/>
            </a:pPr>
            <a:r>
              <a:rPr lang="es-PE" b="1" dirty="0" err="1" smtClean="0"/>
              <a:t>Git</a:t>
            </a:r>
            <a:r>
              <a:rPr lang="es-PE" b="1" dirty="0" smtClean="0"/>
              <a:t> </a:t>
            </a:r>
            <a:r>
              <a:rPr lang="es-PE" b="1" dirty="0" err="1" smtClean="0"/>
              <a:t>Flow</a:t>
            </a:r>
            <a:endParaRPr lang="en-US" dirty="0"/>
          </a:p>
          <a:p>
            <a:pPr marL="0" indent="0">
              <a:buNone/>
            </a:pPr>
            <a:r>
              <a:rPr lang="es-US" dirty="0"/>
              <a:t>Fue propuesta por </a:t>
            </a:r>
            <a:r>
              <a:rPr lang="es-US" b="1" dirty="0" err="1"/>
              <a:t>Vincent</a:t>
            </a:r>
            <a:r>
              <a:rPr lang="es-US" b="1" dirty="0"/>
              <a:t> </a:t>
            </a:r>
            <a:r>
              <a:rPr lang="es-US" b="1" dirty="0" err="1"/>
              <a:t>Driessen</a:t>
            </a:r>
            <a:r>
              <a:rPr lang="es-US" dirty="0"/>
              <a:t> en 2010 y se ha vuelto muy popular para proyectos de mediano a gran </a:t>
            </a:r>
            <a:r>
              <a:rPr lang="es-US" dirty="0" smtClean="0"/>
              <a:t>tamaño</a:t>
            </a:r>
            <a:r>
              <a:rPr lang="es-PE" dirty="0" smtClean="0"/>
              <a:t>. </a:t>
            </a:r>
          </a:p>
          <a:p>
            <a:pPr marL="0" indent="0">
              <a:buNone/>
            </a:pPr>
            <a:r>
              <a:rPr lang="es-US" dirty="0" smtClean="0"/>
              <a:t>Es </a:t>
            </a:r>
            <a:r>
              <a:rPr lang="es-US" dirty="0"/>
              <a:t>una estrategia de ramificación y gestión de versiones que organiza el desarrollo de software de una manera estructurada. Está diseñada para proyectos con ciclos de vida bien definidos, donde se crean y lanzan nuevas versiones regularmente</a:t>
            </a:r>
            <a:endParaRPr lang="en-US" dirty="0"/>
          </a:p>
          <a:p>
            <a:pPr lvl="0"/>
            <a:r>
              <a:rPr lang="es-PE" dirty="0" err="1"/>
              <a:t>main</a:t>
            </a:r>
            <a:r>
              <a:rPr lang="es-PE" dirty="0"/>
              <a:t>: Contiene el código de producción.</a:t>
            </a:r>
            <a:endParaRPr lang="en-US" dirty="0"/>
          </a:p>
          <a:p>
            <a:pPr lvl="0"/>
            <a:r>
              <a:rPr lang="es-PE" dirty="0" err="1"/>
              <a:t>develop</a:t>
            </a:r>
            <a:r>
              <a:rPr lang="es-PE" dirty="0"/>
              <a:t>: Rama de desarrollo principal.</a:t>
            </a:r>
            <a:endParaRPr lang="en-US" dirty="0"/>
          </a:p>
          <a:p>
            <a:pPr marL="0" indent="0">
              <a:buNone/>
            </a:pPr>
            <a:r>
              <a:rPr lang="es-PE" dirty="0"/>
              <a:t>Además, utiliza ramas de soporte:</a:t>
            </a:r>
            <a:endParaRPr lang="en-US" dirty="0"/>
          </a:p>
          <a:p>
            <a:pPr lvl="0"/>
            <a:r>
              <a:rPr lang="en-US" dirty="0"/>
              <a:t>feature/*: Para </a:t>
            </a:r>
            <a:r>
              <a:rPr lang="en-US" dirty="0" err="1"/>
              <a:t>nuevas</a:t>
            </a:r>
            <a:r>
              <a:rPr lang="en-US" dirty="0"/>
              <a:t> </a:t>
            </a:r>
            <a:r>
              <a:rPr lang="en-US" dirty="0" err="1"/>
              <a:t>características</a:t>
            </a:r>
            <a:r>
              <a:rPr lang="en-US" dirty="0"/>
              <a:t>.</a:t>
            </a:r>
          </a:p>
          <a:p>
            <a:pPr lvl="0"/>
            <a:r>
              <a:rPr lang="es-PE" dirty="0" err="1"/>
              <a:t>release</a:t>
            </a:r>
            <a:r>
              <a:rPr lang="es-PE" dirty="0"/>
              <a:t>/*: Para preparar nuevas versiones de producción.</a:t>
            </a:r>
            <a:endParaRPr lang="en-US" dirty="0"/>
          </a:p>
          <a:p>
            <a:pPr lvl="0"/>
            <a:r>
              <a:rPr lang="es-PE" dirty="0" err="1"/>
              <a:t>hotfix</a:t>
            </a:r>
            <a:r>
              <a:rPr lang="es-PE" dirty="0"/>
              <a:t>/*: Para corregir errores críticos en producción.</a:t>
            </a:r>
            <a:endParaRPr lang="en-US" dirty="0"/>
          </a:p>
          <a:p>
            <a:endParaRPr lang="es-US" dirty="0"/>
          </a:p>
        </p:txBody>
      </p:sp>
    </p:spTree>
    <p:extLst>
      <p:ext uri="{BB962C8B-B14F-4D97-AF65-F5344CB8AC3E}">
        <p14:creationId xmlns:p14="http://schemas.microsoft.com/office/powerpoint/2010/main" val="249536057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838200" y="365125"/>
            <a:ext cx="10515600" cy="1325563"/>
          </a:xfrm>
        </p:spPr>
        <p:txBody>
          <a:bodyPr/>
          <a:lstStyle/>
          <a:p>
            <a:r>
              <a:rPr lang="es-US" dirty="0"/>
              <a:t>Estrategias </a:t>
            </a:r>
            <a:r>
              <a:rPr lang="es-US" dirty="0" err="1" smtClean="0"/>
              <a:t>Git</a:t>
            </a:r>
            <a:r>
              <a:rPr lang="es-US" dirty="0" smtClean="0"/>
              <a:t> (Continuación…)</a:t>
            </a:r>
            <a:endParaRPr lang="es-US" dirty="0"/>
          </a:p>
        </p:txBody>
      </p:sp>
      <p:sp>
        <p:nvSpPr>
          <p:cNvPr id="7" name="Marcador de contenido 2"/>
          <p:cNvSpPr txBox="1">
            <a:spLocks/>
          </p:cNvSpPr>
          <p:nvPr/>
        </p:nvSpPr>
        <p:spPr>
          <a:xfrm>
            <a:off x="838200" y="1603278"/>
            <a:ext cx="5285509" cy="4933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err="1" smtClean="0"/>
              <a:t>Git</a:t>
            </a:r>
            <a:r>
              <a:rPr lang="en-US" b="1" dirty="0" smtClean="0"/>
              <a:t> Flow</a:t>
            </a:r>
          </a:p>
        </p:txBody>
      </p:sp>
      <p:pic>
        <p:nvPicPr>
          <p:cNvPr id="10" name="Imagen 9"/>
          <p:cNvPicPr>
            <a:picLocks noChangeAspect="1"/>
          </p:cNvPicPr>
          <p:nvPr/>
        </p:nvPicPr>
        <p:blipFill>
          <a:blip r:embed="rId2"/>
          <a:stretch>
            <a:fillRect/>
          </a:stretch>
        </p:blipFill>
        <p:spPr>
          <a:xfrm>
            <a:off x="939692" y="2096656"/>
            <a:ext cx="9580526" cy="4173971"/>
          </a:xfrm>
          <a:prstGeom prst="rect">
            <a:avLst/>
          </a:prstGeom>
        </p:spPr>
      </p:pic>
    </p:spTree>
    <p:extLst>
      <p:ext uri="{BB962C8B-B14F-4D97-AF65-F5344CB8AC3E}">
        <p14:creationId xmlns:p14="http://schemas.microsoft.com/office/powerpoint/2010/main" val="11025930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2242037"/>
            <a:ext cx="4630615" cy="3934925"/>
          </a:xfrm>
          <a:ln>
            <a:solidFill>
              <a:schemeClr val="bg2">
                <a:lumMod val="90000"/>
              </a:schemeClr>
            </a:solidFill>
          </a:ln>
        </p:spPr>
        <p:txBody>
          <a:bodyPr>
            <a:normAutofit fontScale="62500" lnSpcReduction="20000"/>
          </a:bodyPr>
          <a:lstStyle/>
          <a:p>
            <a:pPr marL="0" indent="0">
              <a:buNone/>
            </a:pPr>
            <a:r>
              <a:rPr lang="es-US" dirty="0"/>
              <a:t># </a:t>
            </a:r>
            <a:r>
              <a:rPr lang="es-US" b="1" dirty="0"/>
              <a:t>Iniciar una nueva característica</a:t>
            </a:r>
          </a:p>
          <a:p>
            <a:pPr marL="0" indent="0">
              <a:buNone/>
            </a:pPr>
            <a:r>
              <a:rPr lang="es-US" dirty="0" err="1"/>
              <a:t>git</a:t>
            </a:r>
            <a:r>
              <a:rPr lang="es-US" dirty="0"/>
              <a:t> </a:t>
            </a:r>
            <a:r>
              <a:rPr lang="es-US" dirty="0" err="1"/>
              <a:t>checkout</a:t>
            </a:r>
            <a:r>
              <a:rPr lang="es-US" dirty="0"/>
              <a:t> </a:t>
            </a:r>
            <a:r>
              <a:rPr lang="es-US" dirty="0" err="1"/>
              <a:t>develop</a:t>
            </a:r>
            <a:endParaRPr lang="es-US" dirty="0"/>
          </a:p>
          <a:p>
            <a:pPr marL="0" indent="0">
              <a:buNone/>
            </a:pPr>
            <a:r>
              <a:rPr lang="es-US" dirty="0" err="1"/>
              <a:t>git</a:t>
            </a:r>
            <a:r>
              <a:rPr lang="es-US" dirty="0"/>
              <a:t> </a:t>
            </a:r>
            <a:r>
              <a:rPr lang="es-US" dirty="0" err="1"/>
              <a:t>checkout</a:t>
            </a:r>
            <a:r>
              <a:rPr lang="es-US" dirty="0"/>
              <a:t> -b </a:t>
            </a:r>
            <a:r>
              <a:rPr lang="es-US" dirty="0" err="1"/>
              <a:t>feature</a:t>
            </a:r>
            <a:r>
              <a:rPr lang="es-US" dirty="0"/>
              <a:t>/nueva-funcionalidad</a:t>
            </a:r>
          </a:p>
          <a:p>
            <a:pPr marL="0" indent="0">
              <a:buNone/>
            </a:pPr>
            <a:endParaRPr lang="es-US" dirty="0"/>
          </a:p>
          <a:p>
            <a:pPr marL="0" indent="0">
              <a:buNone/>
            </a:pPr>
            <a:r>
              <a:rPr lang="es-US" dirty="0"/>
              <a:t># Trabajar en la característica y hacer </a:t>
            </a:r>
            <a:r>
              <a:rPr lang="es-US" dirty="0" err="1"/>
              <a:t>commits</a:t>
            </a:r>
            <a:endParaRPr lang="es-US" dirty="0"/>
          </a:p>
          <a:p>
            <a:pPr marL="0" indent="0">
              <a:buNone/>
            </a:pPr>
            <a:r>
              <a:rPr lang="es-US" dirty="0" err="1"/>
              <a:t>git</a:t>
            </a:r>
            <a:r>
              <a:rPr lang="es-US" dirty="0"/>
              <a:t> </a:t>
            </a:r>
            <a:r>
              <a:rPr lang="es-US" dirty="0" err="1"/>
              <a:t>add</a:t>
            </a:r>
            <a:r>
              <a:rPr lang="es-US" dirty="0"/>
              <a:t> .</a:t>
            </a:r>
          </a:p>
          <a:p>
            <a:pPr marL="0" indent="0">
              <a:buNone/>
            </a:pPr>
            <a:r>
              <a:rPr lang="es-US" dirty="0" err="1"/>
              <a:t>git</a:t>
            </a:r>
            <a:r>
              <a:rPr lang="es-US" dirty="0"/>
              <a:t> </a:t>
            </a:r>
            <a:r>
              <a:rPr lang="es-US" dirty="0" err="1"/>
              <a:t>commit</a:t>
            </a:r>
            <a:r>
              <a:rPr lang="es-US" dirty="0"/>
              <a:t> -m "Implementada nueva funcionalidad"</a:t>
            </a:r>
          </a:p>
          <a:p>
            <a:pPr marL="0" indent="0">
              <a:buNone/>
            </a:pPr>
            <a:endParaRPr lang="es-US" dirty="0"/>
          </a:p>
          <a:p>
            <a:pPr marL="0" indent="0">
              <a:buNone/>
            </a:pPr>
            <a:r>
              <a:rPr lang="es-US" dirty="0"/>
              <a:t># Finalizar la característica</a:t>
            </a:r>
          </a:p>
          <a:p>
            <a:pPr marL="0" indent="0">
              <a:buNone/>
            </a:pPr>
            <a:r>
              <a:rPr lang="es-US" dirty="0" err="1"/>
              <a:t>git</a:t>
            </a:r>
            <a:r>
              <a:rPr lang="es-US" dirty="0"/>
              <a:t> </a:t>
            </a:r>
            <a:r>
              <a:rPr lang="es-US" dirty="0" err="1"/>
              <a:t>checkout</a:t>
            </a:r>
            <a:r>
              <a:rPr lang="es-US" dirty="0"/>
              <a:t> </a:t>
            </a:r>
            <a:r>
              <a:rPr lang="es-US" dirty="0" err="1"/>
              <a:t>develop</a:t>
            </a:r>
            <a:endParaRPr lang="es-US" dirty="0"/>
          </a:p>
          <a:p>
            <a:pPr marL="0" indent="0">
              <a:buNone/>
            </a:pPr>
            <a:r>
              <a:rPr lang="es-US" dirty="0" err="1"/>
              <a:t>git</a:t>
            </a:r>
            <a:r>
              <a:rPr lang="es-US" dirty="0"/>
              <a:t> </a:t>
            </a:r>
            <a:r>
              <a:rPr lang="es-US" dirty="0" err="1"/>
              <a:t>merge</a:t>
            </a:r>
            <a:r>
              <a:rPr lang="es-US" dirty="0"/>
              <a:t> </a:t>
            </a:r>
            <a:r>
              <a:rPr lang="es-US" dirty="0" err="1" smtClean="0"/>
              <a:t>feature</a:t>
            </a:r>
            <a:r>
              <a:rPr lang="es-US" dirty="0" smtClean="0"/>
              <a:t>/nueva-funcionalidad</a:t>
            </a:r>
          </a:p>
          <a:p>
            <a:pPr marL="0" indent="0">
              <a:buNone/>
            </a:pPr>
            <a:endParaRPr lang="es-US" dirty="0" smtClean="0"/>
          </a:p>
        </p:txBody>
      </p:sp>
      <p:sp>
        <p:nvSpPr>
          <p:cNvPr id="4" name="Rectángulo 3"/>
          <p:cNvSpPr/>
          <p:nvPr/>
        </p:nvSpPr>
        <p:spPr>
          <a:xfrm>
            <a:off x="5984630" y="2242037"/>
            <a:ext cx="4856285" cy="3416320"/>
          </a:xfrm>
          <a:prstGeom prst="rect">
            <a:avLst/>
          </a:prstGeom>
          <a:ln>
            <a:solidFill>
              <a:schemeClr val="bg2">
                <a:lumMod val="90000"/>
              </a:schemeClr>
            </a:solidFill>
          </a:ln>
        </p:spPr>
        <p:txBody>
          <a:bodyPr wrap="square">
            <a:spAutoFit/>
          </a:bodyPr>
          <a:lstStyle/>
          <a:p>
            <a:r>
              <a:rPr lang="es-US" dirty="0" smtClean="0"/>
              <a:t># </a:t>
            </a:r>
            <a:r>
              <a:rPr lang="es-US" dirty="0"/>
              <a:t>Preparar una </a:t>
            </a:r>
            <a:r>
              <a:rPr lang="es-US" dirty="0" err="1"/>
              <a:t>release</a:t>
            </a:r>
            <a:endParaRPr lang="es-US" dirty="0"/>
          </a:p>
          <a:p>
            <a:r>
              <a:rPr lang="es-US" dirty="0" err="1"/>
              <a:t>git</a:t>
            </a:r>
            <a:r>
              <a:rPr lang="es-US" dirty="0"/>
              <a:t> </a:t>
            </a:r>
            <a:r>
              <a:rPr lang="es-US" dirty="0" err="1"/>
              <a:t>checkout</a:t>
            </a:r>
            <a:r>
              <a:rPr lang="es-US" dirty="0"/>
              <a:t> -b </a:t>
            </a:r>
            <a:r>
              <a:rPr lang="es-US" dirty="0" err="1"/>
              <a:t>release</a:t>
            </a:r>
            <a:r>
              <a:rPr lang="es-US" dirty="0"/>
              <a:t>/v1.0.0</a:t>
            </a:r>
          </a:p>
          <a:p>
            <a:r>
              <a:rPr lang="es-US" dirty="0"/>
              <a:t># Realizar ajustes finales si es necesario</a:t>
            </a:r>
          </a:p>
          <a:p>
            <a:endParaRPr lang="es-US" dirty="0" smtClean="0"/>
          </a:p>
          <a:p>
            <a:r>
              <a:rPr lang="es-US" dirty="0" smtClean="0"/>
              <a:t># </a:t>
            </a:r>
            <a:r>
              <a:rPr lang="es-US" dirty="0"/>
              <a:t>Fusionar la </a:t>
            </a:r>
            <a:r>
              <a:rPr lang="es-US" dirty="0" err="1"/>
              <a:t>release</a:t>
            </a:r>
            <a:r>
              <a:rPr lang="es-US" dirty="0"/>
              <a:t> en </a:t>
            </a:r>
            <a:r>
              <a:rPr lang="es-US" dirty="0" err="1"/>
              <a:t>main</a:t>
            </a:r>
            <a:r>
              <a:rPr lang="es-US" dirty="0"/>
              <a:t> y </a:t>
            </a:r>
            <a:r>
              <a:rPr lang="es-US" dirty="0" err="1"/>
              <a:t>develop</a:t>
            </a:r>
            <a:endParaRPr lang="es-US" dirty="0"/>
          </a:p>
          <a:p>
            <a:r>
              <a:rPr lang="es-US" dirty="0" err="1"/>
              <a:t>git</a:t>
            </a:r>
            <a:r>
              <a:rPr lang="es-US" dirty="0"/>
              <a:t> </a:t>
            </a:r>
            <a:r>
              <a:rPr lang="es-US" dirty="0" err="1"/>
              <a:t>checkout</a:t>
            </a:r>
            <a:r>
              <a:rPr lang="es-US" dirty="0"/>
              <a:t> </a:t>
            </a:r>
            <a:r>
              <a:rPr lang="es-US" dirty="0" err="1"/>
              <a:t>main</a:t>
            </a:r>
            <a:endParaRPr lang="es-US" dirty="0"/>
          </a:p>
          <a:p>
            <a:r>
              <a:rPr lang="es-US" dirty="0" err="1"/>
              <a:t>git</a:t>
            </a:r>
            <a:r>
              <a:rPr lang="es-US" dirty="0"/>
              <a:t> </a:t>
            </a:r>
            <a:r>
              <a:rPr lang="es-US" dirty="0" err="1"/>
              <a:t>merge</a:t>
            </a:r>
            <a:r>
              <a:rPr lang="es-US" dirty="0"/>
              <a:t> </a:t>
            </a:r>
            <a:r>
              <a:rPr lang="es-US" dirty="0" err="1"/>
              <a:t>release</a:t>
            </a:r>
            <a:r>
              <a:rPr lang="es-US" dirty="0"/>
              <a:t>/v1.0.0</a:t>
            </a:r>
          </a:p>
          <a:p>
            <a:r>
              <a:rPr lang="es-US" dirty="0" err="1"/>
              <a:t>git</a:t>
            </a:r>
            <a:r>
              <a:rPr lang="es-US" dirty="0"/>
              <a:t> </a:t>
            </a:r>
            <a:r>
              <a:rPr lang="es-US" dirty="0" err="1"/>
              <a:t>checkout</a:t>
            </a:r>
            <a:r>
              <a:rPr lang="es-US" dirty="0"/>
              <a:t> </a:t>
            </a:r>
            <a:r>
              <a:rPr lang="es-US" dirty="0" err="1"/>
              <a:t>develop</a:t>
            </a:r>
            <a:endParaRPr lang="es-US" dirty="0"/>
          </a:p>
          <a:p>
            <a:r>
              <a:rPr lang="es-US" dirty="0" err="1"/>
              <a:t>git</a:t>
            </a:r>
            <a:r>
              <a:rPr lang="es-US" dirty="0"/>
              <a:t> </a:t>
            </a:r>
            <a:r>
              <a:rPr lang="es-US" dirty="0" err="1"/>
              <a:t>merge</a:t>
            </a:r>
            <a:r>
              <a:rPr lang="es-US" dirty="0"/>
              <a:t> </a:t>
            </a:r>
            <a:r>
              <a:rPr lang="es-US" dirty="0" err="1"/>
              <a:t>release</a:t>
            </a:r>
            <a:r>
              <a:rPr lang="es-US" dirty="0"/>
              <a:t>/v1.0.0</a:t>
            </a:r>
          </a:p>
          <a:p>
            <a:endParaRPr lang="es-US" dirty="0"/>
          </a:p>
          <a:p>
            <a:r>
              <a:rPr lang="es-US" dirty="0"/>
              <a:t># Etiquetar la versión</a:t>
            </a:r>
          </a:p>
          <a:p>
            <a:r>
              <a:rPr lang="es-US" dirty="0" err="1"/>
              <a:t>git</a:t>
            </a:r>
            <a:r>
              <a:rPr lang="es-US" dirty="0"/>
              <a:t> </a:t>
            </a:r>
            <a:r>
              <a:rPr lang="es-US" dirty="0" err="1"/>
              <a:t>tag</a:t>
            </a:r>
            <a:r>
              <a:rPr lang="es-US" dirty="0"/>
              <a:t> -a v1.0.0 -m "Versión 1.0.0"</a:t>
            </a:r>
          </a:p>
        </p:txBody>
      </p:sp>
      <p:sp>
        <p:nvSpPr>
          <p:cNvPr id="5" name="Rectángulo 4"/>
          <p:cNvSpPr/>
          <p:nvPr/>
        </p:nvSpPr>
        <p:spPr>
          <a:xfrm>
            <a:off x="838200" y="1588265"/>
            <a:ext cx="4516315" cy="523220"/>
          </a:xfrm>
          <a:prstGeom prst="rect">
            <a:avLst/>
          </a:prstGeom>
        </p:spPr>
        <p:txBody>
          <a:bodyPr wrap="square">
            <a:spAutoFit/>
          </a:bodyPr>
          <a:lstStyle/>
          <a:p>
            <a:r>
              <a:rPr lang="es-PE" sz="2800" b="1" dirty="0" err="1" smtClean="0"/>
              <a:t>Git</a:t>
            </a:r>
            <a:r>
              <a:rPr lang="es-PE" sz="2800" b="1" dirty="0" smtClean="0"/>
              <a:t> </a:t>
            </a:r>
            <a:r>
              <a:rPr lang="es-PE" sz="2800" b="1" dirty="0" err="1" smtClean="0"/>
              <a:t>Flow</a:t>
            </a:r>
            <a:r>
              <a:rPr lang="es-PE" sz="2800" b="1" dirty="0" smtClean="0"/>
              <a:t> - ejemplo</a:t>
            </a:r>
            <a:endParaRPr lang="es-US" sz="2800" dirty="0"/>
          </a:p>
        </p:txBody>
      </p:sp>
    </p:spTree>
    <p:extLst>
      <p:ext uri="{BB962C8B-B14F-4D97-AF65-F5344CB8AC3E}">
        <p14:creationId xmlns:p14="http://schemas.microsoft.com/office/powerpoint/2010/main" val="16163485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1603277"/>
            <a:ext cx="10515600" cy="1380067"/>
          </a:xfrm>
        </p:spPr>
        <p:txBody>
          <a:bodyPr>
            <a:normAutofit fontScale="85000" lnSpcReduction="20000"/>
          </a:bodyPr>
          <a:lstStyle/>
          <a:p>
            <a:pPr marL="0" indent="0">
              <a:buNone/>
            </a:pPr>
            <a:r>
              <a:rPr lang="en-US" b="1" dirty="0" err="1" smtClean="0"/>
              <a:t>GitLab</a:t>
            </a:r>
            <a:r>
              <a:rPr lang="en-US" b="1" dirty="0" smtClean="0"/>
              <a:t> Flow</a:t>
            </a:r>
          </a:p>
          <a:p>
            <a:pPr marL="0" indent="0">
              <a:buNone/>
            </a:pPr>
            <a:r>
              <a:rPr lang="es-US" dirty="0" smtClean="0"/>
              <a:t>Es una </a:t>
            </a:r>
            <a:r>
              <a:rPr lang="es-US" dirty="0"/>
              <a:t>estrategia de ramificación </a:t>
            </a:r>
            <a:r>
              <a:rPr lang="es-US" dirty="0" smtClean="0"/>
              <a:t>simplificada, diseñada </a:t>
            </a:r>
            <a:r>
              <a:rPr lang="es-US" dirty="0"/>
              <a:t>específicamente para proyectos con despliegue continuo y varios entornos de desarrollo (como </a:t>
            </a:r>
            <a:r>
              <a:rPr lang="es-US" dirty="0" err="1"/>
              <a:t>staging</a:t>
            </a:r>
            <a:r>
              <a:rPr lang="es-US" dirty="0"/>
              <a:t>, pre-producción y producción).</a:t>
            </a:r>
          </a:p>
        </p:txBody>
      </p:sp>
      <p:sp>
        <p:nvSpPr>
          <p:cNvPr id="7" name="Rectángulo 6"/>
          <p:cNvSpPr/>
          <p:nvPr/>
        </p:nvSpPr>
        <p:spPr>
          <a:xfrm>
            <a:off x="838200" y="3067334"/>
            <a:ext cx="10275277" cy="3497589"/>
          </a:xfrm>
          <a:prstGeom prst="rect">
            <a:avLst/>
          </a:prstGeom>
        </p:spPr>
        <p:txBody>
          <a:bodyPr vert="horz" lIns="91440" tIns="45720" rIns="91440" bIns="45720" rtlCol="0">
            <a:normAutofit lnSpcReduction="10000"/>
          </a:bodyPr>
          <a:lstStyle/>
          <a:p>
            <a:pPr>
              <a:lnSpc>
                <a:spcPct val="90000"/>
              </a:lnSpc>
              <a:spcBef>
                <a:spcPts val="1000"/>
              </a:spcBef>
              <a:buFont typeface="Arial" panose="020B0604020202020204" pitchFamily="34" charset="0"/>
              <a:buNone/>
            </a:pPr>
            <a:r>
              <a:rPr lang="es-US" sz="2800" b="1" dirty="0"/>
              <a:t>Ramas principales:</a:t>
            </a:r>
          </a:p>
          <a:p>
            <a:pPr>
              <a:lnSpc>
                <a:spcPct val="90000"/>
              </a:lnSpc>
              <a:spcBef>
                <a:spcPts val="1000"/>
              </a:spcBef>
              <a:buFont typeface="Arial" panose="020B0604020202020204" pitchFamily="34" charset="0"/>
              <a:buNone/>
            </a:pPr>
            <a:r>
              <a:rPr lang="es-US" sz="2800" dirty="0" err="1" smtClean="0"/>
              <a:t>Production</a:t>
            </a:r>
            <a:r>
              <a:rPr lang="es-US" sz="2800" dirty="0" smtClean="0"/>
              <a:t>: </a:t>
            </a:r>
            <a:r>
              <a:rPr lang="es-US" sz="2600" dirty="0" smtClean="0"/>
              <a:t>Solo </a:t>
            </a:r>
            <a:r>
              <a:rPr lang="es-US" sz="2600" dirty="0"/>
              <a:t>se deben fusionar a esta rama los cambios que han sido probados en </a:t>
            </a:r>
            <a:r>
              <a:rPr lang="es-US" sz="2600" dirty="0" err="1"/>
              <a:t>Staging</a:t>
            </a:r>
            <a:r>
              <a:rPr lang="es-US" sz="2600" dirty="0"/>
              <a:t> y aprobados para desplegarse.</a:t>
            </a:r>
          </a:p>
          <a:p>
            <a:pPr>
              <a:lnSpc>
                <a:spcPct val="90000"/>
              </a:lnSpc>
              <a:spcBef>
                <a:spcPts val="1000"/>
              </a:spcBef>
              <a:buFont typeface="Arial" panose="020B0604020202020204" pitchFamily="34" charset="0"/>
              <a:buNone/>
            </a:pPr>
            <a:r>
              <a:rPr lang="en-US" sz="2800" dirty="0"/>
              <a:t>Staging</a:t>
            </a:r>
            <a:r>
              <a:rPr lang="en-US" sz="2800" dirty="0" smtClean="0"/>
              <a:t>: </a:t>
            </a:r>
            <a:r>
              <a:rPr lang="es-PE" sz="2600" dirty="0" smtClean="0"/>
              <a:t>Es </a:t>
            </a:r>
            <a:r>
              <a:rPr lang="es-PE" sz="2600" dirty="0"/>
              <a:t>un entorno intermedio para probar nuevas funcionalidades antes de pasar a producción.</a:t>
            </a:r>
          </a:p>
          <a:p>
            <a:pPr>
              <a:lnSpc>
                <a:spcPct val="90000"/>
              </a:lnSpc>
              <a:spcBef>
                <a:spcPts val="1000"/>
              </a:spcBef>
              <a:buFont typeface="Arial" panose="020B0604020202020204" pitchFamily="34" charset="0"/>
              <a:buNone/>
            </a:pPr>
            <a:r>
              <a:rPr lang="en-US" sz="2800" dirty="0"/>
              <a:t>Feature</a:t>
            </a:r>
            <a:r>
              <a:rPr lang="en-US" sz="2800" dirty="0" smtClean="0"/>
              <a:t>: </a:t>
            </a:r>
            <a:r>
              <a:rPr lang="es-PE" sz="2600" dirty="0" smtClean="0"/>
              <a:t>Cada </a:t>
            </a:r>
            <a:r>
              <a:rPr lang="es-PE" sz="2600" dirty="0"/>
              <a:t>nueva característica o funcionalidad se desarrolla en una rama independiente de </a:t>
            </a:r>
            <a:r>
              <a:rPr lang="es-PE" sz="2600" dirty="0" err="1" smtClean="0"/>
              <a:t>Staging</a:t>
            </a:r>
            <a:r>
              <a:rPr lang="es-PE" sz="2600" dirty="0" smtClean="0"/>
              <a:t>. Una </a:t>
            </a:r>
            <a:r>
              <a:rPr lang="es-PE" sz="2600" dirty="0"/>
              <a:t>vez que se completa la funcionalidad, se realiza una revisión (</a:t>
            </a:r>
            <a:r>
              <a:rPr lang="es-PE" sz="2600" dirty="0" err="1"/>
              <a:t>merge</a:t>
            </a:r>
            <a:r>
              <a:rPr lang="es-PE" sz="2600" dirty="0"/>
              <a:t> </a:t>
            </a:r>
            <a:r>
              <a:rPr lang="es-PE" sz="2600" dirty="0" err="1"/>
              <a:t>request</a:t>
            </a:r>
            <a:r>
              <a:rPr lang="es-PE" sz="2600" dirty="0"/>
              <a:t>) y se fusiona en </a:t>
            </a:r>
            <a:r>
              <a:rPr lang="es-PE" sz="2600" dirty="0" err="1"/>
              <a:t>Staging</a:t>
            </a:r>
            <a:r>
              <a:rPr lang="es-PE" sz="2600" dirty="0"/>
              <a:t> para ser probada</a:t>
            </a:r>
            <a:r>
              <a:rPr lang="es-PE" sz="2600" dirty="0" smtClean="0"/>
              <a:t>.</a:t>
            </a:r>
          </a:p>
          <a:p>
            <a:pPr>
              <a:lnSpc>
                <a:spcPct val="90000"/>
              </a:lnSpc>
              <a:spcBef>
                <a:spcPts val="1000"/>
              </a:spcBef>
              <a:buFont typeface="Arial" panose="020B0604020202020204" pitchFamily="34" charset="0"/>
              <a:buNone/>
            </a:pPr>
            <a:endParaRPr lang="es-US" sz="2800" dirty="0"/>
          </a:p>
        </p:txBody>
      </p:sp>
    </p:spTree>
    <p:extLst>
      <p:ext uri="{BB962C8B-B14F-4D97-AF65-F5344CB8AC3E}">
        <p14:creationId xmlns:p14="http://schemas.microsoft.com/office/powerpoint/2010/main" val="34466708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1603277"/>
            <a:ext cx="10515600" cy="419487"/>
          </a:xfrm>
        </p:spPr>
        <p:txBody>
          <a:bodyPr>
            <a:normAutofit fontScale="92500" lnSpcReduction="10000"/>
          </a:bodyPr>
          <a:lstStyle/>
          <a:p>
            <a:pPr marL="0" indent="0">
              <a:buNone/>
            </a:pPr>
            <a:r>
              <a:rPr lang="en-US" b="1" dirty="0" err="1" smtClean="0"/>
              <a:t>GitLab</a:t>
            </a:r>
            <a:r>
              <a:rPr lang="en-US" b="1" dirty="0" smtClean="0"/>
              <a:t> Flow</a:t>
            </a:r>
          </a:p>
        </p:txBody>
      </p:sp>
      <p:pic>
        <p:nvPicPr>
          <p:cNvPr id="5" name="Imagen 4"/>
          <p:cNvPicPr>
            <a:picLocks noChangeAspect="1"/>
          </p:cNvPicPr>
          <p:nvPr/>
        </p:nvPicPr>
        <p:blipFill>
          <a:blip r:embed="rId2"/>
          <a:stretch>
            <a:fillRect/>
          </a:stretch>
        </p:blipFill>
        <p:spPr>
          <a:xfrm>
            <a:off x="1459346" y="2096654"/>
            <a:ext cx="7660752" cy="4148180"/>
          </a:xfrm>
          <a:prstGeom prst="rect">
            <a:avLst/>
          </a:prstGeom>
        </p:spPr>
      </p:pic>
    </p:spTree>
    <p:extLst>
      <p:ext uri="{BB962C8B-B14F-4D97-AF65-F5344CB8AC3E}">
        <p14:creationId xmlns:p14="http://schemas.microsoft.com/office/powerpoint/2010/main" val="20695537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1603277"/>
            <a:ext cx="10515600" cy="2236421"/>
          </a:xfrm>
        </p:spPr>
        <p:txBody>
          <a:bodyPr>
            <a:normAutofit/>
          </a:bodyPr>
          <a:lstStyle/>
          <a:p>
            <a:pPr marL="0" indent="0">
              <a:buNone/>
            </a:pPr>
            <a:r>
              <a:rPr lang="en-US" b="1" dirty="0" smtClean="0"/>
              <a:t>Trunk-Based</a:t>
            </a:r>
          </a:p>
          <a:p>
            <a:pPr marL="0" indent="0">
              <a:buNone/>
            </a:pPr>
            <a:r>
              <a:rPr lang="es-US" dirty="0"/>
              <a:t>Esta estrategia promueve la integración continua y el trabajo en una única rama principal, también conocida como </a:t>
            </a:r>
            <a:r>
              <a:rPr lang="es-US" dirty="0" err="1"/>
              <a:t>trunk</a:t>
            </a:r>
            <a:r>
              <a:rPr lang="es-US" dirty="0"/>
              <a:t> (tronco). Cada desarrollador trabaja en pequeñas ramas temporales que se fusionan rápidamente en la rama principal.</a:t>
            </a:r>
          </a:p>
        </p:txBody>
      </p:sp>
      <p:sp>
        <p:nvSpPr>
          <p:cNvPr id="7" name="Rectángulo 6"/>
          <p:cNvSpPr/>
          <p:nvPr/>
        </p:nvSpPr>
        <p:spPr>
          <a:xfrm>
            <a:off x="838200" y="3839698"/>
            <a:ext cx="10178562" cy="1938992"/>
          </a:xfrm>
          <a:prstGeom prst="rect">
            <a:avLst/>
          </a:prstGeom>
        </p:spPr>
        <p:txBody>
          <a:bodyPr wrap="square">
            <a:spAutoFit/>
          </a:bodyPr>
          <a:lstStyle/>
          <a:p>
            <a:r>
              <a:rPr lang="es-US" sz="2400" dirty="0"/>
              <a:t>Características principales</a:t>
            </a:r>
            <a:r>
              <a:rPr lang="es-US" sz="2400" dirty="0" smtClean="0"/>
              <a:t>:</a:t>
            </a:r>
          </a:p>
          <a:p>
            <a:pPr marL="285750" indent="-285750">
              <a:buFont typeface="Arial" panose="020B0604020202020204" pitchFamily="34" charset="0"/>
              <a:buChar char="•"/>
            </a:pPr>
            <a:r>
              <a:rPr lang="es-US" sz="2400" dirty="0"/>
              <a:t>Una única rama principal (</a:t>
            </a:r>
            <a:r>
              <a:rPr lang="es-US" sz="2400" dirty="0" err="1"/>
              <a:t>main</a:t>
            </a:r>
            <a:r>
              <a:rPr lang="es-US" sz="2400" dirty="0"/>
              <a:t> o </a:t>
            </a:r>
            <a:r>
              <a:rPr lang="es-US" sz="2400" dirty="0" err="1"/>
              <a:t>trunk</a:t>
            </a:r>
            <a:r>
              <a:rPr lang="es-US" sz="2400" dirty="0"/>
              <a:t>).</a:t>
            </a:r>
          </a:p>
          <a:p>
            <a:pPr marL="285750" indent="-285750">
              <a:buFont typeface="Arial" panose="020B0604020202020204" pitchFamily="34" charset="0"/>
              <a:buChar char="•"/>
            </a:pPr>
            <a:r>
              <a:rPr lang="es-US" sz="2400" dirty="0"/>
              <a:t>Se crean ramas de corta duración (horas o un día) para desarrollar pequeñas tareas o funcionalidades.</a:t>
            </a:r>
          </a:p>
          <a:p>
            <a:pPr marL="285750" indent="-285750">
              <a:buFont typeface="Arial" panose="020B0604020202020204" pitchFamily="34" charset="0"/>
              <a:buChar char="•"/>
            </a:pPr>
            <a:r>
              <a:rPr lang="es-US" sz="2400" dirty="0"/>
              <a:t>Las ramas se integran frecuentemente en </a:t>
            </a:r>
            <a:r>
              <a:rPr lang="es-US" sz="2400" dirty="0" err="1"/>
              <a:t>main</a:t>
            </a:r>
            <a:r>
              <a:rPr lang="es-US" sz="2400" dirty="0"/>
              <a:t>, a menudo varias veces al día</a:t>
            </a:r>
            <a:r>
              <a:rPr lang="es-US" sz="2400" dirty="0" smtClean="0"/>
              <a:t>.</a:t>
            </a:r>
            <a:endParaRPr lang="es-US" sz="2400" dirty="0"/>
          </a:p>
        </p:txBody>
      </p:sp>
    </p:spTree>
    <p:extLst>
      <p:ext uri="{BB962C8B-B14F-4D97-AF65-F5344CB8AC3E}">
        <p14:creationId xmlns:p14="http://schemas.microsoft.com/office/powerpoint/2010/main" val="27996257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1603278"/>
            <a:ext cx="10515600" cy="452536"/>
          </a:xfrm>
        </p:spPr>
        <p:txBody>
          <a:bodyPr>
            <a:normAutofit lnSpcReduction="10000"/>
          </a:bodyPr>
          <a:lstStyle/>
          <a:p>
            <a:pPr marL="0" indent="0">
              <a:buNone/>
            </a:pPr>
            <a:r>
              <a:rPr lang="en-US" b="1" dirty="0" smtClean="0"/>
              <a:t>Trunk-Based</a:t>
            </a:r>
          </a:p>
        </p:txBody>
      </p:sp>
      <p:pic>
        <p:nvPicPr>
          <p:cNvPr id="5" name="Imagen 4"/>
          <p:cNvPicPr>
            <a:picLocks noChangeAspect="1"/>
          </p:cNvPicPr>
          <p:nvPr/>
        </p:nvPicPr>
        <p:blipFill>
          <a:blip r:embed="rId2"/>
          <a:stretch>
            <a:fillRect/>
          </a:stretch>
        </p:blipFill>
        <p:spPr>
          <a:xfrm>
            <a:off x="1084658" y="2714152"/>
            <a:ext cx="9956646" cy="2541339"/>
          </a:xfrm>
          <a:prstGeom prst="rect">
            <a:avLst/>
          </a:prstGeom>
        </p:spPr>
      </p:pic>
    </p:spTree>
    <p:extLst>
      <p:ext uri="{BB962C8B-B14F-4D97-AF65-F5344CB8AC3E}">
        <p14:creationId xmlns:p14="http://schemas.microsoft.com/office/powerpoint/2010/main" val="17572663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Estrategias </a:t>
            </a:r>
            <a:r>
              <a:rPr lang="es-US" dirty="0" err="1" smtClean="0"/>
              <a:t>Git</a:t>
            </a:r>
            <a:r>
              <a:rPr lang="es-US" dirty="0" smtClean="0"/>
              <a:t> (Continuación…)</a:t>
            </a:r>
            <a:endParaRPr lang="es-US" dirty="0"/>
          </a:p>
        </p:txBody>
      </p:sp>
      <p:sp>
        <p:nvSpPr>
          <p:cNvPr id="3" name="Marcador de contenido 2"/>
          <p:cNvSpPr>
            <a:spLocks noGrp="1"/>
          </p:cNvSpPr>
          <p:nvPr>
            <p:ph idx="1"/>
          </p:nvPr>
        </p:nvSpPr>
        <p:spPr>
          <a:xfrm>
            <a:off x="838200" y="1603277"/>
            <a:ext cx="10515600" cy="4640505"/>
          </a:xfrm>
        </p:spPr>
        <p:txBody>
          <a:bodyPr>
            <a:normAutofit fontScale="70000" lnSpcReduction="20000"/>
          </a:bodyPr>
          <a:lstStyle/>
          <a:p>
            <a:pPr marL="0" indent="0">
              <a:buNone/>
            </a:pPr>
            <a:r>
              <a:rPr lang="en-US" b="1" dirty="0" err="1" smtClean="0"/>
              <a:t>Ejemplo</a:t>
            </a:r>
            <a:endParaRPr lang="en-US" b="1" dirty="0" smtClean="0"/>
          </a:p>
          <a:p>
            <a:pPr marL="0" indent="0">
              <a:buNone/>
            </a:pPr>
            <a:r>
              <a:rPr lang="es-US" dirty="0" smtClean="0"/>
              <a:t>Pasos a seguir</a:t>
            </a:r>
          </a:p>
          <a:p>
            <a:pPr marL="0" indent="0">
              <a:buNone/>
            </a:pPr>
            <a:r>
              <a:rPr lang="es-US" dirty="0"/>
              <a:t>Configuración inicial:</a:t>
            </a:r>
          </a:p>
          <a:p>
            <a:r>
              <a:rPr lang="es-US" dirty="0" smtClean="0"/>
              <a:t>Crea </a:t>
            </a:r>
            <a:r>
              <a:rPr lang="es-US" dirty="0"/>
              <a:t>el proyecto con la estructura y los archivos proporcionados.</a:t>
            </a:r>
          </a:p>
          <a:p>
            <a:r>
              <a:rPr lang="es-US" dirty="0"/>
              <a:t>Inicializa un repositorio </a:t>
            </a:r>
            <a:r>
              <a:rPr lang="es-US" dirty="0" err="1"/>
              <a:t>Git</a:t>
            </a:r>
            <a:r>
              <a:rPr lang="es-US" dirty="0"/>
              <a:t>: </a:t>
            </a:r>
            <a:endParaRPr lang="es-US" dirty="0" smtClean="0"/>
          </a:p>
          <a:p>
            <a:pPr marL="268288" indent="0">
              <a:buNone/>
            </a:pPr>
            <a:r>
              <a:rPr lang="es-US" dirty="0" err="1" smtClean="0"/>
              <a:t>git</a:t>
            </a:r>
            <a:r>
              <a:rPr lang="es-US" dirty="0" smtClean="0"/>
              <a:t> </a:t>
            </a:r>
            <a:r>
              <a:rPr lang="es-US" dirty="0" err="1"/>
              <a:t>init</a:t>
            </a:r>
            <a:endParaRPr lang="es-US" dirty="0"/>
          </a:p>
          <a:p>
            <a:r>
              <a:rPr lang="es-US" dirty="0"/>
              <a:t>Haz el </a:t>
            </a:r>
            <a:r>
              <a:rPr lang="es-US" dirty="0" err="1"/>
              <a:t>commit</a:t>
            </a:r>
            <a:r>
              <a:rPr lang="es-US" dirty="0"/>
              <a:t> inicial: </a:t>
            </a:r>
            <a:endParaRPr lang="es-US" dirty="0" smtClean="0"/>
          </a:p>
          <a:p>
            <a:pPr marL="268288" indent="0">
              <a:buNone/>
            </a:pPr>
            <a:r>
              <a:rPr lang="es-US" dirty="0" err="1" smtClean="0"/>
              <a:t>git</a:t>
            </a:r>
            <a:r>
              <a:rPr lang="es-US" dirty="0" smtClean="0"/>
              <a:t> </a:t>
            </a:r>
            <a:r>
              <a:rPr lang="es-US" dirty="0" err="1"/>
              <a:t>add</a:t>
            </a:r>
            <a:r>
              <a:rPr lang="es-US" dirty="0"/>
              <a:t> . </a:t>
            </a:r>
            <a:endParaRPr lang="es-US" dirty="0" smtClean="0"/>
          </a:p>
          <a:p>
            <a:pPr marL="268288" indent="0">
              <a:buNone/>
            </a:pPr>
            <a:r>
              <a:rPr lang="es-US" dirty="0" err="1" smtClean="0"/>
              <a:t>git</a:t>
            </a:r>
            <a:r>
              <a:rPr lang="es-US" dirty="0" smtClean="0"/>
              <a:t> </a:t>
            </a:r>
            <a:r>
              <a:rPr lang="es-US" dirty="0" err="1"/>
              <a:t>commit</a:t>
            </a:r>
            <a:r>
              <a:rPr lang="es-US" dirty="0"/>
              <a:t> -m "</a:t>
            </a:r>
            <a:r>
              <a:rPr lang="es-US" dirty="0" err="1"/>
              <a:t>Initial</a:t>
            </a:r>
            <a:r>
              <a:rPr lang="es-US" dirty="0"/>
              <a:t> </a:t>
            </a:r>
            <a:r>
              <a:rPr lang="es-US" dirty="0" err="1"/>
              <a:t>commit</a:t>
            </a:r>
            <a:r>
              <a:rPr lang="es-US" dirty="0" smtClean="0"/>
              <a:t>"</a:t>
            </a:r>
            <a:endParaRPr lang="es-US" dirty="0"/>
          </a:p>
          <a:p>
            <a:pPr marL="0" indent="0">
              <a:buNone/>
            </a:pPr>
            <a:r>
              <a:rPr lang="es-US" dirty="0"/>
              <a:t>Desarrollo de una nueva característica</a:t>
            </a:r>
            <a:r>
              <a:rPr lang="es-US" dirty="0" smtClean="0"/>
              <a:t>:</a:t>
            </a:r>
            <a:endParaRPr lang="es-US" dirty="0"/>
          </a:p>
          <a:p>
            <a:r>
              <a:rPr lang="es-US" dirty="0"/>
              <a:t>La nueva característica (nuevo sistema de registro de usuarios) está detrás de un </a:t>
            </a:r>
            <a:r>
              <a:rPr lang="es-US" dirty="0" err="1"/>
              <a:t>feature</a:t>
            </a:r>
            <a:r>
              <a:rPr lang="es-US" dirty="0"/>
              <a:t> </a:t>
            </a:r>
            <a:r>
              <a:rPr lang="es-US" dirty="0" err="1"/>
              <a:t>flag</a:t>
            </a:r>
            <a:r>
              <a:rPr lang="es-US" dirty="0"/>
              <a:t>.</a:t>
            </a:r>
          </a:p>
          <a:p>
            <a:r>
              <a:rPr lang="es-US" dirty="0"/>
              <a:t>Los desarrolladores pueden trabajar en esta característica y hacer </a:t>
            </a:r>
            <a:r>
              <a:rPr lang="es-US" dirty="0" err="1"/>
              <a:t>commits</a:t>
            </a:r>
            <a:r>
              <a:rPr lang="es-US" dirty="0"/>
              <a:t> frecuentes al </a:t>
            </a:r>
            <a:r>
              <a:rPr lang="es-US" dirty="0" err="1"/>
              <a:t>trunk</a:t>
            </a:r>
            <a:r>
              <a:rPr lang="es-US" dirty="0"/>
              <a:t> (rama </a:t>
            </a:r>
            <a:r>
              <a:rPr lang="es-US" dirty="0" err="1"/>
              <a:t>main</a:t>
            </a:r>
            <a:r>
              <a:rPr lang="es-US" dirty="0"/>
              <a:t>).</a:t>
            </a:r>
          </a:p>
        </p:txBody>
      </p:sp>
    </p:spTree>
    <p:extLst>
      <p:ext uri="{BB962C8B-B14F-4D97-AF65-F5344CB8AC3E}">
        <p14:creationId xmlns:p14="http://schemas.microsoft.com/office/powerpoint/2010/main" val="14623161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smtClean="0"/>
              <a:t>Preparación del ambiente de trabajo</a:t>
            </a:r>
            <a:endParaRPr lang="es-US" dirty="0"/>
          </a:p>
        </p:txBody>
      </p:sp>
      <p:sp>
        <p:nvSpPr>
          <p:cNvPr id="3" name="Marcador de contenido 2"/>
          <p:cNvSpPr>
            <a:spLocks noGrp="1"/>
          </p:cNvSpPr>
          <p:nvPr>
            <p:ph idx="1"/>
          </p:nvPr>
        </p:nvSpPr>
        <p:spPr/>
        <p:txBody>
          <a:bodyPr/>
          <a:lstStyle/>
          <a:p>
            <a:r>
              <a:rPr lang="es-US" dirty="0" smtClean="0"/>
              <a:t>Instalación de </a:t>
            </a:r>
            <a:r>
              <a:rPr lang="es-US" dirty="0" err="1" smtClean="0"/>
              <a:t>Git</a:t>
            </a:r>
            <a:r>
              <a:rPr lang="es-US" dirty="0" smtClean="0"/>
              <a:t> Desktop</a:t>
            </a:r>
          </a:p>
          <a:p>
            <a:r>
              <a:rPr lang="es-US" dirty="0" smtClean="0"/>
              <a:t>Instalación de Java</a:t>
            </a:r>
          </a:p>
          <a:p>
            <a:r>
              <a:rPr lang="es-US" dirty="0" smtClean="0"/>
              <a:t>Instalación de </a:t>
            </a:r>
            <a:r>
              <a:rPr lang="es-US" dirty="0" err="1" smtClean="0"/>
              <a:t>Nodejs</a:t>
            </a:r>
            <a:endParaRPr lang="es-US" dirty="0" smtClean="0"/>
          </a:p>
          <a:p>
            <a:r>
              <a:rPr lang="es-US" dirty="0" smtClean="0"/>
              <a:t>Instalación de Python</a:t>
            </a:r>
          </a:p>
          <a:p>
            <a:r>
              <a:rPr lang="es-US" dirty="0" smtClean="0"/>
              <a:t>Instalación de </a:t>
            </a:r>
            <a:r>
              <a:rPr lang="es-US" dirty="0" err="1" smtClean="0"/>
              <a:t>Docker</a:t>
            </a:r>
            <a:endParaRPr lang="es-US" dirty="0" smtClean="0"/>
          </a:p>
          <a:p>
            <a:r>
              <a:rPr lang="es-US" dirty="0" smtClean="0"/>
              <a:t>Instalación de </a:t>
            </a:r>
            <a:r>
              <a:rPr lang="es-US" dirty="0" err="1" smtClean="0"/>
              <a:t>Postman</a:t>
            </a:r>
            <a:endParaRPr lang="es-US" dirty="0" smtClean="0"/>
          </a:p>
          <a:p>
            <a:r>
              <a:rPr lang="es-US" dirty="0" err="1" smtClean="0"/>
              <a:t>Creacion</a:t>
            </a:r>
            <a:r>
              <a:rPr lang="es-US" dirty="0" smtClean="0"/>
              <a:t> de cuentas en </a:t>
            </a:r>
            <a:r>
              <a:rPr lang="es-US" dirty="0" err="1" smtClean="0"/>
              <a:t>Azure</a:t>
            </a:r>
            <a:r>
              <a:rPr lang="es-US" dirty="0" smtClean="0"/>
              <a:t>, AWS, </a:t>
            </a:r>
            <a:r>
              <a:rPr lang="es-US" dirty="0" err="1" smtClean="0"/>
              <a:t>Git</a:t>
            </a:r>
            <a:r>
              <a:rPr lang="es-US" dirty="0" smtClean="0"/>
              <a:t>, </a:t>
            </a:r>
            <a:r>
              <a:rPr lang="es-US" dirty="0" err="1" smtClean="0"/>
              <a:t>Docker</a:t>
            </a:r>
            <a:r>
              <a:rPr lang="es-US" dirty="0" smtClean="0"/>
              <a:t> </a:t>
            </a:r>
            <a:r>
              <a:rPr lang="es-US" dirty="0" err="1" smtClean="0"/>
              <a:t>Hub</a:t>
            </a:r>
            <a:r>
              <a:rPr lang="es-US" dirty="0" smtClean="0"/>
              <a:t>.</a:t>
            </a:r>
          </a:p>
          <a:p>
            <a:endParaRPr lang="es-US" dirty="0" smtClean="0"/>
          </a:p>
          <a:p>
            <a:endParaRPr lang="es-US" dirty="0"/>
          </a:p>
        </p:txBody>
      </p:sp>
    </p:spTree>
    <p:extLst>
      <p:ext uri="{BB962C8B-B14F-4D97-AF65-F5344CB8AC3E}">
        <p14:creationId xmlns:p14="http://schemas.microsoft.com/office/powerpoint/2010/main" val="3368215674"/>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8055</TotalTime>
  <Words>1811</Words>
  <Application>Microsoft Office PowerPoint</Application>
  <PresentationFormat>Panorámica</PresentationFormat>
  <Paragraphs>237</Paragraphs>
  <Slides>34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34</vt:i4>
      </vt:variant>
    </vt:vector>
  </HeadingPairs>
  <TitlesOfParts>
    <vt:vector size="38" baseType="lpstr">
      <vt:lpstr>Arial</vt:lpstr>
      <vt:lpstr>Calibri</vt:lpstr>
      <vt:lpstr>Calibri Light</vt:lpstr>
      <vt:lpstr>Tema de Office</vt:lpstr>
      <vt:lpstr>Presentación</vt:lpstr>
      <vt:lpstr>Presentación de PowerPoint</vt:lpstr>
      <vt:lpstr>Presentación de PowerPoint</vt:lpstr>
      <vt:lpstr>Presentación de PowerPoint</vt:lpstr>
      <vt:lpstr>Presentación de PowerPoint</vt:lpstr>
      <vt:lpstr>¿Qué es DevOps?</vt:lpstr>
      <vt:lpstr>DevOps</vt:lpstr>
      <vt:lpstr>¿Por qué necesitamos DevOps?</vt:lpstr>
      <vt:lpstr>Presentación de PowerPoint</vt:lpstr>
      <vt:lpstr>Principios de DevOps</vt:lpstr>
      <vt:lpstr>Referencias</vt:lpstr>
      <vt:lpstr>Referencias</vt:lpstr>
      <vt:lpstr>DevOps en la Práctica</vt:lpstr>
      <vt:lpstr>Objetivos del curso</vt:lpstr>
      <vt:lpstr>Pilares del curso</vt:lpstr>
      <vt:lpstr>Herramientas DevOps</vt:lpstr>
      <vt:lpstr>Recomendaciones</vt:lpstr>
      <vt:lpstr>¿Qué es Git?</vt:lpstr>
      <vt:lpstr>Características de Git</vt:lpstr>
      <vt:lpstr>Características de Git (continuación …)</vt:lpstr>
      <vt:lpstr>Características de Git (continuación …)</vt:lpstr>
      <vt:lpstr>Características de Git (continuación …)</vt:lpstr>
      <vt:lpstr>Características de Git (continuación …)</vt:lpstr>
      <vt:lpstr>Características de Git (continuación …)</vt:lpstr>
      <vt:lpstr>Estrategias Git</vt:lpstr>
      <vt:lpstr>Estrategias Git (Continuación…)</vt:lpstr>
      <vt:lpstr>Estrategias Git (Continuación…)</vt:lpstr>
      <vt:lpstr>Estrategias Git (Continuación…)</vt:lpstr>
      <vt:lpstr>Estrategias Git (Continuación…)</vt:lpstr>
      <vt:lpstr>Estrategias Git (Continuación…)</vt:lpstr>
      <vt:lpstr>Estrategias Git (Continuación…)</vt:lpstr>
      <vt:lpstr>Estrategias Git (Continuación…)</vt:lpstr>
      <vt:lpstr>Estrategias Git (Continuación…)</vt:lpstr>
      <vt:lpstr>Preparación del ambiente de trabajo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 hernan liza garavito</dc:creator>
  <cp:lastModifiedBy>jose hernan liza garavito</cp:lastModifiedBy>
  <cp:revision>80</cp:revision>
  <dcterms:created xsi:type="dcterms:W3CDTF">2024-09-09T20:27:08Z</dcterms:created>
  <dcterms:modified xsi:type="dcterms:W3CDTF">2024-10-06T03:24:55Z</dcterms:modified>
</cp:coreProperties>
</file>